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4" r:id="rId21"/>
    <p:sldId id="275" r:id="rId22"/>
    <p:sldId id="277" r:id="rId23"/>
    <p:sldId id="278" r:id="rId24"/>
    <p:sldId id="279" r:id="rId25"/>
    <p:sldId id="280" r:id="rId26"/>
    <p:sldId id="282" r:id="rId27"/>
    <p:sldId id="281" r:id="rId28"/>
  </p:sldIdLst>
  <p:sldSz cx="9144000" cy="6858000" type="screen4x3"/>
  <p:notesSz cx="6985000" cy="9271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96" y="4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9919B-7B73-4DAA-9915-5477CCD20BD4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FB1E-9782-430F-9572-1ABFC1CA58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85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9919B-7B73-4DAA-9915-5477CCD20BD4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FB1E-9782-430F-9572-1ABFC1CA58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88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9919B-7B73-4DAA-9915-5477CCD20BD4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FB1E-9782-430F-9572-1ABFC1CA58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9919B-7B73-4DAA-9915-5477CCD20BD4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FB1E-9782-430F-9572-1ABFC1CA58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17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9919B-7B73-4DAA-9915-5477CCD20BD4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FB1E-9782-430F-9572-1ABFC1CA58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324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9919B-7B73-4DAA-9915-5477CCD20BD4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FB1E-9782-430F-9572-1ABFC1CA58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793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9919B-7B73-4DAA-9915-5477CCD20BD4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FB1E-9782-430F-9572-1ABFC1CA58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70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9919B-7B73-4DAA-9915-5477CCD20BD4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FB1E-9782-430F-9572-1ABFC1CA58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99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9919B-7B73-4DAA-9915-5477CCD20BD4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FB1E-9782-430F-9572-1ABFC1CA58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49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9919B-7B73-4DAA-9915-5477CCD20BD4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FB1E-9782-430F-9572-1ABFC1CA58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68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9919B-7B73-4DAA-9915-5477CCD20BD4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FB1E-9782-430F-9572-1ABFC1CA58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938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9919B-7B73-4DAA-9915-5477CCD20BD4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3FB1E-9782-430F-9572-1ABFC1CA58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64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28600"/>
            <a:ext cx="7772400" cy="1470025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Review of Vector Operations and Analyzing 2D Displacement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32475" y="1752600"/>
                <a:ext cx="7924800" cy="2804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u="sng" dirty="0" smtClean="0"/>
                  <a:t>Vectors</a:t>
                </a:r>
                <a:r>
                  <a:rPr lang="en-US" sz="2800" dirty="0" smtClean="0"/>
                  <a:t>:  are quantities which have both magnitude</a:t>
                </a:r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              and direction.  </a:t>
                </a:r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Examples:  	position -   		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dirty="0" smtClean="0">
                            <a:latin typeface="Cambria Math"/>
                          </a:rPr>
                          <m:t>𝑑</m:t>
                        </m:r>
                      </m:e>
                    </m:acc>
                  </m:oMath>
                </a14:m>
                <a:endParaRPr lang="en-US" sz="2800" dirty="0" smtClean="0"/>
              </a:p>
              <a:p>
                <a:r>
                  <a:rPr lang="en-US" sz="2800" dirty="0"/>
                  <a:t>	</a:t>
                </a:r>
                <a:r>
                  <a:rPr lang="en-US" sz="2800" dirty="0" smtClean="0"/>
                  <a:t>		displacement-	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smtClean="0">
                            <a:latin typeface="Cambria Math"/>
                            <a:ea typeface="Cambria Math"/>
                          </a:rPr>
                          <m:t>∆</m:t>
                        </m:r>
                        <m:r>
                          <a:rPr lang="en-US" sz="2800" b="0" i="1" smtClean="0">
                            <a:latin typeface="Cambria Math"/>
                          </a:rPr>
                          <m:t>𝑑</m:t>
                        </m:r>
                      </m:e>
                    </m:acc>
                  </m:oMath>
                </a14:m>
                <a:endParaRPr lang="en-US" sz="2800" dirty="0" smtClean="0"/>
              </a:p>
              <a:p>
                <a:r>
                  <a:rPr lang="en-US" sz="2800" dirty="0"/>
                  <a:t>	</a:t>
                </a:r>
                <a:r>
                  <a:rPr lang="en-US" sz="2800" dirty="0" smtClean="0"/>
                  <a:t>		velocity - 		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/>
                          </a:rPr>
                          <m:t>𝑣</m:t>
                        </m:r>
                      </m:e>
                    </m:acc>
                  </m:oMath>
                </a14:m>
                <a:endParaRPr lang="en-US" sz="2800" dirty="0" smtClean="0"/>
              </a:p>
              <a:p>
                <a:r>
                  <a:rPr lang="en-US" sz="2800" dirty="0"/>
                  <a:t>	</a:t>
                </a:r>
                <a:r>
                  <a:rPr lang="en-US" sz="2800" dirty="0" smtClean="0"/>
                  <a:t>		acceleration-	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/>
                          </a:rPr>
                          <m:t>𝑎</m:t>
                        </m:r>
                      </m:e>
                    </m:acc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75" y="1752600"/>
                <a:ext cx="7924800" cy="2804999"/>
              </a:xfrm>
              <a:prstGeom prst="rect">
                <a:avLst/>
              </a:prstGeom>
              <a:blipFill rotWithShape="1">
                <a:blip r:embed="rId2" cstate="print"/>
                <a:stretch>
                  <a:fillRect l="-1538" t="-1957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-11624" y="4694138"/>
                <a:ext cx="9138834" cy="2163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 smtClean="0"/>
                  <a:t>Solving kinematics problems in a plane involves adding and subtracting vectors in 2D!</a:t>
                </a:r>
                <a:endParaRPr lang="en-US" sz="2800" dirty="0" smtClean="0"/>
              </a:p>
              <a:p>
                <a:r>
                  <a:rPr lang="en-US" sz="2400" dirty="0" smtClean="0"/>
                  <a:t>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/>
                                <a:ea typeface="Cambria Math"/>
                              </a:rPr>
                              <m:t>∆</m:t>
                            </m:r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𝑅</m:t>
                            </m:r>
                          </m:sub>
                        </m:sSub>
                      </m:e>
                    </m:acc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∆</m:t>
                            </m:r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400" b="0" i="1" smtClean="0">
                        <a:latin typeface="Cambria Math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∆</m:t>
                            </m:r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sz="2400" b="0" i="1" smtClean="0">
                        <a:latin typeface="Cambria Math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∆</m:t>
                            </m:r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3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400" dirty="0" smtClean="0"/>
                  <a:t>+…. -finding resultant displacement</a:t>
                </a:r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smtClean="0">
                            <a:latin typeface="Cambria Math"/>
                            <a:ea typeface="Cambria Math"/>
                          </a:rPr>
                          <m:t>∆</m:t>
                        </m:r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𝑣</m:t>
                        </m:r>
                      </m:e>
                    </m:acc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sz="2400" b="0" i="1" smtClean="0">
                        <a:latin typeface="Cambria Math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400" dirty="0" smtClean="0"/>
                  <a:t>     - finding change in velocity to determine acceleration</a:t>
                </a:r>
                <a:r>
                  <a:rPr lang="en-US" sz="2000" dirty="0" smtClean="0"/>
                  <a:t> 		</a:t>
                </a:r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624" y="4694138"/>
                <a:ext cx="9138834" cy="2163862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l="-1334" t="-2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2527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70" y="0"/>
            <a:ext cx="8229600" cy="884238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Vector Notation 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587202" y="989667"/>
            <a:ext cx="2954364" cy="2883932"/>
            <a:chOff x="360336" y="1148834"/>
            <a:chExt cx="3297264" cy="3068598"/>
          </a:xfrm>
        </p:grpSpPr>
        <p:sp>
          <p:nvSpPr>
            <p:cNvPr id="10" name="TextBox 9"/>
            <p:cNvSpPr txBox="1"/>
            <p:nvPr/>
          </p:nvSpPr>
          <p:spPr>
            <a:xfrm>
              <a:off x="2971800" y="2406134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360336" y="1148834"/>
              <a:ext cx="2611464" cy="3068598"/>
              <a:chOff x="360336" y="1148834"/>
              <a:chExt cx="2611464" cy="3068598"/>
            </a:xfrm>
          </p:grpSpPr>
          <p:cxnSp>
            <p:nvCxnSpPr>
              <p:cNvPr id="5" name="Straight Arrow Connector 4"/>
              <p:cNvCxnSpPr/>
              <p:nvPr/>
            </p:nvCxnSpPr>
            <p:spPr>
              <a:xfrm flipV="1">
                <a:off x="1828800" y="1333500"/>
                <a:ext cx="0" cy="25146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/>
              <p:nvPr/>
            </p:nvCxnSpPr>
            <p:spPr>
              <a:xfrm>
                <a:off x="703236" y="2590800"/>
                <a:ext cx="22685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>
              <a:xfrm>
                <a:off x="1485900" y="1148834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N</a:t>
                </a:r>
                <a:endParaRPr lang="en-US" dirty="0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1722250" y="38481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S</a:t>
                </a:r>
                <a:endParaRPr lang="en-US" dirty="0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60336" y="2406134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</a:t>
                </a:r>
              </a:p>
            </p:txBody>
          </p:sp>
        </p:grpSp>
      </p:grpSp>
      <p:sp>
        <p:nvSpPr>
          <p:cNvPr id="13" name="TextBox 12"/>
          <p:cNvSpPr txBox="1"/>
          <p:nvPr/>
        </p:nvSpPr>
        <p:spPr>
          <a:xfrm>
            <a:off x="314276" y="684350"/>
            <a:ext cx="3876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Examples of displacement vectors :</a:t>
            </a:r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587202" y="3715544"/>
            <a:ext cx="2781300" cy="2699266"/>
            <a:chOff x="360336" y="1148834"/>
            <a:chExt cx="3297264" cy="3068598"/>
          </a:xfrm>
        </p:grpSpPr>
        <p:sp>
          <p:nvSpPr>
            <p:cNvPr id="18" name="TextBox 17"/>
            <p:cNvSpPr txBox="1"/>
            <p:nvPr/>
          </p:nvSpPr>
          <p:spPr>
            <a:xfrm>
              <a:off x="2971800" y="2406134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360336" y="1148834"/>
              <a:ext cx="2611464" cy="3068598"/>
              <a:chOff x="360336" y="1148834"/>
              <a:chExt cx="2611464" cy="3068598"/>
            </a:xfrm>
          </p:grpSpPr>
          <p:cxnSp>
            <p:nvCxnSpPr>
              <p:cNvPr id="20" name="Straight Arrow Connector 19"/>
              <p:cNvCxnSpPr/>
              <p:nvPr/>
            </p:nvCxnSpPr>
            <p:spPr>
              <a:xfrm flipV="1">
                <a:off x="1828800" y="1333500"/>
                <a:ext cx="0" cy="25146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>
                <a:off x="703236" y="2590800"/>
                <a:ext cx="22685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/>
              <p:cNvSpPr txBox="1"/>
              <p:nvPr/>
            </p:nvSpPr>
            <p:spPr>
              <a:xfrm>
                <a:off x="1485900" y="1148834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N</a:t>
                </a:r>
                <a:endParaRPr lang="en-US" dirty="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1722250" y="38481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S</a:t>
                </a:r>
                <a:endParaRPr lang="en-US" dirty="0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360336" y="2406134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</a:t>
                </a:r>
              </a:p>
            </p:txBody>
          </p:sp>
        </p:grpSp>
      </p:grpSp>
      <p:grpSp>
        <p:nvGrpSpPr>
          <p:cNvPr id="25" name="Group 24"/>
          <p:cNvGrpSpPr/>
          <p:nvPr/>
        </p:nvGrpSpPr>
        <p:grpSpPr>
          <a:xfrm>
            <a:off x="4924831" y="3674322"/>
            <a:ext cx="2781300" cy="2699266"/>
            <a:chOff x="360336" y="1148834"/>
            <a:chExt cx="3297264" cy="3068598"/>
          </a:xfrm>
        </p:grpSpPr>
        <p:sp>
          <p:nvSpPr>
            <p:cNvPr id="26" name="TextBox 25"/>
            <p:cNvSpPr txBox="1"/>
            <p:nvPr/>
          </p:nvSpPr>
          <p:spPr>
            <a:xfrm>
              <a:off x="2971800" y="2406134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360336" y="1148834"/>
              <a:ext cx="2611464" cy="3068598"/>
              <a:chOff x="360336" y="1148834"/>
              <a:chExt cx="2611464" cy="3068598"/>
            </a:xfrm>
          </p:grpSpPr>
          <p:cxnSp>
            <p:nvCxnSpPr>
              <p:cNvPr id="28" name="Straight Arrow Connector 27"/>
              <p:cNvCxnSpPr/>
              <p:nvPr/>
            </p:nvCxnSpPr>
            <p:spPr>
              <a:xfrm flipV="1">
                <a:off x="1828800" y="1333500"/>
                <a:ext cx="0" cy="25146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>
                <a:off x="703236" y="2590800"/>
                <a:ext cx="22685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>
              <a:xfrm>
                <a:off x="1485900" y="1148834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N</a:t>
                </a:r>
                <a:endParaRPr lang="en-US" dirty="0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1722250" y="38481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S</a:t>
                </a:r>
                <a:endParaRPr lang="en-US" dirty="0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360336" y="2406134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</a:t>
                </a:r>
              </a:p>
            </p:txBody>
          </p:sp>
        </p:grpSp>
      </p:grpSp>
      <p:grpSp>
        <p:nvGrpSpPr>
          <p:cNvPr id="33" name="Group 32"/>
          <p:cNvGrpSpPr/>
          <p:nvPr/>
        </p:nvGrpSpPr>
        <p:grpSpPr>
          <a:xfrm>
            <a:off x="4808379" y="869016"/>
            <a:ext cx="2781300" cy="2699266"/>
            <a:chOff x="360336" y="1148834"/>
            <a:chExt cx="3297264" cy="3068598"/>
          </a:xfrm>
        </p:grpSpPr>
        <p:sp>
          <p:nvSpPr>
            <p:cNvPr id="34" name="TextBox 33"/>
            <p:cNvSpPr txBox="1"/>
            <p:nvPr/>
          </p:nvSpPr>
          <p:spPr>
            <a:xfrm>
              <a:off x="2971800" y="2406134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360336" y="1148834"/>
              <a:ext cx="2611464" cy="3068598"/>
              <a:chOff x="360336" y="1148834"/>
              <a:chExt cx="2611464" cy="3068598"/>
            </a:xfrm>
          </p:grpSpPr>
          <p:cxnSp>
            <p:nvCxnSpPr>
              <p:cNvPr id="36" name="Straight Arrow Connector 35"/>
              <p:cNvCxnSpPr/>
              <p:nvPr/>
            </p:nvCxnSpPr>
            <p:spPr>
              <a:xfrm flipV="1">
                <a:off x="1828800" y="1333500"/>
                <a:ext cx="0" cy="25146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/>
              <p:nvPr/>
            </p:nvCxnSpPr>
            <p:spPr>
              <a:xfrm>
                <a:off x="703236" y="2590800"/>
                <a:ext cx="22685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/>
              <p:cNvSpPr txBox="1"/>
              <p:nvPr/>
            </p:nvSpPr>
            <p:spPr>
              <a:xfrm>
                <a:off x="1485900" y="1148834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N</a:t>
                </a:r>
                <a:endParaRPr lang="en-US" dirty="0"/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1722250" y="38481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S</a:t>
                </a:r>
                <a:endParaRPr lang="en-US" dirty="0"/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360336" y="2406134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</a:t>
                </a:r>
              </a:p>
            </p:txBody>
          </p:sp>
        </p:grpSp>
      </p:grpSp>
      <p:cxnSp>
        <p:nvCxnSpPr>
          <p:cNvPr id="42" name="Straight Arrow Connector 41"/>
          <p:cNvCxnSpPr/>
          <p:nvPr/>
        </p:nvCxnSpPr>
        <p:spPr>
          <a:xfrm flipV="1">
            <a:off x="1910764" y="1193896"/>
            <a:ext cx="511199" cy="115096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833231" y="1437745"/>
            <a:ext cx="649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30</a:t>
            </a:r>
            <a:r>
              <a:rPr lang="en-US" b="1" dirty="0" smtClean="0">
                <a:solidFill>
                  <a:srgbClr val="FF0000"/>
                </a:solidFill>
                <a:sym typeface="Symbol"/>
              </a:rPr>
              <a:t>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6024463" y="2137429"/>
            <a:ext cx="1103184" cy="110597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266554" y="2207009"/>
            <a:ext cx="649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sym typeface="Symbol"/>
              </a:rPr>
              <a:t>45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19716" y="4735843"/>
            <a:ext cx="649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b="1" dirty="0" smtClean="0">
                <a:solidFill>
                  <a:srgbClr val="FF0000"/>
                </a:solidFill>
              </a:rPr>
              <a:t>0</a:t>
            </a:r>
            <a:r>
              <a:rPr lang="en-US" b="1" dirty="0" smtClean="0">
                <a:solidFill>
                  <a:srgbClr val="FF0000"/>
                </a:solidFill>
                <a:sym typeface="Symbol"/>
              </a:rPr>
              <a:t>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flipH="1" flipV="1">
            <a:off x="512736" y="4419600"/>
            <a:ext cx="1320496" cy="56812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5241651" y="4942187"/>
            <a:ext cx="937548" cy="106475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17120" y="5516332"/>
            <a:ext cx="649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</a:t>
            </a:r>
            <a:r>
              <a:rPr lang="en-US" b="1" dirty="0" smtClean="0">
                <a:solidFill>
                  <a:srgbClr val="FF0000"/>
                </a:solidFill>
              </a:rPr>
              <a:t>0</a:t>
            </a:r>
            <a:r>
              <a:rPr lang="en-US" b="1" dirty="0" smtClean="0">
                <a:solidFill>
                  <a:srgbClr val="FF0000"/>
                </a:solidFill>
                <a:sym typeface="Symbol"/>
              </a:rPr>
              <a:t>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210193" y="1628131"/>
            <a:ext cx="919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sym typeface="Symbol"/>
              </a:rPr>
              <a:t>5.0 km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116134" y="2690415"/>
            <a:ext cx="919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sym typeface="Symbol"/>
              </a:rPr>
              <a:t>250. </a:t>
            </a:r>
            <a:endParaRPr lang="en-US" b="1" dirty="0">
              <a:solidFill>
                <a:srgbClr val="FF0000"/>
              </a:solidFill>
              <a:sym typeface="Symbol"/>
            </a:endParaRPr>
          </a:p>
          <a:p>
            <a:r>
              <a:rPr lang="en-US" b="1" dirty="0" smtClean="0">
                <a:solidFill>
                  <a:srgbClr val="FF0000"/>
                </a:solidFill>
                <a:sym typeface="Symbol"/>
              </a:rPr>
              <a:t>  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56754" y="4082146"/>
            <a:ext cx="919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sym typeface="Symbol"/>
              </a:rPr>
              <a:t>2.0 </a:t>
            </a:r>
            <a:endParaRPr lang="en-US" b="1" dirty="0">
              <a:solidFill>
                <a:srgbClr val="FF0000"/>
              </a:solidFill>
              <a:sym typeface="Symbol"/>
            </a:endParaRPr>
          </a:p>
          <a:p>
            <a:r>
              <a:rPr lang="en-US" b="1" dirty="0" smtClean="0">
                <a:solidFill>
                  <a:srgbClr val="FF0000"/>
                </a:solidFill>
                <a:sym typeface="Symbol"/>
              </a:rPr>
              <a:t>  km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068746" y="5146397"/>
            <a:ext cx="919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sym typeface="Symbol"/>
              </a:rPr>
              <a:t>10.0 </a:t>
            </a:r>
            <a:endParaRPr lang="en-US" b="1" dirty="0">
              <a:solidFill>
                <a:srgbClr val="FF0000"/>
              </a:solidFill>
              <a:sym typeface="Symbol"/>
            </a:endParaRPr>
          </a:p>
          <a:p>
            <a:r>
              <a:rPr lang="en-US" b="1" dirty="0" smtClean="0">
                <a:solidFill>
                  <a:srgbClr val="FF0000"/>
                </a:solidFill>
                <a:sym typeface="Symbol"/>
              </a:rPr>
              <a:t>  cm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079260" y="1074133"/>
            <a:ext cx="20548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Examples of displacement vectors 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/>
              <p:cNvSpPr/>
              <p:nvPr/>
            </p:nvSpPr>
            <p:spPr>
              <a:xfrm>
                <a:off x="2379757" y="2576542"/>
                <a:ext cx="2359427" cy="4106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>
                              <a:latin typeface="Cambria Math"/>
                              <a:ea typeface="Cambria Math"/>
                            </a:rPr>
                            <m:t>∆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</m:acc>
                      <m:r>
                        <a:rPr lang="en-US" b="0" i="1" smtClean="0">
                          <a:latin typeface="Cambria Math"/>
                        </a:rPr>
                        <m:t>=5.0 </m:t>
                      </m:r>
                      <m:r>
                        <a:rPr lang="en-US" b="0" i="1" smtClean="0">
                          <a:latin typeface="Cambria Math"/>
                        </a:rPr>
                        <m:t>𝑘𝑚</m:t>
                      </m:r>
                      <m:r>
                        <a:rPr lang="en-US" b="0" i="1" smtClean="0">
                          <a:latin typeface="Cambria Math"/>
                        </a:rPr>
                        <m:t>[</m:t>
                      </m:r>
                      <m:r>
                        <a:rPr lang="en-US" b="0" i="1" smtClean="0">
                          <a:latin typeface="Cambria Math"/>
                        </a:rPr>
                        <m:t>𝑁</m:t>
                      </m:r>
                      <m:r>
                        <a:rPr lang="en-US" b="0" i="1" smtClean="0">
                          <a:latin typeface="Cambria Math"/>
                        </a:rPr>
                        <m:t>30</m:t>
                      </m:r>
                      <m:r>
                        <m:rPr>
                          <m:nor/>
                        </m:rPr>
                        <a:rPr lang="en-US" dirty="0">
                          <a:sym typeface="Symbol"/>
                        </a:rPr>
                        <m:t></m:t>
                      </m:r>
                      <m:r>
                        <a:rPr lang="en-US" b="0" i="1" smtClean="0">
                          <a:latin typeface="Cambria Math"/>
                          <a:sym typeface="Symbol"/>
                        </a:rPr>
                        <m:t>𝐸</m:t>
                      </m:r>
                      <m:r>
                        <a:rPr lang="en-US" b="0" i="1" smtClean="0">
                          <a:latin typeface="Cambria Math"/>
                          <a:sym typeface="Symbol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757" y="2576542"/>
                <a:ext cx="2359427" cy="410625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2394632" y="3200529"/>
                <a:ext cx="2356030" cy="4106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>
                              <a:latin typeface="Cambria Math"/>
                              <a:ea typeface="Cambria Math"/>
                            </a:rPr>
                            <m:t>∆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</m:acc>
                      <m:r>
                        <a:rPr lang="en-US" b="0" i="1" smtClean="0">
                          <a:latin typeface="Cambria Math"/>
                        </a:rPr>
                        <m:t>=5.0 </m:t>
                      </m:r>
                      <m:r>
                        <a:rPr lang="en-US" b="0" i="1" smtClean="0">
                          <a:latin typeface="Cambria Math"/>
                        </a:rPr>
                        <m:t>𝑘𝑚</m:t>
                      </m:r>
                      <m:r>
                        <a:rPr lang="en-US" b="0" i="1" smtClean="0">
                          <a:latin typeface="Cambria Math"/>
                        </a:rPr>
                        <m:t>[</m:t>
                      </m:r>
                      <m:r>
                        <a:rPr lang="en-US" b="0" i="1" smtClean="0">
                          <a:latin typeface="Cambria Math"/>
                        </a:rPr>
                        <m:t>𝐸</m:t>
                      </m:r>
                      <m:r>
                        <a:rPr lang="en-US" b="0" i="1" smtClean="0">
                          <a:latin typeface="Cambria Math"/>
                        </a:rPr>
                        <m:t>60</m:t>
                      </m:r>
                      <m:r>
                        <m:rPr>
                          <m:nor/>
                        </m:rPr>
                        <a:rPr lang="en-US" dirty="0">
                          <a:sym typeface="Symbol"/>
                        </a:rPr>
                        <m:t></m:t>
                      </m:r>
                      <m:r>
                        <a:rPr lang="en-US" b="0" i="1" smtClean="0">
                          <a:latin typeface="Cambria Math"/>
                          <a:sym typeface="Symbol"/>
                        </a:rPr>
                        <m:t>𝑁</m:t>
                      </m:r>
                      <m:r>
                        <a:rPr lang="en-US" b="0" i="1" smtClean="0">
                          <a:latin typeface="Cambria Math"/>
                          <a:sym typeface="Symbol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632" y="3200529"/>
                <a:ext cx="2356030" cy="410625"/>
              </a:xfrm>
              <a:prstGeom prst="rect">
                <a:avLst/>
              </a:prstGeom>
              <a:blipFill rotWithShape="0">
                <a:blip r:embed="rId3" cstate="print"/>
                <a:stretch>
                  <a:fillRect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/>
          <p:cNvSpPr txBox="1"/>
          <p:nvPr/>
        </p:nvSpPr>
        <p:spPr>
          <a:xfrm>
            <a:off x="2713150" y="2876237"/>
            <a:ext cx="2054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or:</a:t>
            </a:r>
            <a:endParaRPr lang="en-US" dirty="0"/>
          </a:p>
        </p:txBody>
      </p:sp>
      <p:sp>
        <p:nvSpPr>
          <p:cNvPr id="67" name="TextBox 66"/>
          <p:cNvSpPr txBox="1"/>
          <p:nvPr/>
        </p:nvSpPr>
        <p:spPr>
          <a:xfrm>
            <a:off x="4825169" y="889467"/>
            <a:ext cx="2054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a)</a:t>
            </a:r>
            <a:endParaRPr 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255442" y="3652096"/>
            <a:ext cx="2054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4730405" y="3660777"/>
            <a:ext cx="2054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243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262" y="72325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Drawing Scale Vector Diagrams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400" y="824805"/>
            <a:ext cx="87184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To represent position, displacement and velocity vectors in diagram form, we must choose a scale and draw a reference coordinate system</a:t>
            </a:r>
            <a:r>
              <a:rPr lang="en-US" sz="2000" b="1" dirty="0" smtClean="0"/>
              <a:t>. </a:t>
            </a:r>
            <a:endParaRPr lang="en-US" sz="2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06526" y="2209800"/>
            <a:ext cx="868507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 smtClean="0"/>
          </a:p>
          <a:p>
            <a:r>
              <a:rPr lang="en-US" sz="2400" b="1" dirty="0" smtClean="0"/>
              <a:t>Example: Draw vectors representing</a:t>
            </a:r>
            <a:endParaRPr lang="en-US" sz="2400" b="1" dirty="0"/>
          </a:p>
          <a:p>
            <a:pPr marL="457200" indent="-457200">
              <a:buAutoNum type="alphaLcParenR"/>
            </a:pPr>
            <a:r>
              <a:rPr lang="en-US" sz="2400" dirty="0" smtClean="0"/>
              <a:t>A displacement of</a:t>
            </a:r>
          </a:p>
          <a:p>
            <a:r>
              <a:rPr lang="en-US" sz="2400" dirty="0" smtClean="0"/>
              <a:t> 500. m [ S 35</a:t>
            </a:r>
            <a:r>
              <a:rPr lang="en-US" sz="2400" dirty="0" smtClean="0">
                <a:sym typeface="Symbol"/>
              </a:rPr>
              <a:t>W]</a:t>
            </a:r>
            <a:endParaRPr lang="en-US" sz="24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724400" y="2963852"/>
            <a:ext cx="37669" cy="35131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0" y="2743200"/>
            <a:ext cx="243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ym typeface="Symbol"/>
              </a:rPr>
              <a:t> b) A velocity of </a:t>
            </a:r>
          </a:p>
          <a:p>
            <a:r>
              <a:rPr lang="en-US" sz="2400" dirty="0" smtClean="0">
                <a:sym typeface="Symbol"/>
              </a:rPr>
              <a:t>25 m/s [ N40 E] </a:t>
            </a:r>
            <a:r>
              <a:rPr lang="en-US" sz="2400" dirty="0" smtClean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2997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831" y="37454"/>
            <a:ext cx="9067800" cy="9144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Rules for Adding and Subtracting Vectors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4686731" y="1230525"/>
            <a:ext cx="37669" cy="53988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609600" y="571847"/>
            <a:ext cx="3810000" cy="1317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 smtClean="0">
                <a:solidFill>
                  <a:schemeClr val="tx2">
                    <a:lumMod val="75000"/>
                  </a:schemeClr>
                </a:solidFill>
              </a:rPr>
              <a:t>Vector Addition</a:t>
            </a:r>
            <a:endParaRPr lang="en-US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734732" y="571847"/>
            <a:ext cx="4572000" cy="1317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 smtClean="0">
                <a:solidFill>
                  <a:schemeClr val="tx2">
                    <a:lumMod val="75000"/>
                  </a:schemeClr>
                </a:solidFill>
              </a:rPr>
              <a:t>Vector Subtraction</a:t>
            </a:r>
            <a:endParaRPr lang="en-US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514600" y="1889203"/>
                <a:ext cx="762000" cy="647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1889203"/>
                <a:ext cx="762000" cy="647870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94288" y="1889203"/>
                <a:ext cx="762000" cy="647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288" y="1889203"/>
                <a:ext cx="762000" cy="647870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616990" y="1889203"/>
                <a:ext cx="762000" cy="644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6990" y="1889203"/>
                <a:ext cx="762000" cy="644664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411637" y="1943476"/>
            <a:ext cx="6225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3342" y="1988978"/>
            <a:ext cx="6225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=</a:t>
            </a:r>
            <a:endParaRPr lang="en-US" sz="3200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412569" y="4512827"/>
            <a:ext cx="1104469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795580" y="4195244"/>
            <a:ext cx="21956" cy="134274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itle 1"/>
          <p:cNvSpPr txBox="1">
            <a:spLocks/>
          </p:cNvSpPr>
          <p:nvPr/>
        </p:nvSpPr>
        <p:spPr>
          <a:xfrm>
            <a:off x="143466" y="2299058"/>
            <a:ext cx="4388389" cy="1317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 smtClean="0"/>
              <a:t>1. Place vectors “</a:t>
            </a:r>
            <a:r>
              <a:rPr lang="en-US" sz="2800" b="1" i="1" dirty="0" smtClean="0"/>
              <a:t>tail to tip</a:t>
            </a:r>
            <a:r>
              <a:rPr lang="en-US" sz="2800" b="1" dirty="0" smtClean="0"/>
              <a:t>”</a:t>
            </a:r>
            <a:endParaRPr lang="en-US" sz="2800" b="1" dirty="0"/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92990" y="3013572"/>
            <a:ext cx="3810000" cy="1317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/>
              <a:t>2</a:t>
            </a:r>
            <a:r>
              <a:rPr lang="en-US" sz="2800" b="1" dirty="0" smtClean="0"/>
              <a:t>. Draw resultant from</a:t>
            </a:r>
          </a:p>
          <a:p>
            <a:pPr algn="l"/>
            <a:r>
              <a:rPr lang="en-US" sz="2800" b="1" dirty="0"/>
              <a:t> </a:t>
            </a:r>
            <a:r>
              <a:rPr lang="en-US" sz="2800" b="1" dirty="0" smtClean="0"/>
              <a:t>    </a:t>
            </a:r>
            <a:r>
              <a:rPr lang="en-US" sz="2800" b="1" i="1" dirty="0" smtClean="0"/>
              <a:t>start</a:t>
            </a:r>
            <a:r>
              <a:rPr lang="en-US" sz="2800" b="1" dirty="0" smtClean="0"/>
              <a:t> to </a:t>
            </a:r>
            <a:r>
              <a:rPr lang="en-US" sz="2800" b="1" i="1" dirty="0" smtClean="0"/>
              <a:t>finish</a:t>
            </a:r>
            <a:endParaRPr lang="en-US" sz="2800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752599" y="4188892"/>
                <a:ext cx="762000" cy="647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599" y="4188892"/>
                <a:ext cx="762000" cy="647870"/>
              </a:xfrm>
              <a:prstGeom prst="rect">
                <a:avLst/>
              </a:prstGeom>
              <a:blipFill rotWithShape="1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58125" y="4368825"/>
                <a:ext cx="762000" cy="644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125" y="4368825"/>
                <a:ext cx="762000" cy="644664"/>
              </a:xfrm>
              <a:prstGeom prst="rect">
                <a:avLst/>
              </a:prstGeom>
              <a:blipFill rotWithShape="1"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5300420" y="1565268"/>
                <a:ext cx="762000" cy="647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420" y="1565268"/>
                <a:ext cx="762000" cy="647870"/>
              </a:xfrm>
              <a:prstGeom prst="rect">
                <a:avLst/>
              </a:prstGeom>
              <a:blipFill rotWithShape="1">
                <a:blip r:embed="rId7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123122" y="1565268"/>
                <a:ext cx="762000" cy="644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3122" y="1565268"/>
                <a:ext cx="762000" cy="644664"/>
              </a:xfrm>
              <a:prstGeom prst="rect">
                <a:avLst/>
              </a:prstGeom>
              <a:blipFill rotWithShape="1">
                <a:blip r:embed="rId8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5917769" y="1651088"/>
            <a:ext cx="6225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-</a:t>
            </a:r>
            <a:endParaRPr lang="en-US" sz="3200" dirty="0"/>
          </a:p>
        </p:txBody>
      </p:sp>
      <p:sp>
        <p:nvSpPr>
          <p:cNvPr id="37" name="TextBox 36"/>
          <p:cNvSpPr txBox="1"/>
          <p:nvPr/>
        </p:nvSpPr>
        <p:spPr>
          <a:xfrm>
            <a:off x="6731429" y="1624117"/>
            <a:ext cx="6225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=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042688" y="1525218"/>
                <a:ext cx="762000" cy="647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2688" y="1525218"/>
                <a:ext cx="762000" cy="647870"/>
              </a:xfrm>
              <a:prstGeom prst="rect">
                <a:avLst/>
              </a:prstGeom>
              <a:blipFill rotWithShape="1">
                <a:blip r:embed="rId9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itle 1"/>
          <p:cNvSpPr txBox="1">
            <a:spLocks/>
          </p:cNvSpPr>
          <p:nvPr/>
        </p:nvSpPr>
        <p:spPr>
          <a:xfrm>
            <a:off x="4705565" y="2173088"/>
            <a:ext cx="4388389" cy="14244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/>
              <a:t>Method 1:</a:t>
            </a:r>
          </a:p>
          <a:p>
            <a:pPr marL="514350" indent="-514350" algn="l">
              <a:buAutoNum type="arabicPeriod"/>
            </a:pPr>
            <a:r>
              <a:rPr lang="en-US" sz="2400" b="1" dirty="0" smtClean="0"/>
              <a:t>Place vectors “</a:t>
            </a:r>
            <a:r>
              <a:rPr lang="en-US" sz="2400" b="1" i="1" dirty="0" smtClean="0"/>
              <a:t>tail to tail</a:t>
            </a:r>
            <a:r>
              <a:rPr lang="en-US" sz="2400" b="1" dirty="0" smtClean="0"/>
              <a:t>”</a:t>
            </a:r>
          </a:p>
          <a:p>
            <a:pPr marL="514350" indent="-514350" algn="l">
              <a:buAutoNum type="arabicPeriod"/>
            </a:pPr>
            <a:r>
              <a:rPr lang="en-US" sz="2400" b="1" dirty="0" smtClean="0"/>
              <a:t>Resultant “</a:t>
            </a:r>
            <a:r>
              <a:rPr lang="en-US" sz="2400" b="1" i="1" dirty="0" smtClean="0"/>
              <a:t>points to initial</a:t>
            </a:r>
            <a:r>
              <a:rPr lang="en-US" sz="2400" b="1" dirty="0" smtClean="0"/>
              <a:t>” </a:t>
            </a:r>
          </a:p>
          <a:p>
            <a:pPr algn="l"/>
            <a:r>
              <a:rPr lang="en-US" sz="2400" b="1" dirty="0" smtClean="0"/>
              <a:t>              acronym (PIN)</a:t>
            </a:r>
            <a:endParaRPr lang="en-US" sz="2400" b="1" dirty="0"/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4813300" y="4253897"/>
            <a:ext cx="7493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919420" y="3606027"/>
                <a:ext cx="762000" cy="647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420" y="3606027"/>
                <a:ext cx="762000" cy="647870"/>
              </a:xfrm>
              <a:prstGeom prst="rect">
                <a:avLst/>
              </a:prstGeom>
              <a:blipFill rotWithShape="1">
                <a:blip r:embed="rId10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/>
          <p:cNvCxnSpPr/>
          <p:nvPr/>
        </p:nvCxnSpPr>
        <p:spPr>
          <a:xfrm flipH="1" flipV="1">
            <a:off x="6473125" y="3726080"/>
            <a:ext cx="10978" cy="92562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780867" y="3703681"/>
                <a:ext cx="762000" cy="644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867" y="3703681"/>
                <a:ext cx="762000" cy="644664"/>
              </a:xfrm>
              <a:prstGeom prst="rect">
                <a:avLst/>
              </a:prstGeom>
              <a:blipFill rotWithShape="1">
                <a:blip r:embed="rId11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4765422" y="4636295"/>
                <a:ext cx="4328532" cy="8781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 smtClean="0"/>
                  <a:t>Method 2: Addition Method </a:t>
                </a:r>
              </a:p>
              <a:p>
                <a:r>
                  <a:rPr lang="en-US" sz="2400" b="1" dirty="0"/>
                  <a:t> </a:t>
                </a:r>
                <a:r>
                  <a:rPr lang="en-US" sz="2400" b="1" dirty="0" smtClean="0"/>
                  <a:t>  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 dirty="0" smtClean="0">
                            <a:latin typeface="Cambria Math"/>
                          </a:rPr>
                          <m:t>𝑪</m:t>
                        </m:r>
                      </m:e>
                    </m:acc>
                    <m:r>
                      <a:rPr lang="en-US" sz="2400" b="1" i="1" dirty="0" smtClean="0">
                        <a:latin typeface="Cambria Math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 dirty="0" smtClean="0">
                            <a:latin typeface="Cambria Math"/>
                          </a:rPr>
                          <m:t>𝑨</m:t>
                        </m:r>
                      </m:e>
                    </m:acc>
                    <m:r>
                      <a:rPr lang="en-US" sz="2400" b="1" i="1" dirty="0" smtClean="0">
                        <a:latin typeface="Cambria Math"/>
                      </a:rPr>
                      <m:t>+(−</m:t>
                    </m:r>
                    <m:acc>
                      <m:accPr>
                        <m:chr m:val="⃗"/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 dirty="0" smtClean="0">
                            <a:latin typeface="Cambria Math"/>
                          </a:rPr>
                          <m:t>𝑩</m:t>
                        </m:r>
                      </m:e>
                    </m:acc>
                    <m:r>
                      <a:rPr lang="en-US" sz="2400" b="1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sz="2400" b="1" dirty="0" smtClean="0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422" y="4636295"/>
                <a:ext cx="4328532" cy="878189"/>
              </a:xfrm>
              <a:prstGeom prst="rect">
                <a:avLst/>
              </a:prstGeom>
              <a:blipFill rotWithShape="1">
                <a:blip r:embed="rId12" cstate="print"/>
                <a:stretch>
                  <a:fillRect l="-2254" t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2983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Scalar Multiples of Vectors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25559" y="1295400"/>
                <a:ext cx="8718441" cy="1007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 smtClean="0">
                    <a:latin typeface="Calibri"/>
                  </a:rPr>
                  <a:t>●If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1" i="1" dirty="0" smtClean="0">
                            <a:latin typeface="Cambria Math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sz="2800" b="1" dirty="0" smtClean="0">
                    <a:latin typeface="Calibri"/>
                  </a:rPr>
                  <a:t> is multiplied by a scale factor, k, its length changes but its direction remains the same. </a:t>
                </a:r>
                <a:r>
                  <a:rPr lang="en-US" sz="2000" b="1" dirty="0" smtClean="0"/>
                  <a:t> </a:t>
                </a:r>
                <a:endParaRPr lang="en-US" sz="2000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59" y="1295400"/>
                <a:ext cx="8718441" cy="1007648"/>
              </a:xfrm>
              <a:prstGeom prst="rect">
                <a:avLst/>
              </a:prstGeom>
              <a:blipFill rotWithShape="1">
                <a:blip r:embed="rId2" cstate="print"/>
                <a:stretch>
                  <a:fillRect l="-1469" b="-1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25558" y="2743200"/>
            <a:ext cx="8718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Calibri"/>
              </a:rPr>
              <a:t>Example:   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57400" y="2618550"/>
                <a:ext cx="3124200" cy="647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sz="3200" dirty="0" smtClean="0"/>
                  <a:t>=1.0 km [ E]</a:t>
                </a:r>
                <a:endParaRPr lang="en-US" sz="3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2618550"/>
                <a:ext cx="3124200" cy="647870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t="-1887" b="-31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074190" y="3429000"/>
                <a:ext cx="3124200" cy="647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/>
                          </a:rPr>
                          <m:t>3</m:t>
                        </m:r>
                        <m:r>
                          <a:rPr lang="en-US" sz="3200" b="0" i="1" smtClean="0">
                            <a:latin typeface="Cambria Math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sz="3200" dirty="0" smtClean="0"/>
                  <a:t>=</a:t>
                </a:r>
                <a:endParaRPr lang="en-US" sz="32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190" y="3429000"/>
                <a:ext cx="3124200" cy="647870"/>
              </a:xfrm>
              <a:prstGeom prst="rect">
                <a:avLst/>
              </a:prstGeom>
              <a:blipFill rotWithShape="1">
                <a:blip r:embed="rId4" cstate="print"/>
                <a:stretch>
                  <a:fillRect t="-1887" b="-301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4207" y="4247373"/>
                <a:ext cx="8718441" cy="1438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 smtClean="0">
                    <a:latin typeface="Calibri"/>
                  </a:rPr>
                  <a:t>●If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1" i="1" dirty="0" smtClean="0">
                            <a:latin typeface="Cambria Math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sz="2800" b="1" dirty="0" smtClean="0">
                    <a:latin typeface="Calibri"/>
                  </a:rPr>
                  <a:t> is multiplied by -1, the vector direction is changed by 180</a:t>
                </a:r>
                <a:r>
                  <a:rPr lang="en-US" sz="2800" b="1" dirty="0" smtClean="0">
                    <a:latin typeface="Calibri"/>
                    <a:sym typeface="Symbol"/>
                  </a:rPr>
                  <a:t>  (the vector takes on the opposite direction).</a:t>
                </a:r>
                <a:endParaRPr lang="en-US" sz="2000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7" y="4247373"/>
                <a:ext cx="8718441" cy="1438535"/>
              </a:xfrm>
              <a:prstGeom prst="rect">
                <a:avLst/>
              </a:prstGeom>
              <a:blipFill rotWithShape="1">
                <a:blip r:embed="rId5" cstate="print"/>
                <a:stretch>
                  <a:fillRect l="-1398" b="-1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208509" y="5363576"/>
                <a:ext cx="3124200" cy="644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sz="3200" dirty="0" smtClean="0"/>
                  <a:t>=2.0 km [ W]</a:t>
                </a:r>
                <a:endParaRPr lang="en-US" sz="32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509" y="5363576"/>
                <a:ext cx="3124200" cy="644664"/>
              </a:xfrm>
              <a:prstGeom prst="rect">
                <a:avLst/>
              </a:prstGeom>
              <a:blipFill rotWithShape="1">
                <a:blip r:embed="rId6" cstate="print"/>
                <a:stretch>
                  <a:fillRect t="-1887" b="-31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96313" y="5632176"/>
            <a:ext cx="1556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Calibri"/>
              </a:rPr>
              <a:t>Example:   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936643" y="6072802"/>
                <a:ext cx="3667932" cy="644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sz="3200" dirty="0" smtClean="0"/>
                  <a:t>=</a:t>
                </a:r>
                <a:r>
                  <a:rPr lang="en-US" sz="3200" dirty="0"/>
                  <a:t>_</a:t>
                </a:r>
                <a:r>
                  <a:rPr lang="en-US" sz="3200" dirty="0" smtClean="0"/>
                  <a:t>__________</a:t>
                </a:r>
                <a:endParaRPr lang="en-US" sz="32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643" y="6072802"/>
                <a:ext cx="3667932" cy="644664"/>
              </a:xfrm>
              <a:prstGeom prst="rect">
                <a:avLst/>
              </a:prstGeom>
              <a:blipFill rotWithShape="1">
                <a:blip r:embed="rId7" cstate="print"/>
                <a:stretch>
                  <a:fillRect t="-1887" b="-31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7761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Scalar Multiples of Vectors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25559" y="1295400"/>
                <a:ext cx="8718441" cy="1007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 smtClean="0">
                    <a:latin typeface="Calibri"/>
                  </a:rPr>
                  <a:t>●If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1" i="1" dirty="0" smtClean="0">
                            <a:latin typeface="Cambria Math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sz="2800" b="1" dirty="0" smtClean="0">
                    <a:latin typeface="Calibri"/>
                  </a:rPr>
                  <a:t> is multiplied by a scale factor, k, its length changes but its direction remains the same. </a:t>
                </a:r>
                <a:r>
                  <a:rPr lang="en-US" sz="2000" b="1" dirty="0" smtClean="0"/>
                  <a:t> </a:t>
                </a:r>
                <a:endParaRPr lang="en-US" sz="2000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59" y="1295400"/>
                <a:ext cx="8718441" cy="1007648"/>
              </a:xfrm>
              <a:prstGeom prst="rect">
                <a:avLst/>
              </a:prstGeom>
              <a:blipFill rotWithShape="1">
                <a:blip r:embed="rId2" cstate="print"/>
                <a:stretch>
                  <a:fillRect l="-1469" b="-1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25558" y="2743200"/>
            <a:ext cx="8718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Calibri"/>
              </a:rPr>
              <a:t>Example:   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57400" y="2618550"/>
                <a:ext cx="3124200" cy="647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sz="3200" dirty="0" smtClean="0"/>
                  <a:t>=1.0 km [ E]</a:t>
                </a:r>
                <a:endParaRPr lang="en-US" sz="3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2618550"/>
                <a:ext cx="3124200" cy="647870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t="-1887" b="-31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074190" y="3429000"/>
                <a:ext cx="3124200" cy="647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/>
                          </a:rPr>
                          <m:t>3</m:t>
                        </m:r>
                        <m:r>
                          <a:rPr lang="en-US" sz="3200" b="0" i="1" smtClean="0">
                            <a:latin typeface="Cambria Math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sz="3200" dirty="0" smtClean="0"/>
                  <a:t>=</a:t>
                </a:r>
                <a:endParaRPr lang="en-US" sz="32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190" y="3429000"/>
                <a:ext cx="3124200" cy="647870"/>
              </a:xfrm>
              <a:prstGeom prst="rect">
                <a:avLst/>
              </a:prstGeom>
              <a:blipFill rotWithShape="1">
                <a:blip r:embed="rId4" cstate="print"/>
                <a:stretch>
                  <a:fillRect t="-1887" b="-301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4207" y="4247373"/>
                <a:ext cx="8718441" cy="1438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 smtClean="0">
                    <a:latin typeface="Calibri"/>
                  </a:rPr>
                  <a:t>●If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1" i="1" dirty="0" smtClean="0">
                            <a:latin typeface="Cambria Math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sz="2800" b="1" dirty="0" smtClean="0">
                    <a:latin typeface="Calibri"/>
                  </a:rPr>
                  <a:t> is multiplied by -1, the vector direction is changed by 180</a:t>
                </a:r>
                <a:r>
                  <a:rPr lang="en-US" sz="2800" b="1" dirty="0" smtClean="0">
                    <a:latin typeface="Calibri"/>
                    <a:sym typeface="Symbol"/>
                  </a:rPr>
                  <a:t>  (the vector takes on the opposite direction).</a:t>
                </a:r>
                <a:endParaRPr lang="en-US" sz="2000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7" y="4247373"/>
                <a:ext cx="8718441" cy="1438535"/>
              </a:xfrm>
              <a:prstGeom prst="rect">
                <a:avLst/>
              </a:prstGeom>
              <a:blipFill rotWithShape="1">
                <a:blip r:embed="rId5" cstate="print"/>
                <a:stretch>
                  <a:fillRect l="-1398" b="-1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208509" y="5363576"/>
                <a:ext cx="3124200" cy="644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sz="3200" dirty="0" smtClean="0"/>
                  <a:t>=2.0 km [ W]</a:t>
                </a:r>
                <a:endParaRPr lang="en-US" sz="32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509" y="5363576"/>
                <a:ext cx="3124200" cy="644664"/>
              </a:xfrm>
              <a:prstGeom prst="rect">
                <a:avLst/>
              </a:prstGeom>
              <a:blipFill rotWithShape="1">
                <a:blip r:embed="rId6" cstate="print"/>
                <a:stretch>
                  <a:fillRect t="-1887" b="-31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96313" y="5632176"/>
            <a:ext cx="1556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Calibri"/>
              </a:rPr>
              <a:t>Example:   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936643" y="6072802"/>
                <a:ext cx="3667932" cy="644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sz="3200" dirty="0" smtClean="0"/>
                  <a:t>=</a:t>
                </a:r>
                <a:r>
                  <a:rPr lang="en-US" sz="3200" dirty="0"/>
                  <a:t>_</a:t>
                </a:r>
                <a:r>
                  <a:rPr lang="en-US" sz="3200" dirty="0" smtClean="0"/>
                  <a:t>__________</a:t>
                </a:r>
                <a:endParaRPr lang="en-US" sz="32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643" y="6072802"/>
                <a:ext cx="3667932" cy="644664"/>
              </a:xfrm>
              <a:prstGeom prst="rect">
                <a:avLst/>
              </a:prstGeom>
              <a:blipFill rotWithShape="1">
                <a:blip r:embed="rId7" cstate="print"/>
                <a:stretch>
                  <a:fillRect t="-1887" b="-31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2971800" y="3505200"/>
            <a:ext cx="17036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3.0 Km [E]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19400" y="6096000"/>
            <a:ext cx="17036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2.0 Km [E]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761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868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Adding Displacement Vectors using a  Scale Diagram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5344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Example </a:t>
            </a:r>
            <a:r>
              <a:rPr lang="en-US" sz="2400" dirty="0" smtClean="0"/>
              <a:t>1:  A bird travels 4.8 km [N 50.</a:t>
            </a:r>
            <a:r>
              <a:rPr lang="en-US" sz="2400" dirty="0" smtClean="0">
                <a:sym typeface="Symbol"/>
              </a:rPr>
              <a:t>E] and then 3.9 km[E35 S].</a:t>
            </a:r>
          </a:p>
          <a:p>
            <a:pPr marL="0" indent="0">
              <a:buNone/>
            </a:pPr>
            <a:r>
              <a:rPr lang="en-US" sz="2400" dirty="0" smtClean="0">
                <a:sym typeface="Symbol"/>
              </a:rPr>
              <a:t>Find the bird’s resultant displacement using a scale diagram.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49431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type="title"/>
          </p:nvPr>
        </p:nvSpPr>
        <p:spPr>
          <a:xfrm>
            <a:off x="152400" y="496631"/>
            <a:ext cx="8229600" cy="1143000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sz="2400" u="sng" dirty="0" smtClean="0"/>
              <a:t>Example </a:t>
            </a:r>
            <a:r>
              <a:rPr lang="en-US" sz="2400" dirty="0"/>
              <a:t>2</a:t>
            </a:r>
            <a:r>
              <a:rPr lang="en-US" sz="2400" dirty="0" smtClean="0"/>
              <a:t>:  A jogger runs 3.9 km [ North] and 5.7 km [ West].  Find the jogger’s resultant displacement using a sketch and algebraic analysis</a:t>
            </a:r>
            <a:r>
              <a:rPr lang="en-US" sz="2400" dirty="0" smtClean="0">
                <a:sym typeface="Symbol"/>
              </a:rPr>
              <a:t>. </a:t>
            </a:r>
            <a:endParaRPr lang="en-US" sz="24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625" y="0"/>
            <a:ext cx="9143999" cy="868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smtClean="0">
                <a:solidFill>
                  <a:srgbClr val="FF0000"/>
                </a:solidFill>
              </a:rPr>
              <a:t>Adding Displacement Vectors using a Sketch Pythagorean Theorem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92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152400" y="11624"/>
            <a:ext cx="86868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smtClean="0">
                <a:solidFill>
                  <a:srgbClr val="FF0000"/>
                </a:solidFill>
              </a:rPr>
              <a:t>Adding Displacement Vectors using a Sketch and Cosine/Sine Laws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52400" y="2805113"/>
            <a:ext cx="8991600" cy="3352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 smtClean="0"/>
              <a:t>Example </a:t>
            </a:r>
            <a:r>
              <a:rPr lang="en-US" sz="2000" dirty="0"/>
              <a:t>3</a:t>
            </a:r>
            <a:r>
              <a:rPr lang="en-US" sz="2000" dirty="0" smtClean="0"/>
              <a:t>:  A bird travels 4.8 km [N 50.</a:t>
            </a:r>
            <a:r>
              <a:rPr lang="en-US" sz="2000" dirty="0" smtClean="0">
                <a:sym typeface="Symbol"/>
              </a:rPr>
              <a:t>E] and then 3.9 km[E35 S].  Find the bird’s resultant displacement algebraically by applying the Cosine and Sine Laws</a:t>
            </a:r>
            <a:r>
              <a:rPr lang="en-US" sz="2400" dirty="0" smtClean="0">
                <a:sym typeface="Symbol"/>
              </a:rPr>
              <a:t>. 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24000" y="1075249"/>
                <a:ext cx="4724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−2</m:t>
                      </m:r>
                      <m:r>
                        <a:rPr lang="en-US" sz="2400" b="0" i="1" smtClean="0">
                          <a:latin typeface="Cambria Math"/>
                        </a:rPr>
                        <m:t>𝑎𝑏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𝐶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075249"/>
                <a:ext cx="4724400" cy="461665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762000"/>
            <a:ext cx="1939991" cy="204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04800" y="1121048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Cosine Law: 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4505" y="2057400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Sine Law: </a:t>
            </a:r>
            <a:endParaRPr 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752600" y="1895899"/>
                <a:ext cx="4038600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𝑏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895899"/>
                <a:ext cx="4038600" cy="612796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52400" y="762000"/>
            <a:ext cx="8610600" cy="18422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152400" y="11624"/>
            <a:ext cx="86868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smtClean="0">
                <a:solidFill>
                  <a:srgbClr val="FF0000"/>
                </a:solidFill>
              </a:rPr>
              <a:t>Adding Displacement Vectors using a Sketch and Cosine/Sine Laws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52400" y="2805113"/>
            <a:ext cx="8991600" cy="3352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 smtClean="0"/>
              <a:t>Example </a:t>
            </a:r>
            <a:r>
              <a:rPr lang="en-US" sz="2000" dirty="0"/>
              <a:t>3</a:t>
            </a:r>
            <a:r>
              <a:rPr lang="en-US" sz="2000" dirty="0" smtClean="0"/>
              <a:t>:  A bird travels 4.8 km [N 50</a:t>
            </a:r>
            <a:r>
              <a:rPr lang="en-US" sz="2000" dirty="0" smtClean="0">
                <a:sym typeface="Symbol"/>
              </a:rPr>
              <a:t>E] and then 3.9 km[E35S].  Find the bird’s resultant displacement algebraically by applying the Cosine and Sine Laws</a:t>
            </a:r>
            <a:r>
              <a:rPr lang="en-US" sz="2400" dirty="0" smtClean="0">
                <a:sym typeface="Symbol"/>
              </a:rPr>
              <a:t>. 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24000" y="1075249"/>
                <a:ext cx="4724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−2</m:t>
                      </m:r>
                      <m:r>
                        <a:rPr lang="en-US" sz="2400" b="0" i="1" smtClean="0">
                          <a:latin typeface="Cambria Math"/>
                        </a:rPr>
                        <m:t>𝑎𝑏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𝐶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075249"/>
                <a:ext cx="4724400" cy="461665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762000"/>
            <a:ext cx="1939991" cy="204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04800" y="1121048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Cosine Law: 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4505" y="2057400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Sine Law: </a:t>
            </a:r>
            <a:endParaRPr 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752600" y="1895899"/>
                <a:ext cx="4038600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𝑏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895899"/>
                <a:ext cx="4038600" cy="612796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52400" y="762000"/>
            <a:ext cx="8610600" cy="18422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1219200" y="4876800"/>
            <a:ext cx="1219200" cy="1219200"/>
            <a:chOff x="1219200" y="4343400"/>
            <a:chExt cx="1219200" cy="1219200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1828800" y="4343400"/>
              <a:ext cx="0" cy="1219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1219200" y="4953000"/>
              <a:ext cx="12192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/>
          <p:cNvCxnSpPr/>
          <p:nvPr/>
        </p:nvCxnSpPr>
        <p:spPr>
          <a:xfrm flipV="1">
            <a:off x="1828800" y="4343400"/>
            <a:ext cx="2209800" cy="1143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28800" y="487680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50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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 rot="20042516">
            <a:off x="2629748" y="4506484"/>
            <a:ext cx="830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4.8 Km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2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152400" y="11624"/>
            <a:ext cx="86868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smtClean="0">
                <a:solidFill>
                  <a:srgbClr val="FF0000"/>
                </a:solidFill>
              </a:rPr>
              <a:t>Adding Displacement Vectors using a Sketch and Cosine/Sine Laws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52400" y="2805113"/>
            <a:ext cx="8991600" cy="3352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 smtClean="0"/>
              <a:t>Example </a:t>
            </a:r>
            <a:r>
              <a:rPr lang="en-US" sz="2000" dirty="0"/>
              <a:t>3</a:t>
            </a:r>
            <a:r>
              <a:rPr lang="en-US" sz="2000" dirty="0" smtClean="0"/>
              <a:t>:  A bird travels 4.8 km [N 50</a:t>
            </a:r>
            <a:r>
              <a:rPr lang="en-US" sz="2000" dirty="0" smtClean="0">
                <a:sym typeface="Symbol"/>
              </a:rPr>
              <a:t>E] and then 3.9 km[E35S].  Find the bird’s resultant displacement algebraically by applying the Cosine and Sine Laws</a:t>
            </a:r>
            <a:r>
              <a:rPr lang="en-US" sz="2400" dirty="0" smtClean="0">
                <a:sym typeface="Symbol"/>
              </a:rPr>
              <a:t>. 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24000" y="1075249"/>
                <a:ext cx="4724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−2</m:t>
                      </m:r>
                      <m:r>
                        <a:rPr lang="en-US" sz="2400" b="0" i="1" smtClean="0">
                          <a:latin typeface="Cambria Math"/>
                        </a:rPr>
                        <m:t>𝑎𝑏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𝐶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075249"/>
                <a:ext cx="4724400" cy="461665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762000"/>
            <a:ext cx="1939991" cy="204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04800" y="1121048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Cosine Law: 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4505" y="2057400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Sine Law: </a:t>
            </a:r>
            <a:endParaRPr 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752600" y="1895899"/>
                <a:ext cx="4038600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𝑏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895899"/>
                <a:ext cx="4038600" cy="612796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52400" y="762000"/>
            <a:ext cx="8610600" cy="18422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5"/>
          <p:cNvGrpSpPr/>
          <p:nvPr/>
        </p:nvGrpSpPr>
        <p:grpSpPr>
          <a:xfrm>
            <a:off x="1219200" y="4876800"/>
            <a:ext cx="1219200" cy="1219200"/>
            <a:chOff x="1219200" y="4343400"/>
            <a:chExt cx="1219200" cy="1219200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1828800" y="4343400"/>
              <a:ext cx="0" cy="1219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1219200" y="4953000"/>
              <a:ext cx="12192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/>
          <p:cNvCxnSpPr/>
          <p:nvPr/>
        </p:nvCxnSpPr>
        <p:spPr>
          <a:xfrm flipV="1">
            <a:off x="1828800" y="4343400"/>
            <a:ext cx="2209800" cy="1143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28800" y="487680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50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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 rot="20042516">
            <a:off x="2629748" y="4506484"/>
            <a:ext cx="830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4.8 Km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17" name="Group 15"/>
          <p:cNvGrpSpPr/>
          <p:nvPr/>
        </p:nvGrpSpPr>
        <p:grpSpPr>
          <a:xfrm>
            <a:off x="3429000" y="3733800"/>
            <a:ext cx="1219200" cy="1219200"/>
            <a:chOff x="1219200" y="4343400"/>
            <a:chExt cx="1219200" cy="1219200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1828800" y="4343400"/>
              <a:ext cx="0" cy="1219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1219200" y="4953000"/>
              <a:ext cx="12192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Arrow Connector 23"/>
          <p:cNvCxnSpPr/>
          <p:nvPr/>
        </p:nvCxnSpPr>
        <p:spPr>
          <a:xfrm>
            <a:off x="4038600" y="4343400"/>
            <a:ext cx="1981200" cy="76200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0" y="426720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sym typeface="Symbol"/>
              </a:rPr>
              <a:t>35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 rot="1254859">
            <a:off x="5068345" y="4501623"/>
            <a:ext cx="830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3.9 Km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2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152400" y="11624"/>
            <a:ext cx="86868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smtClean="0">
                <a:solidFill>
                  <a:srgbClr val="FF0000"/>
                </a:solidFill>
              </a:rPr>
              <a:t>Adding Displacement Vectors using a Sketch and Cosine/Sine Laws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52400" y="2805113"/>
            <a:ext cx="8991600" cy="3352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 smtClean="0"/>
              <a:t>Example </a:t>
            </a:r>
            <a:r>
              <a:rPr lang="en-US" sz="2000" dirty="0"/>
              <a:t>3</a:t>
            </a:r>
            <a:r>
              <a:rPr lang="en-US" sz="2000" dirty="0" smtClean="0"/>
              <a:t>:  A bird travels 4.8 km [N 50</a:t>
            </a:r>
            <a:r>
              <a:rPr lang="en-US" sz="2000" dirty="0" smtClean="0">
                <a:sym typeface="Symbol"/>
              </a:rPr>
              <a:t>E] and then 3.9 km[E35S].  Find the bird’s resultant displacement algebraically by applying the Cosine and Sine Laws</a:t>
            </a:r>
            <a:r>
              <a:rPr lang="en-US" sz="2400" dirty="0" smtClean="0">
                <a:sym typeface="Symbol"/>
              </a:rPr>
              <a:t>. 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24000" y="1075249"/>
                <a:ext cx="4724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−2</m:t>
                      </m:r>
                      <m:r>
                        <a:rPr lang="en-US" sz="2400" b="0" i="1" smtClean="0">
                          <a:latin typeface="Cambria Math"/>
                        </a:rPr>
                        <m:t>𝑎𝑏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𝐶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075249"/>
                <a:ext cx="4724400" cy="461665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762000"/>
            <a:ext cx="1939991" cy="204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04800" y="1121048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Cosine Law: 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4505" y="2057400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Sine Law: </a:t>
            </a:r>
            <a:endParaRPr 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752600" y="1895899"/>
                <a:ext cx="4038600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𝑏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895899"/>
                <a:ext cx="4038600" cy="612796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52400" y="762000"/>
            <a:ext cx="8610600" cy="18422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5"/>
          <p:cNvGrpSpPr/>
          <p:nvPr/>
        </p:nvGrpSpPr>
        <p:grpSpPr>
          <a:xfrm>
            <a:off x="1219200" y="4876800"/>
            <a:ext cx="1219200" cy="1219200"/>
            <a:chOff x="1219200" y="4343400"/>
            <a:chExt cx="1219200" cy="1219200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1828800" y="4343400"/>
              <a:ext cx="0" cy="1219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1219200" y="4953000"/>
              <a:ext cx="12192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/>
          <p:cNvCxnSpPr/>
          <p:nvPr/>
        </p:nvCxnSpPr>
        <p:spPr>
          <a:xfrm flipV="1">
            <a:off x="1828800" y="4343400"/>
            <a:ext cx="2209800" cy="1143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28800" y="487680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50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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 rot="20042516">
            <a:off x="2629748" y="4506484"/>
            <a:ext cx="830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4.8 Km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3" name="Group 15"/>
          <p:cNvGrpSpPr/>
          <p:nvPr/>
        </p:nvGrpSpPr>
        <p:grpSpPr>
          <a:xfrm>
            <a:off x="3429000" y="3733800"/>
            <a:ext cx="1219200" cy="1219200"/>
            <a:chOff x="1219200" y="4343400"/>
            <a:chExt cx="1219200" cy="1219200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1828800" y="4343400"/>
              <a:ext cx="0" cy="1219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1219200" y="4953000"/>
              <a:ext cx="12192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Arrow Connector 23"/>
          <p:cNvCxnSpPr/>
          <p:nvPr/>
        </p:nvCxnSpPr>
        <p:spPr>
          <a:xfrm>
            <a:off x="4038600" y="4343400"/>
            <a:ext cx="1981200" cy="76200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0" y="426720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sym typeface="Symbol"/>
              </a:rPr>
              <a:t>35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 rot="1254859">
            <a:off x="5068345" y="4501623"/>
            <a:ext cx="830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3.9 Km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1828800" y="5105400"/>
            <a:ext cx="4038600" cy="38100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2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152400" y="11624"/>
            <a:ext cx="86868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smtClean="0">
                <a:solidFill>
                  <a:srgbClr val="FF0000"/>
                </a:solidFill>
              </a:rPr>
              <a:t>Adding Displacement Vectors using a Sketch and Cosine/Sine Laws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52400" y="2805113"/>
            <a:ext cx="8991600" cy="3352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 smtClean="0"/>
              <a:t>Example </a:t>
            </a:r>
            <a:r>
              <a:rPr lang="en-US" sz="2000" dirty="0"/>
              <a:t>3</a:t>
            </a:r>
            <a:r>
              <a:rPr lang="en-US" sz="2000" dirty="0" smtClean="0"/>
              <a:t>:  A bird travels 4.8 km [N 50</a:t>
            </a:r>
            <a:r>
              <a:rPr lang="en-US" sz="2000" dirty="0" smtClean="0">
                <a:sym typeface="Symbol"/>
              </a:rPr>
              <a:t>E] and then 3.9 km[E35S].  Find the bird’s resultant displacement algebraically by applying the Cosine and Sine Laws</a:t>
            </a:r>
            <a:r>
              <a:rPr lang="en-US" sz="2400" dirty="0" smtClean="0">
                <a:sym typeface="Symbol"/>
              </a:rPr>
              <a:t>. 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24000" y="1075249"/>
                <a:ext cx="4724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−2</m:t>
                      </m:r>
                      <m:r>
                        <a:rPr lang="en-US" sz="2400" b="0" i="1" smtClean="0">
                          <a:latin typeface="Cambria Math"/>
                        </a:rPr>
                        <m:t>𝑎𝑏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𝐶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075249"/>
                <a:ext cx="4724400" cy="461665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762000"/>
            <a:ext cx="1939991" cy="204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04800" y="1121048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Cosine Law: 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4505" y="2057400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Sine Law: </a:t>
            </a:r>
            <a:endParaRPr 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752600" y="1895899"/>
                <a:ext cx="4038600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𝑏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895899"/>
                <a:ext cx="4038600" cy="612796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52400" y="762000"/>
            <a:ext cx="8610600" cy="18422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1828800" y="4343400"/>
            <a:ext cx="2209800" cy="1143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33800" y="4495800"/>
            <a:ext cx="62869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sym typeface="Symbol"/>
              </a:rPr>
              <a:t>105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 rot="20042516">
            <a:off x="2629748" y="4506484"/>
            <a:ext cx="830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4.8 Km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4038600" y="4343400"/>
            <a:ext cx="1981200" cy="76200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 rot="1254859">
            <a:off x="4610567" y="4403229"/>
            <a:ext cx="830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3.9 Km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1828800" y="5105400"/>
            <a:ext cx="4038600" cy="38100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2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152400" y="11624"/>
            <a:ext cx="86868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smtClean="0">
                <a:solidFill>
                  <a:srgbClr val="FF0000"/>
                </a:solidFill>
              </a:rPr>
              <a:t>Adding Displacement Vectors using a Sketch and Cosine/Sine Laws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52400" y="2805113"/>
            <a:ext cx="8991600" cy="3352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 smtClean="0"/>
              <a:t>Example </a:t>
            </a:r>
            <a:r>
              <a:rPr lang="en-US" sz="2000" dirty="0"/>
              <a:t>3</a:t>
            </a:r>
            <a:r>
              <a:rPr lang="en-US" sz="2000" dirty="0" smtClean="0"/>
              <a:t>:  A bird travels 4.8 km [N 50</a:t>
            </a:r>
            <a:r>
              <a:rPr lang="en-US" sz="2000" dirty="0" smtClean="0">
                <a:sym typeface="Symbol"/>
              </a:rPr>
              <a:t>E] and then 3.9 km[E35S].  Find the bird’s resultant displacement algebraically by applying the Cosine and Sine Laws</a:t>
            </a:r>
            <a:r>
              <a:rPr lang="en-US" sz="2400" dirty="0" smtClean="0">
                <a:sym typeface="Symbol"/>
              </a:rPr>
              <a:t>. 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24000" y="1075249"/>
                <a:ext cx="4724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−2</m:t>
                      </m:r>
                      <m:r>
                        <a:rPr lang="en-US" sz="2400" b="0" i="1" smtClean="0">
                          <a:latin typeface="Cambria Math"/>
                        </a:rPr>
                        <m:t>𝑎𝑏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𝐶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075249"/>
                <a:ext cx="4724400" cy="461665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762000"/>
            <a:ext cx="1939991" cy="204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04800" y="1121048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Cosine Law: 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4505" y="2057400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Sine Law: </a:t>
            </a:r>
            <a:endParaRPr 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752600" y="1895899"/>
                <a:ext cx="4038600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𝑏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895899"/>
                <a:ext cx="4038600" cy="612796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52400" y="762000"/>
            <a:ext cx="8610600" cy="18422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1828800" y="4343400"/>
            <a:ext cx="2209800" cy="1143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33800" y="4495800"/>
            <a:ext cx="62869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sym typeface="Symbol"/>
              </a:rPr>
              <a:t>105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 rot="20042516">
            <a:off x="2629748" y="4506484"/>
            <a:ext cx="830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4.8 Km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4038600" y="4343400"/>
            <a:ext cx="1981200" cy="76200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 rot="1254859">
            <a:off x="4610568" y="4403228"/>
            <a:ext cx="830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3.9 Km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1828800" y="5105400"/>
            <a:ext cx="4038600" cy="38100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21227850">
            <a:off x="3668165" y="5301573"/>
            <a:ext cx="844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6.9 Km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53000" y="4800600"/>
            <a:ext cx="51167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sym typeface="Symbol"/>
              </a:rPr>
              <a:t>42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62200" y="5105400"/>
            <a:ext cx="51167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  <a:sym typeface="Symbol"/>
              </a:rPr>
              <a:t>33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2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152400" y="11624"/>
            <a:ext cx="86868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smtClean="0">
                <a:solidFill>
                  <a:srgbClr val="FF0000"/>
                </a:solidFill>
              </a:rPr>
              <a:t>Adding Displacement Vectors using a Sketch and Cosine/Sine Laws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52400" y="2805113"/>
            <a:ext cx="8991600" cy="3352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 smtClean="0"/>
              <a:t>Example </a:t>
            </a:r>
            <a:r>
              <a:rPr lang="en-US" sz="2000" dirty="0"/>
              <a:t>3</a:t>
            </a:r>
            <a:r>
              <a:rPr lang="en-US" sz="2000" dirty="0" smtClean="0"/>
              <a:t>:  A bird travels 4.8 km [N 50</a:t>
            </a:r>
            <a:r>
              <a:rPr lang="en-US" sz="2000" dirty="0" smtClean="0">
                <a:sym typeface="Symbol"/>
              </a:rPr>
              <a:t>E] and then 3.9 km[E35S].  Find the bird’s resultant displacement algebraically by applying the Cosine and Sine Laws</a:t>
            </a:r>
            <a:r>
              <a:rPr lang="en-US" sz="2400" dirty="0" smtClean="0">
                <a:sym typeface="Symbol"/>
              </a:rPr>
              <a:t>. 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24000" y="1075249"/>
                <a:ext cx="4724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−2</m:t>
                      </m:r>
                      <m:r>
                        <a:rPr lang="en-US" sz="2400" b="0" i="1" smtClean="0">
                          <a:latin typeface="Cambria Math"/>
                        </a:rPr>
                        <m:t>𝑎𝑏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𝐶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075249"/>
                <a:ext cx="4724400" cy="461665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762000"/>
            <a:ext cx="1939991" cy="204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04800" y="1121048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Cosine Law: 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4505" y="2057400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Sine Law: </a:t>
            </a:r>
            <a:endParaRPr 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752600" y="1895899"/>
                <a:ext cx="4038600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𝑏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895899"/>
                <a:ext cx="4038600" cy="612796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52400" y="762000"/>
            <a:ext cx="8610600" cy="18422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1828800" y="4343400"/>
            <a:ext cx="2209800" cy="1143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038600" y="4343400"/>
            <a:ext cx="1981200" cy="76200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1828800" y="5105400"/>
            <a:ext cx="4038600" cy="38100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21227850">
            <a:off x="3668165" y="5301573"/>
            <a:ext cx="844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6.9 Km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28800" y="4876800"/>
            <a:ext cx="51167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sym typeface="Symbol"/>
              </a:rPr>
              <a:t>50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62200" y="5105400"/>
            <a:ext cx="51167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sym typeface="Symbol"/>
              </a:rPr>
              <a:t>33</a:t>
            </a:r>
            <a:endParaRPr lang="en-US" b="1" dirty="0">
              <a:solidFill>
                <a:schemeClr val="accent1"/>
              </a:solidFill>
            </a:endParaRPr>
          </a:p>
        </p:txBody>
      </p:sp>
      <p:grpSp>
        <p:nvGrpSpPr>
          <p:cNvPr id="19" name="Group 15"/>
          <p:cNvGrpSpPr/>
          <p:nvPr/>
        </p:nvGrpSpPr>
        <p:grpSpPr>
          <a:xfrm>
            <a:off x="1219200" y="4876800"/>
            <a:ext cx="1219200" cy="1219200"/>
            <a:chOff x="1219200" y="4343400"/>
            <a:chExt cx="1219200" cy="1219200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1828800" y="4343400"/>
              <a:ext cx="0" cy="1219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>
              <a:off x="1219200" y="4953000"/>
              <a:ext cx="12192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2590800" y="5334000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sym typeface="Symbol"/>
              </a:rPr>
              <a:t>7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85455" y="4461302"/>
            <a:ext cx="208422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 smtClean="0">
                <a:solidFill>
                  <a:srgbClr val="FF0000"/>
                </a:solidFill>
              </a:rPr>
              <a:t>Answer: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6.9 Km [N83</a:t>
            </a:r>
            <a:r>
              <a:rPr lang="en-US" sz="2400" dirty="0" smtClean="0">
                <a:solidFill>
                  <a:srgbClr val="FF0000"/>
                </a:solidFill>
                <a:sym typeface="Symbol"/>
              </a:rPr>
              <a:t></a:t>
            </a:r>
            <a:r>
              <a:rPr lang="en-US" sz="2400" dirty="0" smtClean="0">
                <a:solidFill>
                  <a:srgbClr val="FF0000"/>
                </a:solidFill>
              </a:rPr>
              <a:t>E]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or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6.9 Km [E7</a:t>
            </a:r>
            <a:r>
              <a:rPr lang="en-US" sz="2400" dirty="0" smtClean="0">
                <a:solidFill>
                  <a:srgbClr val="FF0000"/>
                </a:solidFill>
                <a:sym typeface="Symbol"/>
              </a:rPr>
              <a:t></a:t>
            </a:r>
            <a:r>
              <a:rPr lang="en-US" sz="2400" dirty="0" smtClean="0">
                <a:solidFill>
                  <a:srgbClr val="FF0000"/>
                </a:solidFill>
              </a:rPr>
              <a:t>N]</a:t>
            </a:r>
          </a:p>
        </p:txBody>
      </p:sp>
    </p:spTree>
    <p:extLst>
      <p:ext uri="{BB962C8B-B14F-4D97-AF65-F5344CB8AC3E}">
        <p14:creationId xmlns:p14="http://schemas.microsoft.com/office/powerpoint/2010/main" val="33392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Vector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000" dirty="0" smtClean="0"/>
              <a:t>Vectors can be broken down into “X” and “Y” axis </a:t>
            </a:r>
            <a:r>
              <a:rPr lang="en-CA" sz="2000" b="1" i="1" dirty="0" smtClean="0"/>
              <a:t>components</a:t>
            </a:r>
            <a:r>
              <a:rPr lang="en-CA" sz="2000" dirty="0" smtClean="0"/>
              <a:t>.</a:t>
            </a:r>
          </a:p>
          <a:p>
            <a:r>
              <a:rPr lang="en-CA" sz="2000" dirty="0" smtClean="0"/>
              <a:t>We use basic trigonometry (SOHCAHTOA)</a:t>
            </a:r>
            <a:endParaRPr lang="en-US" sz="20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2819400" y="2667000"/>
            <a:ext cx="2954364" cy="2883932"/>
            <a:chOff x="360336" y="1148834"/>
            <a:chExt cx="3297264" cy="3068598"/>
          </a:xfrm>
        </p:grpSpPr>
        <p:sp>
          <p:nvSpPr>
            <p:cNvPr id="13" name="TextBox 12"/>
            <p:cNvSpPr txBox="1"/>
            <p:nvPr/>
          </p:nvSpPr>
          <p:spPr>
            <a:xfrm>
              <a:off x="2971800" y="2406134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360336" y="1148834"/>
              <a:ext cx="2611464" cy="3068598"/>
              <a:chOff x="360336" y="1148834"/>
              <a:chExt cx="2611464" cy="3068598"/>
            </a:xfrm>
          </p:grpSpPr>
          <p:cxnSp>
            <p:nvCxnSpPr>
              <p:cNvPr id="15" name="Straight Arrow Connector 14"/>
              <p:cNvCxnSpPr/>
              <p:nvPr/>
            </p:nvCxnSpPr>
            <p:spPr>
              <a:xfrm flipV="1">
                <a:off x="1828800" y="1333500"/>
                <a:ext cx="0" cy="25146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>
                <a:off x="703236" y="2590800"/>
                <a:ext cx="22685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/>
              <p:cNvSpPr txBox="1"/>
              <p:nvPr/>
            </p:nvSpPr>
            <p:spPr>
              <a:xfrm>
                <a:off x="1485900" y="1148834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N</a:t>
                </a:r>
                <a:endParaRPr lang="en-US" dirty="0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1722250" y="38481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S</a:t>
                </a:r>
                <a:endParaRPr lang="en-US" dirty="0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360336" y="2406134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</a:t>
                </a:r>
              </a:p>
            </p:txBody>
          </p:sp>
        </p:grpSp>
      </p:grpSp>
      <p:cxnSp>
        <p:nvCxnSpPr>
          <p:cNvPr id="20" name="Straight Arrow Connector 19"/>
          <p:cNvCxnSpPr/>
          <p:nvPr/>
        </p:nvCxnSpPr>
        <p:spPr>
          <a:xfrm flipV="1">
            <a:off x="4142962" y="2871229"/>
            <a:ext cx="511199" cy="115096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65429" y="3115078"/>
            <a:ext cx="649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30</a:t>
            </a:r>
            <a:r>
              <a:rPr lang="en-US" b="1" dirty="0" smtClean="0">
                <a:solidFill>
                  <a:srgbClr val="FF0000"/>
                </a:solidFill>
                <a:sym typeface="Symbol"/>
              </a:rPr>
              <a:t>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42391" y="3305464"/>
            <a:ext cx="919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sym typeface="Symbol"/>
              </a:rPr>
              <a:t>5.0 km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979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Vector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000" dirty="0" smtClean="0"/>
              <a:t>Vectors can be broken down into “X” and “Y” axis </a:t>
            </a:r>
            <a:r>
              <a:rPr lang="en-CA" sz="2000" b="1" i="1" dirty="0" smtClean="0"/>
              <a:t>components</a:t>
            </a:r>
            <a:r>
              <a:rPr lang="en-CA" sz="2000" dirty="0" smtClean="0"/>
              <a:t>.</a:t>
            </a:r>
          </a:p>
          <a:p>
            <a:r>
              <a:rPr lang="en-CA" sz="2000" dirty="0" smtClean="0"/>
              <a:t>We use basic trigonometry (SOHCAHTOA)</a:t>
            </a:r>
            <a:endParaRPr lang="en-US" sz="20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2514600" y="2667000"/>
            <a:ext cx="2954364" cy="2883932"/>
            <a:chOff x="360336" y="1148834"/>
            <a:chExt cx="3297264" cy="3068598"/>
          </a:xfrm>
        </p:grpSpPr>
        <p:sp>
          <p:nvSpPr>
            <p:cNvPr id="13" name="TextBox 12"/>
            <p:cNvSpPr txBox="1"/>
            <p:nvPr/>
          </p:nvSpPr>
          <p:spPr>
            <a:xfrm>
              <a:off x="2971800" y="2406134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360336" y="1148834"/>
              <a:ext cx="2611464" cy="3068598"/>
              <a:chOff x="360336" y="1148834"/>
              <a:chExt cx="2611464" cy="3068598"/>
            </a:xfrm>
          </p:grpSpPr>
          <p:cxnSp>
            <p:nvCxnSpPr>
              <p:cNvPr id="15" name="Straight Arrow Connector 14"/>
              <p:cNvCxnSpPr/>
              <p:nvPr/>
            </p:nvCxnSpPr>
            <p:spPr>
              <a:xfrm flipV="1">
                <a:off x="1828800" y="1333500"/>
                <a:ext cx="0" cy="25146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>
                <a:off x="703236" y="2590800"/>
                <a:ext cx="22685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/>
              <p:cNvSpPr txBox="1"/>
              <p:nvPr/>
            </p:nvSpPr>
            <p:spPr>
              <a:xfrm>
                <a:off x="1485900" y="1148834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N</a:t>
                </a:r>
                <a:endParaRPr lang="en-US" dirty="0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1722250" y="38481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S</a:t>
                </a:r>
                <a:endParaRPr lang="en-US" dirty="0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360336" y="2406134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</a:t>
                </a:r>
              </a:p>
            </p:txBody>
          </p:sp>
        </p:grpSp>
      </p:grpSp>
      <p:cxnSp>
        <p:nvCxnSpPr>
          <p:cNvPr id="20" name="Straight Arrow Connector 19"/>
          <p:cNvCxnSpPr/>
          <p:nvPr/>
        </p:nvCxnSpPr>
        <p:spPr>
          <a:xfrm flipV="1">
            <a:off x="3838162" y="2871229"/>
            <a:ext cx="511199" cy="115096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760629" y="3115078"/>
            <a:ext cx="649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30</a:t>
            </a:r>
            <a:r>
              <a:rPr lang="en-US" b="1" dirty="0" smtClean="0">
                <a:solidFill>
                  <a:srgbClr val="FF0000"/>
                </a:solidFill>
                <a:sym typeface="Symbol"/>
              </a:rPr>
              <a:t>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37591" y="3305464"/>
            <a:ext cx="919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sym typeface="Symbol"/>
              </a:rPr>
              <a:t>5.0 km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4349361" y="2971800"/>
            <a:ext cx="0" cy="1050389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830351" y="4022189"/>
            <a:ext cx="51901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68964" y="4378305"/>
            <a:ext cx="19105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u="sng" dirty="0" smtClean="0"/>
              <a:t>X-Axis Component</a:t>
            </a:r>
          </a:p>
          <a:p>
            <a:r>
              <a:rPr lang="en-CA" dirty="0" smtClean="0"/>
              <a:t>= 5.0 Sin(30</a:t>
            </a:r>
            <a:r>
              <a:rPr lang="en-US" b="1" dirty="0" smtClean="0">
                <a:sym typeface="Symbol"/>
              </a:rPr>
              <a:t></a:t>
            </a:r>
            <a:r>
              <a:rPr lang="en-CA" dirty="0" smtClean="0"/>
              <a:t>)</a:t>
            </a:r>
          </a:p>
          <a:p>
            <a:r>
              <a:rPr lang="en-CA" dirty="0" smtClean="0"/>
              <a:t>= </a:t>
            </a:r>
            <a:r>
              <a:rPr lang="en-CA" dirty="0" smtClean="0"/>
              <a:t>2.5 Km [E]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 flipV="1">
            <a:off x="4349361" y="4114800"/>
            <a:ext cx="1119603" cy="7251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580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Vector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000" dirty="0" smtClean="0"/>
              <a:t>Vectors can be broken down into “X” and “Y” axis </a:t>
            </a:r>
            <a:r>
              <a:rPr lang="en-CA" sz="2000" b="1" i="1" dirty="0" smtClean="0"/>
              <a:t>components</a:t>
            </a:r>
            <a:r>
              <a:rPr lang="en-CA" sz="2000" dirty="0" smtClean="0"/>
              <a:t>.</a:t>
            </a:r>
          </a:p>
          <a:p>
            <a:r>
              <a:rPr lang="en-CA" sz="2000" dirty="0" smtClean="0"/>
              <a:t>We use basic trigonometry (SOHCAHTOA)</a:t>
            </a:r>
            <a:endParaRPr lang="en-US" sz="20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2514600" y="2667000"/>
            <a:ext cx="2954364" cy="2883932"/>
            <a:chOff x="360336" y="1148834"/>
            <a:chExt cx="3297264" cy="3068598"/>
          </a:xfrm>
        </p:grpSpPr>
        <p:sp>
          <p:nvSpPr>
            <p:cNvPr id="13" name="TextBox 12"/>
            <p:cNvSpPr txBox="1"/>
            <p:nvPr/>
          </p:nvSpPr>
          <p:spPr>
            <a:xfrm>
              <a:off x="2971800" y="2406134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360336" y="1148834"/>
              <a:ext cx="2611464" cy="3068598"/>
              <a:chOff x="360336" y="1148834"/>
              <a:chExt cx="2611464" cy="3068598"/>
            </a:xfrm>
          </p:grpSpPr>
          <p:cxnSp>
            <p:nvCxnSpPr>
              <p:cNvPr id="15" name="Straight Arrow Connector 14"/>
              <p:cNvCxnSpPr/>
              <p:nvPr/>
            </p:nvCxnSpPr>
            <p:spPr>
              <a:xfrm flipV="1">
                <a:off x="1828800" y="1333500"/>
                <a:ext cx="0" cy="25146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>
                <a:off x="703236" y="2590800"/>
                <a:ext cx="22685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/>
              <p:cNvSpPr txBox="1"/>
              <p:nvPr/>
            </p:nvSpPr>
            <p:spPr>
              <a:xfrm>
                <a:off x="1485900" y="1148834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N</a:t>
                </a:r>
                <a:endParaRPr lang="en-US" dirty="0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1722250" y="38481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S</a:t>
                </a:r>
                <a:endParaRPr lang="en-US" dirty="0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360336" y="2406134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</a:t>
                </a:r>
              </a:p>
            </p:txBody>
          </p:sp>
        </p:grpSp>
      </p:grpSp>
      <p:cxnSp>
        <p:nvCxnSpPr>
          <p:cNvPr id="20" name="Straight Arrow Connector 19"/>
          <p:cNvCxnSpPr/>
          <p:nvPr/>
        </p:nvCxnSpPr>
        <p:spPr>
          <a:xfrm flipV="1">
            <a:off x="3838162" y="2871229"/>
            <a:ext cx="511199" cy="115096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760629" y="3115078"/>
            <a:ext cx="649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30</a:t>
            </a:r>
            <a:r>
              <a:rPr lang="en-US" b="1" dirty="0" smtClean="0">
                <a:solidFill>
                  <a:srgbClr val="FF0000"/>
                </a:solidFill>
                <a:sym typeface="Symbol"/>
              </a:rPr>
              <a:t>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37591" y="3305464"/>
            <a:ext cx="919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sym typeface="Symbol"/>
              </a:rPr>
              <a:t>5.0 km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838163" y="2871229"/>
            <a:ext cx="511198" cy="1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3830351" y="2840553"/>
            <a:ext cx="0" cy="11816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9424" y="2751466"/>
            <a:ext cx="19105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u="sng" dirty="0" smtClean="0"/>
              <a:t>Y-Axis Component</a:t>
            </a:r>
          </a:p>
          <a:p>
            <a:r>
              <a:rPr lang="en-CA" dirty="0" smtClean="0"/>
              <a:t>= 5.0 Cos(30</a:t>
            </a:r>
            <a:r>
              <a:rPr lang="en-US" b="1" dirty="0" smtClean="0">
                <a:sym typeface="Symbol"/>
              </a:rPr>
              <a:t></a:t>
            </a:r>
            <a:r>
              <a:rPr lang="en-CA" dirty="0" smtClean="0"/>
              <a:t>)</a:t>
            </a:r>
          </a:p>
          <a:p>
            <a:r>
              <a:rPr lang="en-CA" dirty="0" smtClean="0"/>
              <a:t>= </a:t>
            </a:r>
            <a:r>
              <a:rPr lang="en-CA" dirty="0" smtClean="0"/>
              <a:t>4.3 Km [N]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9" idx="3"/>
          </p:cNvCxnSpPr>
          <p:nvPr/>
        </p:nvCxnSpPr>
        <p:spPr>
          <a:xfrm>
            <a:off x="2290012" y="3213131"/>
            <a:ext cx="1409915" cy="923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2546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Vector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800" dirty="0" smtClean="0"/>
              <a:t>Calculate The Following Components</a:t>
            </a:r>
          </a:p>
          <a:p>
            <a:pPr lvl="1"/>
            <a:r>
              <a:rPr lang="en-CA" sz="2000" dirty="0" smtClean="0"/>
              <a:t>* Assume North is Up</a:t>
            </a:r>
          </a:p>
          <a:p>
            <a:pPr lvl="1"/>
            <a:r>
              <a:rPr lang="en-CA" sz="2000" dirty="0" smtClean="0"/>
              <a:t>** Assume North and East are positive</a:t>
            </a:r>
            <a:endParaRPr lang="en-US" sz="2000" dirty="0"/>
          </a:p>
        </p:txBody>
      </p:sp>
      <p:grpSp>
        <p:nvGrpSpPr>
          <p:cNvPr id="17" name="Group 16"/>
          <p:cNvGrpSpPr/>
          <p:nvPr/>
        </p:nvGrpSpPr>
        <p:grpSpPr>
          <a:xfrm>
            <a:off x="975273" y="3161316"/>
            <a:ext cx="2819400" cy="1752600"/>
            <a:chOff x="1219200" y="4343400"/>
            <a:chExt cx="2819400" cy="1752600"/>
          </a:xfrm>
        </p:grpSpPr>
        <p:grpSp>
          <p:nvGrpSpPr>
            <p:cNvPr id="4" name="Group 15"/>
            <p:cNvGrpSpPr/>
            <p:nvPr/>
          </p:nvGrpSpPr>
          <p:grpSpPr>
            <a:xfrm>
              <a:off x="1219200" y="4876800"/>
              <a:ext cx="1219200" cy="1219200"/>
              <a:chOff x="1219200" y="4343400"/>
              <a:chExt cx="1219200" cy="1219200"/>
            </a:xfrm>
          </p:grpSpPr>
          <p:cxnSp>
            <p:nvCxnSpPr>
              <p:cNvPr id="5" name="Straight Connector 4"/>
              <p:cNvCxnSpPr/>
              <p:nvPr/>
            </p:nvCxnSpPr>
            <p:spPr>
              <a:xfrm>
                <a:off x="1828800" y="4343400"/>
                <a:ext cx="0" cy="1219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/>
              <p:cNvCxnSpPr/>
              <p:nvPr/>
            </p:nvCxnSpPr>
            <p:spPr>
              <a:xfrm flipH="1">
                <a:off x="1219200" y="4953000"/>
                <a:ext cx="12192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/>
            <p:cNvCxnSpPr/>
            <p:nvPr/>
          </p:nvCxnSpPr>
          <p:spPr>
            <a:xfrm flipV="1">
              <a:off x="1828800" y="4343400"/>
              <a:ext cx="2209800" cy="11430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1828800" y="4876800"/>
              <a:ext cx="5116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</a:rPr>
                <a:t>50</a:t>
              </a:r>
              <a:r>
                <a:rPr lang="en-US" dirty="0" smtClean="0">
                  <a:solidFill>
                    <a:srgbClr val="FF0000"/>
                  </a:solidFill>
                  <a:sym typeface="Symbol"/>
                </a:rPr>
                <a:t>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 rot="20042516">
              <a:off x="2629748" y="4506484"/>
              <a:ext cx="8302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</a:rPr>
                <a:t>4.8 Km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486400" y="3732816"/>
            <a:ext cx="2590800" cy="1371600"/>
            <a:chOff x="3429000" y="3733800"/>
            <a:chExt cx="2590800" cy="1371600"/>
          </a:xfrm>
        </p:grpSpPr>
        <p:grpSp>
          <p:nvGrpSpPr>
            <p:cNvPr id="10" name="Group 15"/>
            <p:cNvGrpSpPr/>
            <p:nvPr/>
          </p:nvGrpSpPr>
          <p:grpSpPr>
            <a:xfrm>
              <a:off x="3429000" y="3733800"/>
              <a:ext cx="1219200" cy="1219200"/>
              <a:chOff x="1219200" y="4343400"/>
              <a:chExt cx="1219200" cy="1219200"/>
            </a:xfrm>
          </p:grpSpPr>
          <p:cxnSp>
            <p:nvCxnSpPr>
              <p:cNvPr id="11" name="Straight Connector 10"/>
              <p:cNvCxnSpPr/>
              <p:nvPr/>
            </p:nvCxnSpPr>
            <p:spPr>
              <a:xfrm>
                <a:off x="1828800" y="4343400"/>
                <a:ext cx="0" cy="1219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flipH="1">
                <a:off x="1219200" y="4953000"/>
                <a:ext cx="12192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Straight Arrow Connector 12"/>
            <p:cNvCxnSpPr/>
            <p:nvPr/>
          </p:nvCxnSpPr>
          <p:spPr>
            <a:xfrm>
              <a:off x="4038600" y="4343400"/>
              <a:ext cx="1981200" cy="76200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4572000" y="4267200"/>
              <a:ext cx="5116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  <a:sym typeface="Symbol"/>
                </a:rPr>
                <a:t>35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 rot="1254859">
              <a:off x="5068345" y="4501623"/>
              <a:ext cx="8302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</a:rPr>
                <a:t>3.9 Km</a:t>
              </a:r>
              <a:endParaRPr lang="en-US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3272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Vector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800" dirty="0" smtClean="0"/>
              <a:t>Calculate The Following Components</a:t>
            </a:r>
          </a:p>
          <a:p>
            <a:pPr lvl="1"/>
            <a:r>
              <a:rPr lang="en-CA" sz="2000" dirty="0" smtClean="0"/>
              <a:t>* Assume North is Up</a:t>
            </a:r>
          </a:p>
          <a:p>
            <a:pPr lvl="1"/>
            <a:r>
              <a:rPr lang="en-CA" sz="2000" dirty="0" smtClean="0"/>
              <a:t>** Assume North and East are positive</a:t>
            </a:r>
            <a:endParaRPr lang="en-US" sz="2000" dirty="0"/>
          </a:p>
        </p:txBody>
      </p:sp>
      <p:grpSp>
        <p:nvGrpSpPr>
          <p:cNvPr id="17" name="Group 16"/>
          <p:cNvGrpSpPr/>
          <p:nvPr/>
        </p:nvGrpSpPr>
        <p:grpSpPr>
          <a:xfrm>
            <a:off x="975273" y="3161316"/>
            <a:ext cx="2819400" cy="1752600"/>
            <a:chOff x="1219200" y="4343400"/>
            <a:chExt cx="2819400" cy="1752600"/>
          </a:xfrm>
        </p:grpSpPr>
        <p:grpSp>
          <p:nvGrpSpPr>
            <p:cNvPr id="4" name="Group 15"/>
            <p:cNvGrpSpPr/>
            <p:nvPr/>
          </p:nvGrpSpPr>
          <p:grpSpPr>
            <a:xfrm>
              <a:off x="1219200" y="4876800"/>
              <a:ext cx="1219200" cy="1219200"/>
              <a:chOff x="1219200" y="4343400"/>
              <a:chExt cx="1219200" cy="1219200"/>
            </a:xfrm>
          </p:grpSpPr>
          <p:cxnSp>
            <p:nvCxnSpPr>
              <p:cNvPr id="5" name="Straight Connector 4"/>
              <p:cNvCxnSpPr/>
              <p:nvPr/>
            </p:nvCxnSpPr>
            <p:spPr>
              <a:xfrm>
                <a:off x="1828800" y="4343400"/>
                <a:ext cx="0" cy="1219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/>
              <p:cNvCxnSpPr/>
              <p:nvPr/>
            </p:nvCxnSpPr>
            <p:spPr>
              <a:xfrm flipH="1">
                <a:off x="1219200" y="4953000"/>
                <a:ext cx="12192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/>
            <p:cNvCxnSpPr/>
            <p:nvPr/>
          </p:nvCxnSpPr>
          <p:spPr>
            <a:xfrm flipV="1">
              <a:off x="1828800" y="4343400"/>
              <a:ext cx="2209800" cy="11430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1828800" y="4876800"/>
              <a:ext cx="5116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</a:rPr>
                <a:t>50</a:t>
              </a:r>
              <a:r>
                <a:rPr lang="en-US" dirty="0" smtClean="0">
                  <a:solidFill>
                    <a:srgbClr val="FF0000"/>
                  </a:solidFill>
                  <a:sym typeface="Symbol"/>
                </a:rPr>
                <a:t>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 rot="20042516">
              <a:off x="2629748" y="4506484"/>
              <a:ext cx="8302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</a:rPr>
                <a:t>4.8 Km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486400" y="3732816"/>
            <a:ext cx="2590800" cy="1371600"/>
            <a:chOff x="3429000" y="3733800"/>
            <a:chExt cx="2590800" cy="1371600"/>
          </a:xfrm>
        </p:grpSpPr>
        <p:grpSp>
          <p:nvGrpSpPr>
            <p:cNvPr id="10" name="Group 15"/>
            <p:cNvGrpSpPr/>
            <p:nvPr/>
          </p:nvGrpSpPr>
          <p:grpSpPr>
            <a:xfrm>
              <a:off x="3429000" y="3733800"/>
              <a:ext cx="1219200" cy="1219200"/>
              <a:chOff x="1219200" y="4343400"/>
              <a:chExt cx="1219200" cy="1219200"/>
            </a:xfrm>
          </p:grpSpPr>
          <p:cxnSp>
            <p:nvCxnSpPr>
              <p:cNvPr id="11" name="Straight Connector 10"/>
              <p:cNvCxnSpPr/>
              <p:nvPr/>
            </p:nvCxnSpPr>
            <p:spPr>
              <a:xfrm>
                <a:off x="1828800" y="4343400"/>
                <a:ext cx="0" cy="1219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flipH="1">
                <a:off x="1219200" y="4953000"/>
                <a:ext cx="12192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Straight Arrow Connector 12"/>
            <p:cNvCxnSpPr/>
            <p:nvPr/>
          </p:nvCxnSpPr>
          <p:spPr>
            <a:xfrm>
              <a:off x="4038600" y="4343400"/>
              <a:ext cx="1981200" cy="76200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4572000" y="4267200"/>
              <a:ext cx="5116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  <a:sym typeface="Symbol"/>
                </a:rPr>
                <a:t>35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 rot="1254859">
              <a:off x="5068345" y="4501623"/>
              <a:ext cx="8302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</a:rPr>
                <a:t>3.9 Km</a:t>
              </a:r>
              <a:endParaRPr lang="en-US" dirty="0">
                <a:solidFill>
                  <a:srgbClr val="00B050"/>
                </a:solidFill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85480" y="3660962"/>
            <a:ext cx="1207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 smtClean="0"/>
              <a:t>= 4.8 Cos(50</a:t>
            </a:r>
            <a:r>
              <a:rPr lang="en-US" sz="1400" b="1" dirty="0" smtClean="0">
                <a:sym typeface="Symbol"/>
              </a:rPr>
              <a:t></a:t>
            </a:r>
            <a:r>
              <a:rPr lang="en-CA" sz="1400" dirty="0" smtClean="0"/>
              <a:t>)</a:t>
            </a:r>
          </a:p>
          <a:p>
            <a:r>
              <a:rPr lang="en-CA" sz="1400" dirty="0" smtClean="0"/>
              <a:t>= </a:t>
            </a:r>
            <a:r>
              <a:rPr lang="en-CA" sz="1400" dirty="0" smtClean="0"/>
              <a:t>3.1 Km [N]</a:t>
            </a:r>
            <a:endParaRPr lang="en-US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4888617" y="4385606"/>
            <a:ext cx="11641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 smtClean="0"/>
              <a:t>= 3.9 Sin(35</a:t>
            </a:r>
            <a:r>
              <a:rPr lang="en-US" sz="1400" b="1" dirty="0" smtClean="0">
                <a:sym typeface="Symbol"/>
              </a:rPr>
              <a:t></a:t>
            </a:r>
            <a:r>
              <a:rPr lang="en-CA" sz="1400" dirty="0" smtClean="0"/>
              <a:t>)</a:t>
            </a:r>
          </a:p>
          <a:p>
            <a:r>
              <a:rPr lang="en-CA" sz="1400" dirty="0" smtClean="0"/>
              <a:t>= </a:t>
            </a:r>
            <a:r>
              <a:rPr lang="en-CA" sz="1400" dirty="0" smtClean="0"/>
              <a:t>2.2 Km [S]</a:t>
            </a:r>
          </a:p>
          <a:p>
            <a:r>
              <a:rPr lang="en-CA" sz="1400" dirty="0" smtClean="0"/>
              <a:t>= </a:t>
            </a:r>
            <a:r>
              <a:rPr lang="en-CA" sz="1400" dirty="0" smtClean="0">
                <a:solidFill>
                  <a:srgbClr val="FF0000"/>
                </a:solidFill>
              </a:rPr>
              <a:t>-2.2Km[N</a:t>
            </a:r>
            <a:r>
              <a:rPr lang="en-CA" sz="1400" dirty="0" smtClean="0"/>
              <a:t>]</a:t>
            </a:r>
            <a:endParaRPr 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1672891" y="4352196"/>
            <a:ext cx="11641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 smtClean="0"/>
              <a:t>= 4.8 Sin(50</a:t>
            </a:r>
            <a:r>
              <a:rPr lang="en-US" sz="1400" b="1" dirty="0" smtClean="0">
                <a:sym typeface="Symbol"/>
              </a:rPr>
              <a:t></a:t>
            </a:r>
            <a:r>
              <a:rPr lang="en-CA" sz="1400" dirty="0" smtClean="0"/>
              <a:t>)</a:t>
            </a:r>
          </a:p>
          <a:p>
            <a:r>
              <a:rPr lang="en-CA" sz="1400" dirty="0" smtClean="0"/>
              <a:t>= </a:t>
            </a:r>
            <a:r>
              <a:rPr lang="en-CA" sz="1400" dirty="0" smtClean="0"/>
              <a:t>3.7 Km [E]</a:t>
            </a:r>
            <a:endParaRPr lang="en-US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6123549" y="3666000"/>
            <a:ext cx="1207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 smtClean="0"/>
              <a:t>= 3.9 Cos(35</a:t>
            </a:r>
            <a:r>
              <a:rPr lang="en-US" sz="1400" b="1" dirty="0" smtClean="0">
                <a:sym typeface="Symbol"/>
              </a:rPr>
              <a:t></a:t>
            </a:r>
            <a:r>
              <a:rPr lang="en-CA" sz="1400" dirty="0" smtClean="0"/>
              <a:t>)</a:t>
            </a:r>
          </a:p>
          <a:p>
            <a:r>
              <a:rPr lang="en-CA" sz="1400" dirty="0" smtClean="0"/>
              <a:t>= </a:t>
            </a:r>
            <a:r>
              <a:rPr lang="en-CA" sz="1400" dirty="0" smtClean="0"/>
              <a:t>3.1 Km [E]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09510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152400" y="11624"/>
            <a:ext cx="86868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 smtClean="0">
                <a:solidFill>
                  <a:srgbClr val="FF0000"/>
                </a:solidFill>
              </a:rPr>
              <a:t>Solving With Vector Components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991600" cy="5091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 smtClean="0"/>
              <a:t>Example </a:t>
            </a:r>
            <a:r>
              <a:rPr lang="en-US" sz="2000" dirty="0"/>
              <a:t>3</a:t>
            </a:r>
            <a:r>
              <a:rPr lang="en-US" sz="2000" dirty="0" smtClean="0"/>
              <a:t>:  A bird travels 4.8 km [N 50</a:t>
            </a:r>
            <a:r>
              <a:rPr lang="en-US" sz="2000" dirty="0" smtClean="0">
                <a:sym typeface="Symbol"/>
              </a:rPr>
              <a:t>E] and then 3.9 km[E35S].  Find the bird’s resultant displacement algebraically by applying the Cosine and Sine Laws</a:t>
            </a:r>
            <a:r>
              <a:rPr lang="en-US" sz="2400" dirty="0" smtClean="0">
                <a:sym typeface="Symbol"/>
              </a:rPr>
              <a:t>. </a:t>
            </a:r>
            <a:endParaRPr lang="en-US" sz="2400" dirty="0"/>
          </a:p>
        </p:txBody>
      </p:sp>
      <p:grpSp>
        <p:nvGrpSpPr>
          <p:cNvPr id="2" name="Group 15"/>
          <p:cNvGrpSpPr/>
          <p:nvPr/>
        </p:nvGrpSpPr>
        <p:grpSpPr>
          <a:xfrm>
            <a:off x="1524000" y="3124200"/>
            <a:ext cx="1219200" cy="1219200"/>
            <a:chOff x="1219200" y="4343400"/>
            <a:chExt cx="1219200" cy="1219200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1828800" y="4343400"/>
              <a:ext cx="0" cy="1219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1219200" y="4953000"/>
              <a:ext cx="12192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/>
          <p:cNvCxnSpPr/>
          <p:nvPr/>
        </p:nvCxnSpPr>
        <p:spPr>
          <a:xfrm flipV="1">
            <a:off x="2133600" y="2590800"/>
            <a:ext cx="2209800" cy="1143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133600" y="312420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50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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 rot="20042516">
            <a:off x="2934548" y="2753884"/>
            <a:ext cx="830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4.8 Km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17" name="Group 15"/>
          <p:cNvGrpSpPr/>
          <p:nvPr/>
        </p:nvGrpSpPr>
        <p:grpSpPr>
          <a:xfrm>
            <a:off x="3733800" y="1981200"/>
            <a:ext cx="1219200" cy="1219200"/>
            <a:chOff x="1219200" y="4343400"/>
            <a:chExt cx="1219200" cy="1219200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1828800" y="4343400"/>
              <a:ext cx="0" cy="1219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1219200" y="4953000"/>
              <a:ext cx="12192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Arrow Connector 23"/>
          <p:cNvCxnSpPr/>
          <p:nvPr/>
        </p:nvCxnSpPr>
        <p:spPr>
          <a:xfrm>
            <a:off x="4343400" y="2590800"/>
            <a:ext cx="1981200" cy="76200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876800" y="251460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sym typeface="Symbol"/>
              </a:rPr>
              <a:t>35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 rot="1254859">
            <a:off x="5373145" y="2749023"/>
            <a:ext cx="830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3.9 Km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0" y="4832713"/>
            <a:ext cx="548515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CA" sz="2800" dirty="0" smtClean="0"/>
              <a:t>Calculate the X and Y components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2800" dirty="0" smtClean="0"/>
              <a:t>Add The Components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2800" dirty="0" smtClean="0"/>
              <a:t>Calculate the final vector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7681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152400" y="11624"/>
            <a:ext cx="86868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 smtClean="0">
                <a:solidFill>
                  <a:srgbClr val="FF0000"/>
                </a:solidFill>
              </a:rPr>
              <a:t>Solving With Vector Components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991600" cy="5091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 smtClean="0"/>
              <a:t>Example </a:t>
            </a:r>
            <a:r>
              <a:rPr lang="en-US" sz="2000" dirty="0"/>
              <a:t>3</a:t>
            </a:r>
            <a:r>
              <a:rPr lang="en-US" sz="2000" dirty="0" smtClean="0"/>
              <a:t>:  A bird travels 4.8 km [N 50</a:t>
            </a:r>
            <a:r>
              <a:rPr lang="en-US" sz="2000" dirty="0" smtClean="0">
                <a:sym typeface="Symbol"/>
              </a:rPr>
              <a:t>E] and then 3.9 km[E35S].  Find the bird’s resultant displacement algebraically by applying the Cosine and Sine Laws</a:t>
            </a:r>
            <a:r>
              <a:rPr lang="en-US" sz="2400" dirty="0" smtClean="0">
                <a:sym typeface="Symbol"/>
              </a:rPr>
              <a:t>. </a:t>
            </a:r>
            <a:endParaRPr lang="en-US" sz="2400" dirty="0"/>
          </a:p>
        </p:txBody>
      </p:sp>
      <p:grpSp>
        <p:nvGrpSpPr>
          <p:cNvPr id="2" name="Group 15"/>
          <p:cNvGrpSpPr/>
          <p:nvPr/>
        </p:nvGrpSpPr>
        <p:grpSpPr>
          <a:xfrm>
            <a:off x="1524000" y="3124200"/>
            <a:ext cx="1219200" cy="1219200"/>
            <a:chOff x="1219200" y="4343400"/>
            <a:chExt cx="1219200" cy="1219200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1828800" y="4343400"/>
              <a:ext cx="0" cy="1219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1219200" y="4953000"/>
              <a:ext cx="12192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/>
          <p:cNvCxnSpPr/>
          <p:nvPr/>
        </p:nvCxnSpPr>
        <p:spPr>
          <a:xfrm flipV="1">
            <a:off x="2133600" y="2590800"/>
            <a:ext cx="2209800" cy="1143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133600" y="312420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50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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 rot="20042516">
            <a:off x="2934548" y="2753884"/>
            <a:ext cx="830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4.8 Km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17" name="Group 15"/>
          <p:cNvGrpSpPr/>
          <p:nvPr/>
        </p:nvGrpSpPr>
        <p:grpSpPr>
          <a:xfrm>
            <a:off x="3733800" y="1981200"/>
            <a:ext cx="1219200" cy="1219200"/>
            <a:chOff x="1219200" y="4343400"/>
            <a:chExt cx="1219200" cy="1219200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1828800" y="4343400"/>
              <a:ext cx="0" cy="1219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1219200" y="4953000"/>
              <a:ext cx="12192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Arrow Connector 23"/>
          <p:cNvCxnSpPr/>
          <p:nvPr/>
        </p:nvCxnSpPr>
        <p:spPr>
          <a:xfrm>
            <a:off x="4343400" y="2590800"/>
            <a:ext cx="1981200" cy="76200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876800" y="251460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sym typeface="Symbol"/>
              </a:rPr>
              <a:t>35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 rot="1254859">
            <a:off x="5373145" y="2749023"/>
            <a:ext cx="830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3.9 Km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0" y="4832713"/>
            <a:ext cx="594092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CA" sz="2800" dirty="0" smtClean="0"/>
              <a:t>Add </a:t>
            </a:r>
            <a:r>
              <a:rPr lang="en-CA" sz="2800" dirty="0" smtClean="0"/>
              <a:t>The </a:t>
            </a:r>
            <a:r>
              <a:rPr lang="en-CA" sz="2800" dirty="0" smtClean="0"/>
              <a:t>Components</a:t>
            </a:r>
          </a:p>
          <a:p>
            <a:pPr lvl="1"/>
            <a:r>
              <a:rPr lang="en-CA" sz="2800" dirty="0"/>
              <a:t>=</a:t>
            </a:r>
            <a:r>
              <a:rPr lang="en-CA" sz="2800" dirty="0" smtClean="0"/>
              <a:t> </a:t>
            </a:r>
            <a:r>
              <a:rPr lang="en-CA" sz="2000" dirty="0" smtClean="0"/>
              <a:t>3.1 Km [N] + 3.7 Km [E] + 3.1 Km [E] – 2.2 Km [N]</a:t>
            </a:r>
          </a:p>
          <a:p>
            <a:pPr lvl="1"/>
            <a:r>
              <a:rPr lang="en-CA" sz="2000" dirty="0"/>
              <a:t>=</a:t>
            </a:r>
            <a:r>
              <a:rPr lang="en-CA" sz="2000" dirty="0" smtClean="0"/>
              <a:t> </a:t>
            </a:r>
            <a:r>
              <a:rPr lang="en-CA" sz="2000" dirty="0"/>
              <a:t>3.1 Km [N] – 2.2 Km [N</a:t>
            </a:r>
            <a:r>
              <a:rPr lang="en-CA" sz="2000" dirty="0" smtClean="0"/>
              <a:t>] + </a:t>
            </a:r>
            <a:r>
              <a:rPr lang="en-CA" sz="2000" dirty="0"/>
              <a:t>3.7 Km [E] + </a:t>
            </a:r>
            <a:r>
              <a:rPr lang="en-CA" sz="2000" dirty="0" smtClean="0"/>
              <a:t>3.1 </a:t>
            </a:r>
            <a:r>
              <a:rPr lang="en-CA" sz="2000" dirty="0"/>
              <a:t>Km [E</a:t>
            </a:r>
            <a:r>
              <a:rPr lang="en-CA" sz="2000" dirty="0" smtClean="0"/>
              <a:t>]</a:t>
            </a:r>
          </a:p>
          <a:p>
            <a:pPr lvl="1"/>
            <a:r>
              <a:rPr lang="en-CA" sz="2000" dirty="0" smtClean="0"/>
              <a:t>= 0.9 Km [N] + 6.8 Km [E] </a:t>
            </a:r>
            <a:endParaRPr lang="en-CA" sz="2000" dirty="0" smtClean="0"/>
          </a:p>
        </p:txBody>
      </p:sp>
    </p:spTree>
    <p:extLst>
      <p:ext uri="{BB962C8B-B14F-4D97-AF65-F5344CB8AC3E}">
        <p14:creationId xmlns:p14="http://schemas.microsoft.com/office/powerpoint/2010/main" val="2432581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152400" y="11624"/>
            <a:ext cx="86868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 smtClean="0">
                <a:solidFill>
                  <a:srgbClr val="FF0000"/>
                </a:solidFill>
              </a:rPr>
              <a:t>Solving With Vector Components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991600" cy="5091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 smtClean="0"/>
              <a:t>Example </a:t>
            </a:r>
            <a:r>
              <a:rPr lang="en-US" sz="2000" dirty="0"/>
              <a:t>3</a:t>
            </a:r>
            <a:r>
              <a:rPr lang="en-US" sz="2000" dirty="0" smtClean="0"/>
              <a:t>:  A bird travels 4.8 km [N 50</a:t>
            </a:r>
            <a:r>
              <a:rPr lang="en-US" sz="2000" dirty="0" smtClean="0">
                <a:sym typeface="Symbol"/>
              </a:rPr>
              <a:t>E] and then 3.9 km[E35S].  Find the bird’s resultant displacement algebraically by applying the Cosine and Sine Laws</a:t>
            </a:r>
            <a:r>
              <a:rPr lang="en-US" sz="2400" dirty="0" smtClean="0">
                <a:sym typeface="Symbol"/>
              </a:rPr>
              <a:t>. 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676400" y="5389032"/>
            <a:ext cx="44569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CA" sz="2800" dirty="0" smtClean="0"/>
              <a:t>Calculate The Final Vector</a:t>
            </a:r>
          </a:p>
          <a:p>
            <a:pPr lvl="1"/>
            <a:r>
              <a:rPr lang="en-CA" sz="2800" dirty="0"/>
              <a:t>=</a:t>
            </a:r>
            <a:r>
              <a:rPr lang="en-CA" sz="2800" dirty="0" smtClean="0"/>
              <a:t> </a:t>
            </a:r>
            <a:r>
              <a:rPr lang="en-CA" sz="2000" dirty="0" smtClean="0"/>
              <a:t>0.9 Km [N] + 6.8 Km [E] </a:t>
            </a:r>
            <a:endParaRPr lang="en-CA" sz="2000" dirty="0" smtClean="0"/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2209800" y="3113616"/>
            <a:ext cx="4038600" cy="38100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15"/>
          <p:cNvGrpSpPr/>
          <p:nvPr/>
        </p:nvGrpSpPr>
        <p:grpSpPr>
          <a:xfrm>
            <a:off x="1600200" y="2885016"/>
            <a:ext cx="1219200" cy="1219200"/>
            <a:chOff x="1219200" y="4343400"/>
            <a:chExt cx="1219200" cy="12192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828800" y="4343400"/>
              <a:ext cx="0" cy="1219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1219200" y="4953000"/>
              <a:ext cx="12192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/>
          <p:cNvCxnSpPr/>
          <p:nvPr/>
        </p:nvCxnSpPr>
        <p:spPr>
          <a:xfrm>
            <a:off x="2209800" y="3494616"/>
            <a:ext cx="4038600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930749" y="3517732"/>
            <a:ext cx="92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 smtClean="0"/>
              <a:t>6.8 Km [E]</a:t>
            </a:r>
            <a:endParaRPr lang="en-US" sz="1400" dirty="0"/>
          </a:p>
        </p:txBody>
      </p:sp>
      <p:cxnSp>
        <p:nvCxnSpPr>
          <p:cNvPr id="37" name="Straight Arrow Connector 36"/>
          <p:cNvCxnSpPr/>
          <p:nvPr/>
        </p:nvCxnSpPr>
        <p:spPr>
          <a:xfrm flipV="1">
            <a:off x="2209800" y="3113615"/>
            <a:ext cx="0" cy="381001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287367" y="3113614"/>
            <a:ext cx="949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 smtClean="0"/>
              <a:t>0.9 Km [N]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8177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152400" y="11624"/>
            <a:ext cx="86868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 smtClean="0">
                <a:solidFill>
                  <a:srgbClr val="FF0000"/>
                </a:solidFill>
              </a:rPr>
              <a:t>Solving With Vector Components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991600" cy="5091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 smtClean="0"/>
              <a:t>Example </a:t>
            </a:r>
            <a:r>
              <a:rPr lang="en-US" sz="2000" dirty="0"/>
              <a:t>3</a:t>
            </a:r>
            <a:r>
              <a:rPr lang="en-US" sz="2000" dirty="0" smtClean="0"/>
              <a:t>:  A bird travels 4.8 km [N 50</a:t>
            </a:r>
            <a:r>
              <a:rPr lang="en-US" sz="2000" dirty="0" smtClean="0">
                <a:sym typeface="Symbol"/>
              </a:rPr>
              <a:t>E] and then 3.9 km[E35S].  Find the bird’s resultant displacement algebraically by applying the Cosine and Sine Laws</a:t>
            </a:r>
            <a:r>
              <a:rPr lang="en-US" sz="2400" dirty="0" smtClean="0">
                <a:sym typeface="Symbol"/>
              </a:rPr>
              <a:t>. 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676400" y="5389032"/>
            <a:ext cx="44569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CA" sz="2800" dirty="0" smtClean="0"/>
              <a:t>Calculate The Final Vector</a:t>
            </a:r>
          </a:p>
          <a:p>
            <a:pPr lvl="1"/>
            <a:r>
              <a:rPr lang="en-CA" sz="2800" dirty="0"/>
              <a:t>=</a:t>
            </a:r>
            <a:r>
              <a:rPr lang="en-CA" sz="2800" dirty="0" smtClean="0"/>
              <a:t> </a:t>
            </a:r>
            <a:r>
              <a:rPr lang="en-CA" sz="2000" dirty="0" smtClean="0"/>
              <a:t>0.9 Km [N] + 6.8 Km [E] </a:t>
            </a:r>
            <a:endParaRPr lang="en-CA" sz="2000" dirty="0" smtClean="0"/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2209800" y="3113616"/>
            <a:ext cx="4038600" cy="38100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 rot="21227850">
            <a:off x="3922345" y="2875275"/>
            <a:ext cx="844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6.9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Km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32" name="Group 15"/>
          <p:cNvGrpSpPr/>
          <p:nvPr/>
        </p:nvGrpSpPr>
        <p:grpSpPr>
          <a:xfrm>
            <a:off x="1600200" y="2885016"/>
            <a:ext cx="1219200" cy="1219200"/>
            <a:chOff x="1219200" y="4343400"/>
            <a:chExt cx="1219200" cy="12192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828800" y="4343400"/>
              <a:ext cx="0" cy="1219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1219200" y="4953000"/>
              <a:ext cx="12192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/>
          <p:cNvCxnSpPr/>
          <p:nvPr/>
        </p:nvCxnSpPr>
        <p:spPr>
          <a:xfrm>
            <a:off x="2209800" y="3494616"/>
            <a:ext cx="4038600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930749" y="3517732"/>
            <a:ext cx="92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 smtClean="0"/>
              <a:t>6.8 Km [E]</a:t>
            </a:r>
            <a:endParaRPr lang="en-US" sz="1400" dirty="0"/>
          </a:p>
        </p:txBody>
      </p:sp>
      <p:cxnSp>
        <p:nvCxnSpPr>
          <p:cNvPr id="37" name="Straight Arrow Connector 36"/>
          <p:cNvCxnSpPr/>
          <p:nvPr/>
        </p:nvCxnSpPr>
        <p:spPr>
          <a:xfrm flipV="1">
            <a:off x="2209800" y="3113615"/>
            <a:ext cx="0" cy="381001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287367" y="3113614"/>
            <a:ext cx="949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 smtClean="0"/>
              <a:t>0.9 Km [N]</a:t>
            </a:r>
            <a:endParaRPr lang="en-US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4344447" y="2261768"/>
            <a:ext cx="1095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 smtClean="0"/>
              <a:t>a</a:t>
            </a:r>
            <a:r>
              <a:rPr lang="en-CA" sz="1600" baseline="30000" dirty="0" smtClean="0"/>
              <a:t>2</a:t>
            </a:r>
            <a:r>
              <a:rPr lang="en-CA" sz="1600" dirty="0" smtClean="0"/>
              <a:t> + b</a:t>
            </a:r>
            <a:r>
              <a:rPr lang="en-CA" sz="1600" baseline="30000" dirty="0" smtClean="0"/>
              <a:t>2</a:t>
            </a:r>
            <a:r>
              <a:rPr lang="en-CA" sz="1600" dirty="0" smtClean="0"/>
              <a:t> = c</a:t>
            </a:r>
            <a:r>
              <a:rPr lang="en-CA" sz="1600" baseline="30000" dirty="0" smtClean="0"/>
              <a:t>2</a:t>
            </a:r>
            <a:endParaRPr lang="en-US" sz="1600" baseline="30000" dirty="0"/>
          </a:p>
        </p:txBody>
      </p:sp>
      <p:cxnSp>
        <p:nvCxnSpPr>
          <p:cNvPr id="6" name="Straight Arrow Connector 5"/>
          <p:cNvCxnSpPr>
            <a:stCxn id="14" idx="2"/>
          </p:cNvCxnSpPr>
          <p:nvPr/>
        </p:nvCxnSpPr>
        <p:spPr>
          <a:xfrm flipH="1">
            <a:off x="4495800" y="2600322"/>
            <a:ext cx="396233" cy="2846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764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152400" y="11624"/>
            <a:ext cx="86868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 smtClean="0">
                <a:solidFill>
                  <a:srgbClr val="FF0000"/>
                </a:solidFill>
              </a:rPr>
              <a:t>Solving With Vector Components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991600" cy="5091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 smtClean="0"/>
              <a:t>Example </a:t>
            </a:r>
            <a:r>
              <a:rPr lang="en-US" sz="2000" dirty="0"/>
              <a:t>3</a:t>
            </a:r>
            <a:r>
              <a:rPr lang="en-US" sz="2000" dirty="0" smtClean="0"/>
              <a:t>:  A bird travels 4.8 km [N 50</a:t>
            </a:r>
            <a:r>
              <a:rPr lang="en-US" sz="2000" dirty="0" smtClean="0">
                <a:sym typeface="Symbol"/>
              </a:rPr>
              <a:t>E] and then 3.9 km[E35S].  Find the bird’s resultant displacement algebraically by applying the Cosine and Sine Laws</a:t>
            </a:r>
            <a:r>
              <a:rPr lang="en-US" sz="2400" dirty="0" smtClean="0">
                <a:sym typeface="Symbol"/>
              </a:rPr>
              <a:t>. 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676400" y="5389032"/>
            <a:ext cx="44569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CA" sz="2800" dirty="0" smtClean="0"/>
              <a:t>Calculate The Final Vector</a:t>
            </a:r>
          </a:p>
          <a:p>
            <a:pPr lvl="1"/>
            <a:r>
              <a:rPr lang="en-CA" sz="2800" dirty="0"/>
              <a:t>=</a:t>
            </a:r>
            <a:r>
              <a:rPr lang="en-CA" sz="2800" dirty="0" smtClean="0"/>
              <a:t> </a:t>
            </a:r>
            <a:r>
              <a:rPr lang="en-CA" sz="2000" dirty="0" smtClean="0"/>
              <a:t>0.9 Km [N] + 6.8 Km [E] </a:t>
            </a:r>
            <a:endParaRPr lang="en-CA" sz="2000" dirty="0" smtClean="0"/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2209800" y="3113616"/>
            <a:ext cx="4038600" cy="38100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 rot="21227850">
            <a:off x="3922345" y="2875275"/>
            <a:ext cx="844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6.9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Km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32" name="Group 15"/>
          <p:cNvGrpSpPr/>
          <p:nvPr/>
        </p:nvGrpSpPr>
        <p:grpSpPr>
          <a:xfrm>
            <a:off x="1600200" y="2885016"/>
            <a:ext cx="1219200" cy="1219200"/>
            <a:chOff x="1219200" y="4343400"/>
            <a:chExt cx="1219200" cy="12192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828800" y="4343400"/>
              <a:ext cx="0" cy="1219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1219200" y="4953000"/>
              <a:ext cx="12192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/>
          <p:cNvCxnSpPr/>
          <p:nvPr/>
        </p:nvCxnSpPr>
        <p:spPr>
          <a:xfrm>
            <a:off x="2209800" y="3494616"/>
            <a:ext cx="4038600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930749" y="3517732"/>
            <a:ext cx="92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 smtClean="0"/>
              <a:t>6.8 Km [E]</a:t>
            </a:r>
            <a:endParaRPr lang="en-US" sz="1400" dirty="0"/>
          </a:p>
        </p:txBody>
      </p:sp>
      <p:cxnSp>
        <p:nvCxnSpPr>
          <p:cNvPr id="37" name="Straight Arrow Connector 36"/>
          <p:cNvCxnSpPr/>
          <p:nvPr/>
        </p:nvCxnSpPr>
        <p:spPr>
          <a:xfrm flipV="1">
            <a:off x="2209800" y="3113615"/>
            <a:ext cx="0" cy="381001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287367" y="3113614"/>
            <a:ext cx="949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 smtClean="0"/>
              <a:t>0.9 Km [N]</a:t>
            </a:r>
            <a:endParaRPr lang="en-US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6905215" y="2546462"/>
            <a:ext cx="16312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dirty="0" smtClean="0"/>
              <a:t>Θ</a:t>
            </a:r>
            <a:r>
              <a:rPr lang="en-CA" sz="1600" dirty="0" smtClean="0"/>
              <a:t>= tan</a:t>
            </a:r>
            <a:r>
              <a:rPr lang="en-CA" sz="1600" baseline="30000" dirty="0" smtClean="0"/>
              <a:t>-1</a:t>
            </a:r>
            <a:r>
              <a:rPr lang="en-CA" sz="1600" dirty="0" smtClean="0"/>
              <a:t>(0.9/6.8)</a:t>
            </a:r>
            <a:endParaRPr lang="en-US" sz="1600" baseline="30000" dirty="0"/>
          </a:p>
        </p:txBody>
      </p:sp>
      <p:cxnSp>
        <p:nvCxnSpPr>
          <p:cNvPr id="6" name="Straight Arrow Connector 5"/>
          <p:cNvCxnSpPr>
            <a:stCxn id="14" idx="2"/>
          </p:cNvCxnSpPr>
          <p:nvPr/>
        </p:nvCxnSpPr>
        <p:spPr>
          <a:xfrm flipH="1">
            <a:off x="7056577" y="2885016"/>
            <a:ext cx="664278" cy="2846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27771" y="3110787"/>
            <a:ext cx="649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7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sym typeface="Symbol"/>
              </a:rPr>
              <a:t>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68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152400" y="11624"/>
            <a:ext cx="86868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 smtClean="0">
                <a:solidFill>
                  <a:srgbClr val="FF0000"/>
                </a:solidFill>
              </a:rPr>
              <a:t>Solving With Vector Components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991600" cy="5091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 smtClean="0"/>
              <a:t>Example </a:t>
            </a:r>
            <a:r>
              <a:rPr lang="en-US" sz="2000" dirty="0"/>
              <a:t>3</a:t>
            </a:r>
            <a:r>
              <a:rPr lang="en-US" sz="2000" dirty="0" smtClean="0"/>
              <a:t>:  A bird travels 4.8 km [N 50</a:t>
            </a:r>
            <a:r>
              <a:rPr lang="en-US" sz="2000" dirty="0" smtClean="0">
                <a:sym typeface="Symbol"/>
              </a:rPr>
              <a:t>E] and then 3.9 km[E35S].  Find the bird’s resultant displacement algebraically by applying the Cosine and Sine Laws</a:t>
            </a:r>
            <a:r>
              <a:rPr lang="en-US" sz="2400" dirty="0" smtClean="0">
                <a:sym typeface="Symbol"/>
              </a:rPr>
              <a:t>. 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676400" y="5389032"/>
            <a:ext cx="2368725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 smtClean="0"/>
              <a:t>ANSWER</a:t>
            </a:r>
          </a:p>
          <a:p>
            <a:pPr lvl="1"/>
            <a:r>
              <a:rPr lang="en-CA" sz="2800" dirty="0"/>
              <a:t>=</a:t>
            </a:r>
            <a:r>
              <a:rPr lang="en-CA" sz="2800" dirty="0" smtClean="0"/>
              <a:t> </a:t>
            </a:r>
            <a:r>
              <a:rPr lang="en-CA" sz="2000" dirty="0" smtClean="0"/>
              <a:t>6.9 Km [E</a:t>
            </a:r>
            <a:r>
              <a:rPr lang="en-US" sz="2000" b="1" dirty="0" smtClean="0"/>
              <a:t>7</a:t>
            </a:r>
            <a:r>
              <a:rPr lang="en-US" sz="2000" b="1" dirty="0" smtClean="0">
                <a:sym typeface="Symbol"/>
              </a:rPr>
              <a:t>N]</a:t>
            </a:r>
            <a:endParaRPr lang="en-US" sz="2000" b="1" dirty="0"/>
          </a:p>
          <a:p>
            <a:pPr lvl="1"/>
            <a:endParaRPr lang="en-CA" sz="2000" dirty="0" smtClean="0"/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2209800" y="3113616"/>
            <a:ext cx="4038600" cy="38100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 rot="21227850">
            <a:off x="3922345" y="2875275"/>
            <a:ext cx="844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6.9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Km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32" name="Group 15"/>
          <p:cNvGrpSpPr/>
          <p:nvPr/>
        </p:nvGrpSpPr>
        <p:grpSpPr>
          <a:xfrm>
            <a:off x="1600200" y="2885016"/>
            <a:ext cx="1219200" cy="1219200"/>
            <a:chOff x="1219200" y="4343400"/>
            <a:chExt cx="1219200" cy="12192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828800" y="4343400"/>
              <a:ext cx="0" cy="1219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1219200" y="4953000"/>
              <a:ext cx="12192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/>
          <p:cNvCxnSpPr/>
          <p:nvPr/>
        </p:nvCxnSpPr>
        <p:spPr>
          <a:xfrm>
            <a:off x="2209800" y="3494616"/>
            <a:ext cx="4038600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930749" y="3517732"/>
            <a:ext cx="92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 smtClean="0"/>
              <a:t>6.8 Km [E]</a:t>
            </a:r>
            <a:endParaRPr lang="en-US" sz="1400" dirty="0"/>
          </a:p>
        </p:txBody>
      </p:sp>
      <p:cxnSp>
        <p:nvCxnSpPr>
          <p:cNvPr id="37" name="Straight Arrow Connector 36"/>
          <p:cNvCxnSpPr/>
          <p:nvPr/>
        </p:nvCxnSpPr>
        <p:spPr>
          <a:xfrm flipV="1">
            <a:off x="2209800" y="3113615"/>
            <a:ext cx="0" cy="381001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287367" y="3113614"/>
            <a:ext cx="949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 smtClean="0"/>
              <a:t>0.9 Km [N]</a:t>
            </a:r>
            <a:endParaRPr lang="en-US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6905215" y="2546462"/>
            <a:ext cx="16312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dirty="0" smtClean="0"/>
              <a:t>Θ</a:t>
            </a:r>
            <a:r>
              <a:rPr lang="en-CA" sz="1600" dirty="0" smtClean="0"/>
              <a:t>= tan</a:t>
            </a:r>
            <a:r>
              <a:rPr lang="en-CA" sz="1600" baseline="30000" dirty="0" smtClean="0"/>
              <a:t>-1</a:t>
            </a:r>
            <a:r>
              <a:rPr lang="en-CA" sz="1600" dirty="0" smtClean="0"/>
              <a:t>(0.9/6.8)</a:t>
            </a:r>
            <a:endParaRPr lang="en-US" sz="1600" baseline="30000" dirty="0"/>
          </a:p>
        </p:txBody>
      </p:sp>
      <p:cxnSp>
        <p:nvCxnSpPr>
          <p:cNvPr id="6" name="Straight Arrow Connector 5"/>
          <p:cNvCxnSpPr>
            <a:stCxn id="14" idx="2"/>
          </p:cNvCxnSpPr>
          <p:nvPr/>
        </p:nvCxnSpPr>
        <p:spPr>
          <a:xfrm flipH="1">
            <a:off x="7056577" y="2885016"/>
            <a:ext cx="664278" cy="2846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27771" y="3110787"/>
            <a:ext cx="649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7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sym typeface="Symbol"/>
              </a:rPr>
              <a:t>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12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0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1414</Words>
  <Application>Microsoft Office PowerPoint</Application>
  <PresentationFormat>On-screen Show (4:3)</PresentationFormat>
  <Paragraphs>283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 Math</vt:lpstr>
      <vt:lpstr>Symbol</vt:lpstr>
      <vt:lpstr>Office Theme</vt:lpstr>
      <vt:lpstr>Review of Vector Operations and Analyzing 2D Displacement</vt:lpstr>
      <vt:lpstr>Vector Notation </vt:lpstr>
      <vt:lpstr>Drawing Scale Vector Diagrams</vt:lpstr>
      <vt:lpstr>Rules for Adding and Subtracting Vectors</vt:lpstr>
      <vt:lpstr>Scalar Multiples of Vectors</vt:lpstr>
      <vt:lpstr>Scalar Multiples of Vectors</vt:lpstr>
      <vt:lpstr>Adding Displacement Vectors using a  Scale Diagram</vt:lpstr>
      <vt:lpstr>Example 2:  A jogger runs 3.9 km [ North] and 5.7 km [ West].  Find the jogger’s resultant displacement using a sketch and algebraic analysis. </vt:lpstr>
      <vt:lpstr>Adding Displacement Vectors using a Sketch and Cosine/Sine Laws</vt:lpstr>
      <vt:lpstr>Adding Displacement Vectors using a Sketch and Cosine/Sine Laws</vt:lpstr>
      <vt:lpstr>Adding Displacement Vectors using a Sketch and Cosine/Sine Laws</vt:lpstr>
      <vt:lpstr>Adding Displacement Vectors using a Sketch and Cosine/Sine Laws</vt:lpstr>
      <vt:lpstr>Adding Displacement Vectors using a Sketch and Cosine/Sine Laws</vt:lpstr>
      <vt:lpstr>Adding Displacement Vectors using a Sketch and Cosine/Sine Laws</vt:lpstr>
      <vt:lpstr>Adding Displacement Vectors using a Sketch and Cosine/Sine Laws</vt:lpstr>
      <vt:lpstr>Vector Components</vt:lpstr>
      <vt:lpstr>Vector Components</vt:lpstr>
      <vt:lpstr>Vector Components</vt:lpstr>
      <vt:lpstr>Vector Components</vt:lpstr>
      <vt:lpstr>Vector Components</vt:lpstr>
      <vt:lpstr>Solving With Vector Components</vt:lpstr>
      <vt:lpstr>Solving With Vector Components</vt:lpstr>
      <vt:lpstr>Solving With Vector Components</vt:lpstr>
      <vt:lpstr>Solving With Vector Components</vt:lpstr>
      <vt:lpstr>Solving With Vector Components</vt:lpstr>
      <vt:lpstr>Solving With Vector Components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of Vector Operations and Analyzing 2D Displacement</dc:title>
  <dc:creator>Linda</dc:creator>
  <cp:lastModifiedBy>Nestor, Gregory</cp:lastModifiedBy>
  <cp:revision>36</cp:revision>
  <cp:lastPrinted>2013-02-11T07:56:44Z</cp:lastPrinted>
  <dcterms:created xsi:type="dcterms:W3CDTF">2013-02-11T06:33:13Z</dcterms:created>
  <dcterms:modified xsi:type="dcterms:W3CDTF">2016-09-20T16:35:27Z</dcterms:modified>
</cp:coreProperties>
</file>