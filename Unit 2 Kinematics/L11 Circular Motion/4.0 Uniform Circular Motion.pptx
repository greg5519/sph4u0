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6" r:id="rId3"/>
    <p:sldId id="275" r:id="rId4"/>
    <p:sldId id="257" r:id="rId5"/>
    <p:sldId id="259" r:id="rId6"/>
    <p:sldId id="263" r:id="rId7"/>
    <p:sldId id="260" r:id="rId8"/>
    <p:sldId id="270" r:id="rId9"/>
    <p:sldId id="271" r:id="rId10"/>
    <p:sldId id="272" r:id="rId11"/>
    <p:sldId id="278" r:id="rId12"/>
    <p:sldId id="268" r:id="rId13"/>
    <p:sldId id="265" r:id="rId14"/>
    <p:sldId id="273" r:id="rId15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1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9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0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1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1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1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1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7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B2675-DCD6-4754-BDA0-E06AA3D096D2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7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056278"/>
            <a:ext cx="7772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latin typeface="Arial Black" pitchFamily="34" charset="0"/>
              </a:rPr>
              <a:t>Minds on: </a:t>
            </a:r>
            <a:br>
              <a:rPr lang="en-US" sz="2800" b="1" dirty="0" smtClean="0">
                <a:latin typeface="Arial Black" pitchFamily="34" charset="0"/>
              </a:rPr>
            </a:br>
            <a:r>
              <a:rPr lang="en-US" sz="2800" dirty="0" smtClean="0">
                <a:latin typeface="Arial Black" pitchFamily="34" charset="0"/>
              </a:rPr>
              <a:t>a) </a:t>
            </a:r>
            <a:r>
              <a:rPr lang="en-US" sz="2800" dirty="0" smtClean="0">
                <a:latin typeface="+mn-lt"/>
              </a:rPr>
              <a:t>A ball is being swung on the end of a string in a constant horizontal circle at a speed of 5.00 m/s.  If it takes the ball 1.00 second to complete one full revolution, what is the average acceleration over ¼ of the cycle from v</a:t>
            </a:r>
            <a:r>
              <a:rPr lang="en-US" sz="2800" baseline="-25000" dirty="0" smtClean="0">
                <a:latin typeface="+mn-lt"/>
              </a:rPr>
              <a:t>1</a:t>
            </a:r>
            <a:r>
              <a:rPr lang="en-US" sz="2800" dirty="0" smtClean="0">
                <a:latin typeface="+mn-lt"/>
              </a:rPr>
              <a:t> to v</a:t>
            </a:r>
            <a:r>
              <a:rPr lang="en-US" sz="2800" baseline="-25000" dirty="0" smtClean="0">
                <a:latin typeface="+mn-lt"/>
              </a:rPr>
              <a:t>2</a:t>
            </a:r>
            <a:r>
              <a:rPr lang="en-US" sz="2800" dirty="0" smtClean="0">
                <a:latin typeface="+mn-lt"/>
              </a:rPr>
              <a:t>? </a:t>
            </a:r>
            <a:endParaRPr lang="en-US" sz="2800" dirty="0">
              <a:latin typeface="+mn-lt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679217" y="6824"/>
            <a:ext cx="7772400" cy="929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smtClean="0">
                <a:latin typeface="Arial Black" pitchFamily="34" charset="0"/>
              </a:rPr>
              <a:t>Acceleration in Uniform Circular Motion</a:t>
            </a:r>
            <a:endParaRPr lang="en-US" sz="2000" b="1" dirty="0">
              <a:latin typeface="+mn-lt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57200" y="538797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latin typeface="+mn-lt"/>
              </a:rPr>
              <a:t>b) Using symmetry, what is the average acceleration between v</a:t>
            </a:r>
            <a:r>
              <a:rPr lang="en-US" sz="2800" baseline="-25000" dirty="0" smtClean="0">
                <a:latin typeface="+mn-lt"/>
              </a:rPr>
              <a:t>3</a:t>
            </a:r>
            <a:r>
              <a:rPr lang="en-US" sz="2800" dirty="0" smtClean="0">
                <a:latin typeface="+mn-lt"/>
              </a:rPr>
              <a:t> and v</a:t>
            </a:r>
            <a:r>
              <a:rPr lang="en-US" sz="2800" baseline="-25000" dirty="0" smtClean="0">
                <a:latin typeface="+mn-lt"/>
              </a:rPr>
              <a:t>4</a:t>
            </a:r>
            <a:r>
              <a:rPr lang="en-US" sz="2800" dirty="0" smtClean="0">
                <a:latin typeface="+mn-lt"/>
              </a:rPr>
              <a:t>? </a:t>
            </a:r>
            <a:endParaRPr lang="en-US" sz="2800" b="1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048000"/>
            <a:ext cx="4443413" cy="275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3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679217" y="6824"/>
            <a:ext cx="7772400" cy="9292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289723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Arial Black" pitchFamily="34" charset="0"/>
              </a:rPr>
              <a:t>Minds </a:t>
            </a:r>
            <a:r>
              <a:rPr lang="en-US" sz="2800" b="1" dirty="0" smtClean="0">
                <a:latin typeface="Arial Black" pitchFamily="34" charset="0"/>
              </a:rPr>
              <a:t>on Analysis: </a:t>
            </a:r>
            <a:r>
              <a:rPr lang="en-US" sz="2800" b="1" dirty="0">
                <a:latin typeface="Arial Black" pitchFamily="34" charset="0"/>
              </a:rPr>
              <a:t/>
            </a:r>
            <a:br>
              <a:rPr lang="en-US" sz="2800" b="1" dirty="0">
                <a:latin typeface="Arial Black" pitchFamily="34" charset="0"/>
              </a:rPr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331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4430" y="162158"/>
            <a:ext cx="7772400" cy="1470025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Uniform Circular Motion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330084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3114675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Circular Coordinates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637308" y="3855617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856508" y="4998617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075708" y="5019399"/>
            <a:ext cx="0" cy="1219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35726" y="4257675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sp>
        <p:nvSpPr>
          <p:cNvPr id="21" name="TextBox 20"/>
          <p:cNvSpPr txBox="1"/>
          <p:nvPr/>
        </p:nvSpPr>
        <p:spPr>
          <a:xfrm>
            <a:off x="3151908" y="5394024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ym typeface="Symbol"/>
              </a:rPr>
              <a:t></a:t>
            </a:r>
            <a:endParaRPr lang="en-US" sz="48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666999" y="4998617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6999" y="5303417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00600" y="4038600"/>
            <a:ext cx="3442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r</a:t>
            </a:r>
            <a:r>
              <a:rPr lang="en-US" sz="4800" dirty="0" smtClean="0"/>
              <a:t>-radial</a:t>
            </a:r>
            <a:endParaRPr lang="en-US" sz="4800" dirty="0"/>
          </a:p>
        </p:txBody>
      </p:sp>
      <p:sp>
        <p:nvSpPr>
          <p:cNvPr id="25" name="TextBox 24"/>
          <p:cNvSpPr txBox="1"/>
          <p:nvPr/>
        </p:nvSpPr>
        <p:spPr>
          <a:xfrm>
            <a:off x="4739664" y="4869597"/>
            <a:ext cx="3442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ym typeface="Symbol"/>
              </a:rPr>
              <a:t></a:t>
            </a:r>
            <a:r>
              <a:rPr lang="en-US" sz="4800" dirty="0" smtClean="0"/>
              <a:t>-tangential</a:t>
            </a:r>
            <a:endParaRPr lang="en-US" sz="4800" dirty="0"/>
          </a:p>
        </p:txBody>
      </p:sp>
      <p:pic>
        <p:nvPicPr>
          <p:cNvPr id="3" name="Picture 2" descr="http://t3.gstatic.com/images?q=tbn:ANd9GcRvzqECKvDhv3AAs9eoX4_9Mc_R9aBn0LT2KkULMQUK_p59G0V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210" y="1260879"/>
            <a:ext cx="2362200" cy="183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54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839" y="152400"/>
            <a:ext cx="8707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Uniform Circular motion occurs when an object moves in a circular path at a constant speed.</a:t>
            </a:r>
            <a:endParaRPr lang="en-US" sz="3200" dirty="0"/>
          </a:p>
        </p:txBody>
      </p:sp>
      <p:sp>
        <p:nvSpPr>
          <p:cNvPr id="5" name="Oval 4"/>
          <p:cNvSpPr/>
          <p:nvPr/>
        </p:nvSpPr>
        <p:spPr>
          <a:xfrm>
            <a:off x="685800" y="2667000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endCxn id="5" idx="6"/>
          </p:cNvCxnSpPr>
          <p:nvPr/>
        </p:nvCxnSpPr>
        <p:spPr>
          <a:xfrm>
            <a:off x="1905000" y="3810000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73382" y="2667000"/>
            <a:ext cx="96981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124200" y="3810000"/>
            <a:ext cx="0" cy="9144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73382" y="3699301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275211" y="1213202"/>
            <a:ext cx="1731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|</a:t>
            </a:r>
            <a:r>
              <a:rPr lang="en-US" sz="4800" dirty="0" smtClean="0"/>
              <a:t>v|=v</a:t>
            </a:r>
            <a:endParaRPr lang="en-US" sz="48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85800" y="1447800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24200" y="1306230"/>
            <a:ext cx="5791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the instantaneous velocity  v   is </a:t>
            </a:r>
          </a:p>
          <a:p>
            <a:r>
              <a:rPr lang="en-US" sz="2800" dirty="0" smtClean="0"/>
              <a:t>TANGENT to the path and has constant magnitude</a:t>
            </a:r>
            <a:endParaRPr lang="en-US" sz="28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392808" y="1446135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97334" y="2886136"/>
            <a:ext cx="579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Since the speed is constant, there </a:t>
            </a:r>
          </a:p>
          <a:p>
            <a:r>
              <a:rPr lang="en-US" sz="2800" dirty="0"/>
              <a:t>i</a:t>
            </a:r>
            <a:r>
              <a:rPr lang="en-US" sz="2800" dirty="0" smtClean="0"/>
              <a:t>s NO ACCELERATION tangentially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743200" y="3810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743200" y="4114800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806727" y="2667000"/>
            <a:ext cx="0" cy="69619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2258291" y="2958943"/>
            <a:ext cx="484909" cy="58522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743200" y="2993728"/>
            <a:ext cx="609600" cy="5504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57745" y="2993728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</a:rPr>
              <a:t>a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07030" y="1860228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</a:rPr>
              <a:t>v</a:t>
            </a:r>
            <a:endParaRPr lang="en-US" sz="4800" dirty="0">
              <a:solidFill>
                <a:srgbClr val="FF0000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2050649" y="2044199"/>
            <a:ext cx="436419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336962" y="3251553"/>
            <a:ext cx="436419" cy="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821872" y="3952068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93459" y="3998893"/>
            <a:ext cx="5791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Acceleration is directed radially inward and acts to change velocity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375" y="5638800"/>
            <a:ext cx="8243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CENTRIPETAL ACCELERATION means </a:t>
            </a:r>
            <a:r>
              <a:rPr lang="en-US" sz="2800" dirty="0" err="1" smtClean="0"/>
              <a:t>centre</a:t>
            </a:r>
            <a:r>
              <a:rPr lang="en-US" sz="2800" dirty="0" smtClean="0"/>
              <a:t>-seeking</a:t>
            </a:r>
          </a:p>
        </p:txBody>
      </p:sp>
    </p:spTree>
    <p:extLst>
      <p:ext uri="{BB962C8B-B14F-4D97-AF65-F5344CB8AC3E}">
        <p14:creationId xmlns:p14="http://schemas.microsoft.com/office/powerpoint/2010/main" val="132740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30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Instantaneous Acceleration Magnitude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1950" y="1439883"/>
                <a:ext cx="3295650" cy="1962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60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6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6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6000" i="1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439883"/>
                <a:ext cx="3295650" cy="196265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57600" y="1496291"/>
                <a:ext cx="4953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800" dirty="0" smtClean="0"/>
                  <a:t>= instantaneous acceleration</a:t>
                </a:r>
              </a:p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</a:rPr>
                      <m:t>𝑣</m:t>
                    </m:r>
                    <m:r>
                      <a:rPr lang="en-US" sz="28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=  speed</a:t>
                </a:r>
              </a:p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800" dirty="0" smtClean="0"/>
                  <a:t>= radius of circular path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496291"/>
                <a:ext cx="49530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t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81100" y="3733800"/>
                <a:ext cx="5295900" cy="1790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𝑈𝑛𝑖𝑡𝑠</m:t>
                      </m:r>
                      <m:r>
                        <a:rPr lang="en-US" sz="2800" b="0" i="1" smtClean="0">
                          <a:latin typeface="Cambria Math"/>
                        </a:rPr>
                        <m:t>: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𝑚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733800"/>
                <a:ext cx="5295900" cy="17902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70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951" y="2667000"/>
            <a:ext cx="1838179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Applications: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35530" y="990600"/>
            <a:ext cx="8229600" cy="183125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Orbital motion  </a:t>
            </a:r>
          </a:p>
          <a:p>
            <a:pPr algn="l"/>
            <a:r>
              <a:rPr lang="en-US" dirty="0" smtClean="0"/>
              <a:t>    -planets about sun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-moon, satellites about Earth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5530" y="3156815"/>
            <a:ext cx="8756070" cy="324398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Rotating Objects</a:t>
            </a:r>
          </a:p>
          <a:p>
            <a:pPr algn="l"/>
            <a:r>
              <a:rPr lang="en-US" dirty="0" smtClean="0"/>
              <a:t>    -</a:t>
            </a:r>
            <a:r>
              <a:rPr lang="en-US" sz="3700" dirty="0" smtClean="0"/>
              <a:t>wheels,  vinyl records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</a:t>
            </a:r>
            <a:r>
              <a:rPr lang="en-US" sz="3700" dirty="0" smtClean="0"/>
              <a:t>amusement park rides (</a:t>
            </a:r>
            <a:r>
              <a:rPr lang="en-US" sz="3700" dirty="0" err="1" smtClean="0"/>
              <a:t>Windseeker</a:t>
            </a:r>
            <a:r>
              <a:rPr lang="en-US" sz="3700" dirty="0" smtClean="0"/>
              <a:t>!)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-spinning a bucket over your head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-washing machine, centrifuge</a:t>
            </a: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1314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68580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Example 1:</a:t>
            </a:r>
            <a:r>
              <a:rPr lang="en-US" sz="3600" dirty="0" smtClean="0"/>
              <a:t> A child on a merry go round is </a:t>
            </a:r>
          </a:p>
          <a:p>
            <a:r>
              <a:rPr lang="en-US" sz="3600" dirty="0" smtClean="0"/>
              <a:t>3.0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 of the ride.  If the child’s speed is 2.0 m/s, what is the magnitude of the child’s centripetal acceleration?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505691" y="3276600"/>
            <a:ext cx="411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Ans</a:t>
            </a:r>
            <a:r>
              <a:rPr lang="en-US" sz="3600" dirty="0" smtClean="0"/>
              <a:t>:</a:t>
            </a:r>
          </a:p>
          <a:p>
            <a:r>
              <a:rPr lang="en-US" sz="3600" dirty="0" smtClean="0"/>
              <a:t>V= 2.0 m/s    </a:t>
            </a:r>
          </a:p>
          <a:p>
            <a:r>
              <a:rPr lang="en-US" sz="3600" dirty="0" smtClean="0"/>
              <a:t>r=3.0 m</a:t>
            </a:r>
          </a:p>
          <a:p>
            <a:r>
              <a:rPr lang="en-US" sz="3600" dirty="0"/>
              <a:t>a</a:t>
            </a:r>
            <a:r>
              <a:rPr lang="en-US" sz="3600" baseline="-25000" dirty="0" smtClean="0"/>
              <a:t>c</a:t>
            </a:r>
            <a:r>
              <a:rPr lang="en-US" sz="3600" dirty="0" smtClean="0"/>
              <a:t>=?   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563091" y="480060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</a:t>
            </a:r>
            <a:r>
              <a:rPr lang="en-US" sz="3600" baseline="-25000" dirty="0" smtClean="0"/>
              <a:t>c</a:t>
            </a:r>
            <a:r>
              <a:rPr lang="en-US" sz="3600" dirty="0" smtClean="0"/>
              <a:t>=v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/r  = (2.0)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/3.0=  1.3  m/s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0736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94" y="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/>
              <a:t>Other forms of the equation:</a:t>
            </a:r>
          </a:p>
          <a:p>
            <a:r>
              <a:rPr lang="en-US" sz="3600" b="1" dirty="0" smtClean="0"/>
              <a:t>Given radius and period (T):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745694" y="990097"/>
            <a:ext cx="6517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Circumference, </a:t>
            </a:r>
            <a:r>
              <a:rPr lang="en-US" sz="3600" b="1" dirty="0" smtClean="0">
                <a:solidFill>
                  <a:srgbClr val="FF0000"/>
                </a:solidFill>
              </a:rPr>
              <a:t>C</a:t>
            </a:r>
            <a:r>
              <a:rPr lang="en-US" sz="3600" dirty="0" smtClean="0">
                <a:solidFill>
                  <a:srgbClr val="FF0000"/>
                </a:solidFill>
              </a:rPr>
              <a:t>=2</a:t>
            </a:r>
            <a:r>
              <a:rPr lang="en-US" sz="3600" dirty="0" smtClean="0">
                <a:solidFill>
                  <a:srgbClr val="FF0000"/>
                </a:solidFill>
                <a:sym typeface="Symbol"/>
              </a:rPr>
              <a:t>r</a:t>
            </a:r>
            <a:r>
              <a:rPr lang="en-US" sz="3600" dirty="0" smtClean="0">
                <a:sym typeface="Symbol"/>
              </a:rPr>
              <a:t>   </a:t>
            </a:r>
            <a:r>
              <a:rPr lang="en-US" sz="3600" smtClean="0">
                <a:sym typeface="Symbol"/>
              </a:rPr>
              <a:t>(Units: </a:t>
            </a:r>
            <a:r>
              <a:rPr lang="en-US" sz="3600" dirty="0" smtClean="0">
                <a:sym typeface="Symbol"/>
              </a:rPr>
              <a:t>m)</a:t>
            </a:r>
            <a:endParaRPr lang="en-US" sz="3600" dirty="0"/>
          </a:p>
        </p:txBody>
      </p:sp>
      <p:sp>
        <p:nvSpPr>
          <p:cNvPr id="4" name="Oval 3"/>
          <p:cNvSpPr/>
          <p:nvPr/>
        </p:nvSpPr>
        <p:spPr>
          <a:xfrm>
            <a:off x="188563" y="1238793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4694" y="1534857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cxnSp>
        <p:nvCxnSpPr>
          <p:cNvPr id="7" name="Straight Arrow Connector 6"/>
          <p:cNvCxnSpPr>
            <a:endCxn id="4" idx="6"/>
          </p:cNvCxnSpPr>
          <p:nvPr/>
        </p:nvCxnSpPr>
        <p:spPr>
          <a:xfrm>
            <a:off x="1407763" y="2381793"/>
            <a:ext cx="12192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12918" y="1935797"/>
            <a:ext cx="5697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Period, T</a:t>
            </a:r>
            <a:r>
              <a:rPr lang="en-US" sz="3600" dirty="0" smtClean="0"/>
              <a:t>= time for one revolution   (Units: seconds)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322746" y="3246407"/>
                <a:ext cx="3059254" cy="11294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𝜋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num>
                        <m:den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746" y="3246407"/>
                <a:ext cx="3059254" cy="11294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950797" y="3298176"/>
            <a:ext cx="4177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Speed :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81000" y="4918868"/>
                <a:ext cx="8229600" cy="15969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/>
                        </a:rPr>
                        <m:t>𝑎</m:t>
                      </m:r>
                      <m:r>
                        <a:rPr lang="en-US" sz="4000" b="0" i="1" baseline="-25000" smtClean="0">
                          <a:latin typeface="Cambria Math"/>
                        </a:rPr>
                        <m:t>𝑐</m:t>
                      </m:r>
                      <m:r>
                        <a:rPr lang="en-US" sz="40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den>
                      </m:f>
                      <m:r>
                        <a:rPr lang="en-US" sz="40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4000" i="1">
                                      <a:latin typeface="Cambria Math"/>
                                    </a:rPr>
                                    <m:t>𝜋</m:t>
                                  </m:r>
                                  <m:r>
                                    <a:rPr lang="en-US" sz="4000" i="1">
                                      <a:latin typeface="Cambria Math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sz="4000" i="1">
                                      <a:latin typeface="Cambria Math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den>
                      </m:f>
                      <m:r>
                        <a:rPr lang="en-US" sz="4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b="0" i="1" smtClean="0">
                              <a:latin typeface="Cambria Math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4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18868"/>
                <a:ext cx="8229600" cy="159697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66054" y="4272537"/>
            <a:ext cx="6861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We can rewrite the acceleration:</a:t>
            </a:r>
            <a:endParaRPr lang="en-US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266054" y="2415410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C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7434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Given radius and frequency (f):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951131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Frequency  (f)-</a:t>
            </a:r>
            <a:r>
              <a:rPr lang="en-US" sz="3600" dirty="0" smtClean="0"/>
              <a:t> is the number of cycles that occur in one second.  Frequency is the inverse of period.              </a:t>
            </a:r>
            <a:r>
              <a:rPr lang="en-US" sz="3600" b="1" dirty="0" smtClean="0"/>
              <a:t>Units: s</a:t>
            </a:r>
            <a:r>
              <a:rPr lang="en-US" sz="3600" b="1" baseline="30000" dirty="0" smtClean="0"/>
              <a:t>-1</a:t>
            </a:r>
            <a:r>
              <a:rPr lang="en-US" sz="3600" b="1" dirty="0" smtClean="0"/>
              <a:t> or Hz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57600" y="2681499"/>
                <a:ext cx="2133600" cy="1244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4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4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681499"/>
                <a:ext cx="2133600" cy="124482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83895" y="4343400"/>
                <a:ext cx="6909969" cy="1979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4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4000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4000" i="1">
                                          <a:latin typeface="Cambria Math"/>
                                        </a:rPr>
                                        <m:t>𝑓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4000" i="1">
                          <a:latin typeface="Cambria Math"/>
                        </a:rPr>
                        <m:t>=4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/>
                            </a:rPr>
                            <m:t>𝜋</m:t>
                          </m:r>
                        </m:e>
                        <m:sup>
                          <m:r>
                            <a:rPr lang="en-US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4000" i="1"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95" y="4343400"/>
                <a:ext cx="6909969" cy="19799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28600" y="3739866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Substituting this expression in for period: 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2349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38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Example 2:</a:t>
            </a:r>
            <a:r>
              <a:rPr lang="en-US" sz="2800" dirty="0" smtClean="0"/>
              <a:t> A classic LP vinyl record has a diameter of  12.0 inches (30.5 cm) and rotates at 33.3 rpm (revolutions per minute).  What is the centripetal acceleration of an ant sitting at the outermost edge of this record? 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09227" y="2819400"/>
            <a:ext cx="495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Solution:</a:t>
            </a:r>
          </a:p>
          <a:p>
            <a:r>
              <a:rPr lang="en-US" sz="3200" dirty="0" smtClean="0"/>
              <a:t>r=30.5 cm/2=15.25 cm</a:t>
            </a:r>
          </a:p>
          <a:p>
            <a:endParaRPr lang="en-US" sz="3200" dirty="0" smtClean="0"/>
          </a:p>
          <a:p>
            <a:r>
              <a:rPr lang="en-US" sz="3200" dirty="0" smtClean="0"/>
              <a:t>f=33.3/60.0s =0.555 Hz</a:t>
            </a:r>
          </a:p>
          <a:p>
            <a:endParaRPr lang="en-US" sz="3200" dirty="0"/>
          </a:p>
          <a:p>
            <a:r>
              <a:rPr lang="en-US" sz="3200" dirty="0" smtClean="0"/>
              <a:t>a</a:t>
            </a:r>
            <a:r>
              <a:rPr lang="en-US" sz="3200" baseline="-25000" dirty="0" smtClean="0"/>
              <a:t>c</a:t>
            </a:r>
            <a:r>
              <a:rPr lang="en-US" sz="3200" dirty="0" smtClean="0"/>
              <a:t>=?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876800" y="2819399"/>
                <a:ext cx="3382144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/>
                        </a:rPr>
                        <m:t>𝑎</m:t>
                      </m:r>
                      <m:r>
                        <a:rPr lang="en-US" sz="4400" b="0" i="1" baseline="-25000" smtClean="0">
                          <a:latin typeface="Cambria Math"/>
                        </a:rPr>
                        <m:t>𝑐</m:t>
                      </m:r>
                      <m:r>
                        <a:rPr lang="en-US" sz="4400" b="0" i="1" smtClean="0">
                          <a:latin typeface="Cambria Math"/>
                        </a:rPr>
                        <m:t>=</m:t>
                      </m:r>
                      <m:r>
                        <a:rPr lang="en-US" sz="4400" i="1">
                          <a:latin typeface="Cambria Math"/>
                        </a:rPr>
                        <m:t>4</m:t>
                      </m:r>
                      <m:sSup>
                        <m:s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latin typeface="Cambria Math"/>
                            </a:rPr>
                            <m:t>𝜋</m:t>
                          </m:r>
                        </m:e>
                        <m:sup>
                          <m:r>
                            <a:rPr lang="en-US" sz="4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4400" i="1"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sz="4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819399"/>
                <a:ext cx="3382144" cy="76944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876800" y="3604230"/>
                <a:ext cx="416530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0" dirty="0" smtClean="0"/>
                  <a:t>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4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(15.25)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(0.555)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604230"/>
                <a:ext cx="4165307" cy="7694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029200" y="4563108"/>
                <a:ext cx="416530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0" dirty="0" smtClean="0"/>
                  <a:t>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4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(15.25)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(0.555)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63108"/>
                <a:ext cx="4165307" cy="7694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34366" y="5484949"/>
                <a:ext cx="276562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0" dirty="0" smtClean="0"/>
                  <a:t>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=185  </m:t>
                    </m:r>
                    <m:r>
                      <a:rPr lang="en-US" sz="2800" b="0" i="1" smtClean="0">
                        <a:latin typeface="Cambria Math"/>
                      </a:rPr>
                      <m:t>𝑐𝑚</m:t>
                    </m:r>
                    <m:r>
                      <a:rPr lang="en-US" sz="2800" b="0" i="1" smtClean="0">
                        <a:latin typeface="Cambria Math"/>
                      </a:rPr>
                      <m:t>/</m:t>
                    </m:r>
                    <m:r>
                      <a:rPr lang="en-US" sz="2800" b="0" i="1" smtClean="0">
                        <a:latin typeface="Cambria Math"/>
                      </a:rPr>
                      <m:t>𝑠</m:t>
                    </m:r>
                    <m:r>
                      <a:rPr lang="en-US" sz="2800" b="0" i="1" baseline="30000" smtClean="0">
                        <a:latin typeface="Cambria Math"/>
                      </a:rPr>
                      <m:t>2</m:t>
                    </m:r>
                  </m:oMath>
                </a14:m>
                <a:endParaRPr lang="en-US" sz="2800" baseline="30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366" y="5484949"/>
                <a:ext cx="2765629" cy="76944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71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1000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Summary of Centripetal Acceleration: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468573" y="1295400"/>
            <a:ext cx="845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Centripetal acceleration occurs when an object is moving in a circle at a constant ___________.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078159"/>
            <a:ext cx="845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The velocity vector is constant in magnitude and always directed ___________ to the path. 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45827" y="4988169"/>
            <a:ext cx="8458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 smtClean="0"/>
              <a:t>The acceleration vector is constant in magnitude and always directed _______ inwards. 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2203270"/>
            <a:ext cx="419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dirty="0" smtClean="0">
                <a:solidFill>
                  <a:srgbClr val="FF0000"/>
                </a:solidFill>
              </a:rPr>
              <a:t>speed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91000" y="3495860"/>
            <a:ext cx="419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dirty="0" smtClean="0">
                <a:solidFill>
                  <a:srgbClr val="FF0000"/>
                </a:solidFill>
              </a:rPr>
              <a:t>tangentially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246" y="5480611"/>
            <a:ext cx="4191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dirty="0" smtClean="0">
                <a:solidFill>
                  <a:srgbClr val="FF0000"/>
                </a:solidFill>
              </a:rPr>
              <a:t>radially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33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Question 1:</a:t>
            </a:r>
            <a:r>
              <a:rPr lang="en-US" sz="3600" dirty="0" smtClean="0"/>
              <a:t>  The Earth travels around the Sun at a constant orbital speed. At any given point in its travel, the Earth’s acceleration is constant in magnitude and directed: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010585" y="3276600"/>
            <a:ext cx="8133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lphaLcParenR"/>
            </a:pPr>
            <a:r>
              <a:rPr lang="en-US" sz="3600" dirty="0" smtClean="0"/>
              <a:t>tangentially forward along the path</a:t>
            </a:r>
          </a:p>
          <a:p>
            <a:pPr marL="742950" indent="-742950">
              <a:buAutoNum type="alphaLcParenR"/>
            </a:pPr>
            <a:r>
              <a:rPr lang="en-US" sz="3600" dirty="0"/>
              <a:t>t</a:t>
            </a:r>
            <a:r>
              <a:rPr lang="en-US" sz="3600" dirty="0" smtClean="0"/>
              <a:t>angentially backward along the path</a:t>
            </a:r>
          </a:p>
          <a:p>
            <a:pPr marL="742950" indent="-742950">
              <a:buAutoNum type="alphaLcParenR"/>
            </a:pPr>
            <a:r>
              <a:rPr lang="en-US" sz="3600" dirty="0"/>
              <a:t>r</a:t>
            </a:r>
            <a:r>
              <a:rPr lang="en-US" sz="3600" dirty="0" smtClean="0"/>
              <a:t>adially outwards away from the Sun</a:t>
            </a:r>
          </a:p>
          <a:p>
            <a:pPr marL="742950" indent="-742950">
              <a:buAutoNum type="alphaLcParenR"/>
            </a:pPr>
            <a:r>
              <a:rPr lang="en-US" sz="3600" dirty="0"/>
              <a:t>r</a:t>
            </a:r>
            <a:r>
              <a:rPr lang="en-US" sz="3600" dirty="0" smtClean="0"/>
              <a:t>adially inwards towards the Sun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447800" y="101025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Thinking questions: </a:t>
            </a:r>
            <a:endParaRPr lang="en-US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88" y="4918441"/>
            <a:ext cx="761695" cy="666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931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Question 2:</a:t>
            </a:r>
            <a:r>
              <a:rPr lang="en-US" sz="3600" dirty="0" smtClean="0"/>
              <a:t>  On a merry go round, child A is 1.0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 while child B is 4.0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, near the outer edge.  How do the magnitudes of their tangential speeds compare?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3700522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A is travelling faster.</a:t>
            </a:r>
          </a:p>
          <a:p>
            <a:pPr marL="742950" indent="-742950">
              <a:buAutoNum type="alphaLcParenR"/>
            </a:pPr>
            <a:r>
              <a:rPr lang="en-US" sz="3600" dirty="0"/>
              <a:t>B</a:t>
            </a:r>
            <a:r>
              <a:rPr lang="en-US" sz="3600" dirty="0" smtClean="0"/>
              <a:t> is travelling faster.</a:t>
            </a:r>
          </a:p>
          <a:p>
            <a:pPr marL="742950" indent="-742950">
              <a:buAutoNum type="alphaLcParenR"/>
            </a:pPr>
            <a:r>
              <a:rPr lang="en-US" sz="3600" dirty="0"/>
              <a:t>They are travelling at the same speed </a:t>
            </a:r>
            <a:endParaRPr lang="en-US" sz="3600" dirty="0" smtClean="0"/>
          </a:p>
          <a:p>
            <a:pPr marL="742950" indent="-742950">
              <a:buAutoNum type="alphaLcParenR"/>
            </a:pPr>
            <a:r>
              <a:rPr lang="en-US" sz="3600" dirty="0" smtClean="0"/>
              <a:t> Impossible to know without knowing the rate of rotation. </a:t>
            </a:r>
            <a:endParaRPr lang="en-US" sz="3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01831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79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432106"/>
            <a:ext cx="4724400" cy="4967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0" y="228600"/>
            <a:ext cx="838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Question 3:</a:t>
            </a:r>
            <a:r>
              <a:rPr lang="en-US" sz="2800" dirty="0" smtClean="0"/>
              <a:t>  A boy swings a ball on the end of a string at a constant speed in a horizontal circle.  The string breaks at the point shown in the diagram below.  In what direction will the ball move? 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2438400"/>
            <a:ext cx="3581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sz="3600" dirty="0" smtClean="0"/>
              <a:t>A</a:t>
            </a:r>
          </a:p>
          <a:p>
            <a:pPr marL="342900" indent="-342900">
              <a:buAutoNum type="alphaLcParenR"/>
            </a:pPr>
            <a:r>
              <a:rPr lang="en-US" sz="3600" dirty="0" smtClean="0"/>
              <a:t>B</a:t>
            </a:r>
          </a:p>
          <a:p>
            <a:pPr marL="342900" indent="-342900">
              <a:buAutoNum type="alphaLcParenR"/>
            </a:pPr>
            <a:r>
              <a:rPr lang="en-US" sz="3600" dirty="0" smtClean="0"/>
              <a:t>C</a:t>
            </a:r>
          </a:p>
          <a:p>
            <a:pPr marL="342900" indent="-342900">
              <a:buAutoNum type="alphaLcParenR"/>
            </a:pPr>
            <a:r>
              <a:rPr lang="en-US" sz="3600" dirty="0" smtClean="0"/>
              <a:t>The ball will continue in the circular path. </a:t>
            </a:r>
            <a:endParaRPr lang="en-US" sz="36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1316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59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616</Words>
  <Application>Microsoft Office PowerPoint</Application>
  <PresentationFormat>On-screen Show (4:3)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Cambria Math</vt:lpstr>
      <vt:lpstr>Symbol</vt:lpstr>
      <vt:lpstr>Office Theme</vt:lpstr>
      <vt:lpstr>Minds on:  a) A ball is being swung on the end of a string in a constant horizontal circle at a speed of 5.00 m/s.  If it takes the ball 1.00 second to complete one full revolution, what is the average acceleration over ¼ of the cycle from v1 to v2? </vt:lpstr>
      <vt:lpstr>PowerPoint Presentation</vt:lpstr>
      <vt:lpstr>Uniform Circular Motion</vt:lpstr>
      <vt:lpstr>PowerPoint Presentation</vt:lpstr>
      <vt:lpstr>Instantaneous Acceleration Magnitude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Circular Motion</dc:title>
  <dc:creator>Linda</dc:creator>
  <cp:lastModifiedBy>Ryan, Linda</cp:lastModifiedBy>
  <cp:revision>22</cp:revision>
  <cp:lastPrinted>2013-02-19T06:36:18Z</cp:lastPrinted>
  <dcterms:created xsi:type="dcterms:W3CDTF">2011-09-21T10:41:56Z</dcterms:created>
  <dcterms:modified xsi:type="dcterms:W3CDTF">2020-03-04T13:43:19Z</dcterms:modified>
</cp:coreProperties>
</file>