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4" r:id="rId4"/>
    <p:sldId id="257" r:id="rId5"/>
    <p:sldId id="259" r:id="rId6"/>
    <p:sldId id="263" r:id="rId7"/>
    <p:sldId id="260" r:id="rId8"/>
    <p:sldId id="270" r:id="rId9"/>
    <p:sldId id="271" r:id="rId10"/>
    <p:sldId id="272" r:id="rId11"/>
    <p:sldId id="278" r:id="rId1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1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56278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latin typeface="Arial Black" pitchFamily="34" charset="0"/>
              </a:rPr>
              <a:t>Minds on: </a:t>
            </a:r>
            <a:br>
              <a:rPr lang="en-US" sz="2800" b="1" dirty="0" smtClean="0">
                <a:latin typeface="Arial Black" pitchFamily="34" charset="0"/>
              </a:rPr>
            </a:br>
            <a:r>
              <a:rPr lang="en-US" sz="2800" dirty="0" smtClean="0">
                <a:latin typeface="Arial Black" pitchFamily="34" charset="0"/>
              </a:rPr>
              <a:t>a) </a:t>
            </a:r>
            <a:r>
              <a:rPr lang="en-US" sz="2800" dirty="0" smtClean="0">
                <a:latin typeface="+mn-lt"/>
              </a:rPr>
              <a:t>A ball is being swung on the end of a string in a constant horizontal circle at a speed of 5.00 m/s.  If it takes the ball 1.00 second to complete one full revolution, what is the average acceleration over ¼ of the cycle from v</a:t>
            </a:r>
            <a:r>
              <a:rPr lang="en-US" sz="2800" baseline="-25000" dirty="0" smtClean="0">
                <a:latin typeface="+mn-lt"/>
              </a:rPr>
              <a:t>1</a:t>
            </a:r>
            <a:r>
              <a:rPr lang="en-US" sz="2800" dirty="0" smtClean="0">
                <a:latin typeface="+mn-lt"/>
              </a:rPr>
              <a:t> to v</a:t>
            </a:r>
            <a:r>
              <a:rPr lang="en-US" sz="2800" baseline="-25000" dirty="0" smtClean="0">
                <a:latin typeface="+mn-lt"/>
              </a:rPr>
              <a:t>2</a:t>
            </a:r>
            <a:r>
              <a:rPr lang="en-US" sz="2800" dirty="0" smtClean="0">
                <a:latin typeface="+mn-lt"/>
              </a:rPr>
              <a:t>? </a:t>
            </a:r>
            <a:endParaRPr lang="en-US" sz="2800" dirty="0">
              <a:latin typeface="+mn-lt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679217" y="6824"/>
            <a:ext cx="7772400" cy="929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latin typeface="Arial Black" pitchFamily="34" charset="0"/>
              </a:rPr>
              <a:t>Acceleration in Uniform Circular Motion</a:t>
            </a:r>
            <a:endParaRPr lang="en-US" sz="2000" b="1" dirty="0">
              <a:latin typeface="+mn-lt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7200" y="538797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+mn-lt"/>
              </a:rPr>
              <a:t>b) Using symmetry, what is the average acceleration between v</a:t>
            </a:r>
            <a:r>
              <a:rPr lang="en-US" sz="2800" baseline="-25000" dirty="0" smtClean="0">
                <a:latin typeface="+mn-lt"/>
              </a:rPr>
              <a:t>3</a:t>
            </a:r>
            <a:r>
              <a:rPr lang="en-US" sz="2800" dirty="0" smtClean="0">
                <a:latin typeface="+mn-lt"/>
              </a:rPr>
              <a:t> and v</a:t>
            </a:r>
            <a:r>
              <a:rPr lang="en-US" sz="2800" baseline="-25000" dirty="0" smtClean="0">
                <a:latin typeface="+mn-lt"/>
              </a:rPr>
              <a:t>4</a:t>
            </a:r>
            <a:r>
              <a:rPr lang="en-US" sz="2800" dirty="0" smtClean="0">
                <a:latin typeface="+mn-lt"/>
              </a:rPr>
              <a:t>? </a:t>
            </a:r>
            <a:endParaRPr lang="en-US" sz="2800" b="1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00400"/>
            <a:ext cx="38576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2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Arial Black" pitchFamily="34" charset="0"/>
              </a:rPr>
              <a:t>Minds On Analysis:</a:t>
            </a:r>
            <a:r>
              <a:rPr lang="en-US" b="1" dirty="0">
                <a:latin typeface="Arial Black" pitchFamily="34" charset="0"/>
              </a:rPr>
              <a:t/>
            </a:r>
            <a:br>
              <a:rPr lang="en-US" b="1" dirty="0">
                <a:latin typeface="Arial Black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430" y="162158"/>
            <a:ext cx="7772400" cy="1470025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Uniform Circular Motion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330084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3114675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Circular Coordinates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637308" y="3855617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856508" y="4998617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075708" y="5019399"/>
            <a:ext cx="0" cy="1219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666999" y="4998617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6999" y="5303417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ttp://t3.gstatic.com/images?q=tbn:ANd9GcRvzqECKvDhv3AAs9eoX4_9Mc_R9aBn0LT2KkULMQUK_p59G0V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210" y="1260879"/>
            <a:ext cx="2362200" cy="183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74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839" y="152400"/>
            <a:ext cx="8707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Uniform Circular motion occurs when an object moves in a circular path at a constant speed.</a:t>
            </a:r>
            <a:endParaRPr lang="en-US" sz="3200" dirty="0"/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endCxn id="5" idx="6"/>
          </p:cNvCxnSpPr>
          <p:nvPr/>
        </p:nvCxnSpPr>
        <p:spPr>
          <a:xfrm>
            <a:off x="1905000" y="3810000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73382" y="2667000"/>
            <a:ext cx="96981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24200" y="3810000"/>
            <a:ext cx="0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5211" y="1213202"/>
            <a:ext cx="1731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|</a:t>
            </a:r>
            <a:r>
              <a:rPr lang="en-US" sz="4800" dirty="0" smtClean="0"/>
              <a:t>v|=v</a:t>
            </a:r>
            <a:endParaRPr lang="en-US" sz="4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85800" y="1447800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14478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3693763" y="2762781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743200" y="3810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43200" y="4114800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806727" y="2667000"/>
            <a:ext cx="0" cy="69619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258291" y="2958943"/>
            <a:ext cx="484909" cy="58522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743200" y="2993728"/>
            <a:ext cx="609600" cy="5504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36936" y="396822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7455" y="5452098"/>
            <a:ext cx="2837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32740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Instantaneous Acceleration Magnitude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1950" y="1828800"/>
                <a:ext cx="3295650" cy="1962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6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6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6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6000" i="1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828800"/>
                <a:ext cx="3295650" cy="196265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5034409"/>
                <a:ext cx="52959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𝑈𝑛𝑖𝑡𝑠</m:t>
                    </m:r>
                  </m:oMath>
                </a14:m>
                <a:r>
                  <a:rPr lang="en-US" sz="2800" dirty="0" smtClean="0"/>
                  <a:t>:</a:t>
                </a:r>
                <a:endParaRPr lang="en-US" sz="2800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34409"/>
                <a:ext cx="52959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10000" y="14478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810000" y="2548516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820332" y="36576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870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951" y="2667000"/>
            <a:ext cx="183817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Applications: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35530" y="990600"/>
            <a:ext cx="8229600" cy="183125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Orbital motion  </a:t>
            </a:r>
          </a:p>
          <a:p>
            <a:pPr algn="l"/>
            <a:r>
              <a:rPr lang="en-US" dirty="0" smtClean="0"/>
              <a:t>    -planets about sun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-moon, satellites about Earth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5530" y="3156815"/>
            <a:ext cx="8756070" cy="324398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Rotating Objects</a:t>
            </a:r>
          </a:p>
          <a:p>
            <a:pPr algn="l"/>
            <a:r>
              <a:rPr lang="en-US" dirty="0" smtClean="0"/>
              <a:t>    -</a:t>
            </a:r>
            <a:r>
              <a:rPr lang="en-US" sz="3700" dirty="0" smtClean="0"/>
              <a:t>wheels,  vinyl records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</a:t>
            </a:r>
            <a:r>
              <a:rPr lang="en-US" sz="3700" dirty="0" smtClean="0"/>
              <a:t>amusement park rides (</a:t>
            </a:r>
            <a:r>
              <a:rPr lang="en-US" sz="3700" dirty="0" err="1" smtClean="0"/>
              <a:t>Windseeker</a:t>
            </a:r>
            <a:r>
              <a:rPr lang="en-US" sz="3700" dirty="0" smtClean="0"/>
              <a:t>!)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-spinning a bucket over your head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-washing machine, centrifuge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314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6858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Example 1:</a:t>
            </a:r>
            <a:r>
              <a:rPr lang="en-US" sz="3600" dirty="0" smtClean="0"/>
              <a:t> A child on a merry go round is </a:t>
            </a:r>
          </a:p>
          <a:p>
            <a:r>
              <a:rPr lang="en-US" sz="3600" dirty="0" smtClean="0"/>
              <a:t>3.0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of the ride.  If the child’s speed is 2.0 m/s, what is the magnitude of the child’s centripetal acceleration?    (</a:t>
            </a:r>
            <a:r>
              <a:rPr lang="en-US" sz="2400" i="1" dirty="0" smtClean="0"/>
              <a:t>1.3  </a:t>
            </a:r>
            <a:r>
              <a:rPr lang="en-US" sz="2400" i="1" dirty="0"/>
              <a:t>m/s</a:t>
            </a:r>
            <a:r>
              <a:rPr lang="en-US" sz="2400" i="1" baseline="30000" dirty="0"/>
              <a:t>2</a:t>
            </a:r>
            <a:r>
              <a:rPr lang="en-US" sz="2400" i="1" dirty="0"/>
              <a:t> 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90736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94" y="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/>
              <a:t>Other forms of the equation:</a:t>
            </a:r>
          </a:p>
          <a:p>
            <a:r>
              <a:rPr lang="en-US" sz="3600" b="1" dirty="0" smtClean="0"/>
              <a:t>Given radius and period (T):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5694" y="990097"/>
            <a:ext cx="651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Circumference, C</a:t>
            </a:r>
            <a:r>
              <a:rPr lang="en-US" sz="3600" b="1" dirty="0"/>
              <a:t>:</a:t>
            </a:r>
            <a:r>
              <a:rPr lang="en-US" sz="3600" b="1" dirty="0" smtClean="0"/>
              <a:t> </a:t>
            </a:r>
            <a:endParaRPr lang="en-US" sz="3600" dirty="0"/>
          </a:p>
        </p:txBody>
      </p:sp>
      <p:sp>
        <p:nvSpPr>
          <p:cNvPr id="4" name="Oval 3"/>
          <p:cNvSpPr/>
          <p:nvPr/>
        </p:nvSpPr>
        <p:spPr>
          <a:xfrm>
            <a:off x="188563" y="1238793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4694" y="1534857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cxnSp>
        <p:nvCxnSpPr>
          <p:cNvPr id="7" name="Straight Arrow Connector 6"/>
          <p:cNvCxnSpPr>
            <a:endCxn id="4" idx="6"/>
          </p:cNvCxnSpPr>
          <p:nvPr/>
        </p:nvCxnSpPr>
        <p:spPr>
          <a:xfrm>
            <a:off x="1407763" y="2381793"/>
            <a:ext cx="1219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12918" y="1935797"/>
            <a:ext cx="569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Period, T</a:t>
            </a:r>
            <a:r>
              <a:rPr lang="en-US" sz="3600"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797" y="3298176"/>
            <a:ext cx="4177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Speed :</a:t>
            </a:r>
            <a:endParaRPr lang="en-US" sz="3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66054" y="4272537"/>
            <a:ext cx="686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We can rewrite the acceleration:</a:t>
            </a:r>
            <a:endParaRPr 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66054" y="2415410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743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Given radius and frequency (f):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951131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Frequency  (f)-</a:t>
            </a:r>
            <a:r>
              <a:rPr lang="en-US" sz="3600" dirty="0" smtClean="0"/>
              <a:t> is the number of cycles that occur in one second.  Frequency is the inverse of period.              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36349" y="3952968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Substituting this expression in for period:  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2971800" y="2705457"/>
            <a:ext cx="3276600" cy="1180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9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304800"/>
                <a:ext cx="8382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u="sng" dirty="0" smtClean="0"/>
                  <a:t>Example 2:</a:t>
                </a:r>
                <a:r>
                  <a:rPr lang="en-US" sz="2800" dirty="0" smtClean="0"/>
                  <a:t> A classic LP vinyl record has a diameter of  12.0 inches (30.5 cm) and rotates at 33.3 rpm (revolutions per minute).  What is the centripetal acceleration of an ant sitting at the outermost edge of this record?</a:t>
                </a:r>
                <a:r>
                  <a:rPr lang="en-US" sz="2800" i="1" dirty="0" smtClean="0"/>
                  <a:t>                                                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185  </m:t>
                    </m:r>
                    <m:r>
                      <a:rPr lang="en-US" sz="2800" i="1">
                        <a:latin typeface="Cambria Math"/>
                      </a:rPr>
                      <m:t>𝑐𝑚</m:t>
                    </m:r>
                    <m:r>
                      <a:rPr lang="en-US" sz="2800" i="1">
                        <a:latin typeface="Cambria Math"/>
                      </a:rPr>
                      <m:t>/</m:t>
                    </m:r>
                    <m:r>
                      <a:rPr lang="en-US" sz="2800" i="1">
                        <a:latin typeface="Cambria Math"/>
                      </a:rPr>
                      <m:t>𝑠</m:t>
                    </m:r>
                    <m:r>
                      <a:rPr lang="en-US" sz="2800" i="1" baseline="30000">
                        <a:latin typeface="Cambria Math"/>
                      </a:rPr>
                      <m:t>2</m:t>
                    </m:r>
                  </m:oMath>
                </a14:m>
                <a:r>
                  <a:rPr lang="en-US" sz="2800" i="1" dirty="0" smtClean="0"/>
                  <a:t>)</a:t>
                </a:r>
                <a:endParaRPr lang="en-US" sz="2800" i="1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4800"/>
                <a:ext cx="83820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527" t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71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10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Summary of Centripetal Acceleration: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68573" y="1295400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Centripetal acceleration occurs when an object is moving in a circle at a constant ___________.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078159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The velocity vector is constant in magnitude and always directed ___________ to the path. 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45827" y="4988169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The acceleration vector is constant </a:t>
            </a:r>
            <a:r>
              <a:rPr lang="en-CA" sz="3600" dirty="0" err="1" smtClean="0"/>
              <a:t>inmagnitude</a:t>
            </a:r>
            <a:r>
              <a:rPr lang="en-CA" sz="3600" dirty="0" smtClean="0"/>
              <a:t> and always directed _______ inwards.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6817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319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Office Theme</vt:lpstr>
      <vt:lpstr>Minds on:  a) A ball is being swung on the end of a string in a constant horizontal circle at a speed of 5.00 m/s.  If it takes the ball 1.00 second to complete one full revolution, what is the average acceleration over ¼ of the cycle from v1 to v2? </vt:lpstr>
      <vt:lpstr>Minds On Analysis: </vt:lpstr>
      <vt:lpstr>Uniform Circular Motion</vt:lpstr>
      <vt:lpstr>PowerPoint Presentation</vt:lpstr>
      <vt:lpstr>Instantaneous Acceleration Magnitude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creator>Linda</dc:creator>
  <cp:lastModifiedBy>Ryan, Linda</cp:lastModifiedBy>
  <cp:revision>20</cp:revision>
  <cp:lastPrinted>2020-03-04T13:30:42Z</cp:lastPrinted>
  <dcterms:created xsi:type="dcterms:W3CDTF">2011-09-21T10:41:56Z</dcterms:created>
  <dcterms:modified xsi:type="dcterms:W3CDTF">2020-03-04T13:43:24Z</dcterms:modified>
</cp:coreProperties>
</file>