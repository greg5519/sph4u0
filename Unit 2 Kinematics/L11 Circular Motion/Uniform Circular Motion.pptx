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70" r:id="rId7"/>
    <p:sldId id="271" r:id="rId8"/>
    <p:sldId id="272" r:id="rId9"/>
    <p:sldId id="268" r:id="rId10"/>
    <p:sldId id="265" r:id="rId11"/>
    <p:sldId id="273" r:id="rId12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15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9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0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7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19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1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1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1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33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7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2675-DCD6-4754-BDA0-E06AA3D096D2}" type="datetimeFigureOut">
              <a:rPr lang="en-US" smtClean="0"/>
              <a:t>9/26/2016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C1A0C-F96E-4D56-9ECD-BF2D36AC1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7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4430" y="162158"/>
            <a:ext cx="7772400" cy="1470025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Uniform Circular Motion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330084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57200" y="3114675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Circular Coordinates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637308" y="3855617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856508" y="4998617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075708" y="5019399"/>
            <a:ext cx="0" cy="1219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35726" y="4257675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sp>
        <p:nvSpPr>
          <p:cNvPr id="21" name="TextBox 20"/>
          <p:cNvSpPr txBox="1"/>
          <p:nvPr/>
        </p:nvSpPr>
        <p:spPr>
          <a:xfrm>
            <a:off x="3151908" y="5394024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ym typeface="Symbol"/>
              </a:rPr>
              <a:t></a:t>
            </a:r>
            <a:endParaRPr lang="en-US" sz="48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2666999" y="4998617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666999" y="5303417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00600" y="4038600"/>
            <a:ext cx="344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r</a:t>
            </a:r>
            <a:r>
              <a:rPr lang="en-US" sz="4800" dirty="0" smtClean="0"/>
              <a:t>-radial</a:t>
            </a:r>
            <a:endParaRPr lang="en-US" sz="4800" dirty="0"/>
          </a:p>
        </p:txBody>
      </p:sp>
      <p:sp>
        <p:nvSpPr>
          <p:cNvPr id="25" name="TextBox 24"/>
          <p:cNvSpPr txBox="1"/>
          <p:nvPr/>
        </p:nvSpPr>
        <p:spPr>
          <a:xfrm>
            <a:off x="4739664" y="4869597"/>
            <a:ext cx="344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ym typeface="Symbol"/>
              </a:rPr>
              <a:t></a:t>
            </a:r>
            <a:r>
              <a:rPr lang="en-US" sz="4800" dirty="0" smtClean="0"/>
              <a:t>-tangential</a:t>
            </a:r>
            <a:endParaRPr lang="en-US" sz="4800" dirty="0"/>
          </a:p>
        </p:txBody>
      </p:sp>
      <p:pic>
        <p:nvPicPr>
          <p:cNvPr id="3" name="Picture 2" descr="http://t3.gstatic.com/images?q=tbn:ANd9GcRvzqECKvDhv3AAs9eoX4_9Mc_R9aBn0LT2KkULMQUK_p59G0V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210" y="1260879"/>
            <a:ext cx="2362200" cy="183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03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839" y="152400"/>
            <a:ext cx="8707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Uniform Circular motion occurs when an object moves in a circular path at a constant speed.</a:t>
            </a:r>
            <a:endParaRPr lang="en-US" sz="3200" dirty="0"/>
          </a:p>
        </p:txBody>
      </p:sp>
      <p:sp>
        <p:nvSpPr>
          <p:cNvPr id="5" name="Oval 4"/>
          <p:cNvSpPr/>
          <p:nvPr/>
        </p:nvSpPr>
        <p:spPr>
          <a:xfrm>
            <a:off x="685800" y="2667000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endCxn id="5" idx="6"/>
          </p:cNvCxnSpPr>
          <p:nvPr/>
        </p:nvCxnSpPr>
        <p:spPr>
          <a:xfrm>
            <a:off x="1905000" y="3810000"/>
            <a:ext cx="12192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773382" y="2667000"/>
            <a:ext cx="969818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24200" y="3810000"/>
            <a:ext cx="0" cy="9144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73382" y="3699301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sp>
        <p:nvSpPr>
          <p:cNvPr id="17" name="TextBox 16"/>
          <p:cNvSpPr txBox="1"/>
          <p:nvPr/>
        </p:nvSpPr>
        <p:spPr>
          <a:xfrm>
            <a:off x="275211" y="1213202"/>
            <a:ext cx="1731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|</a:t>
            </a:r>
            <a:r>
              <a:rPr lang="en-US" sz="4800" dirty="0" smtClean="0"/>
              <a:t>v|=v</a:t>
            </a:r>
            <a:endParaRPr lang="en-US" sz="4800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685800" y="1447800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24200" y="1306230"/>
            <a:ext cx="579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the instantaneous velocity  v   is </a:t>
            </a:r>
          </a:p>
          <a:p>
            <a:r>
              <a:rPr lang="en-US" sz="2800" dirty="0" smtClean="0"/>
              <a:t>TANGENT to the path and has constant magnitude</a:t>
            </a:r>
            <a:endParaRPr lang="en-US" sz="28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392808" y="1446135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97334" y="2886136"/>
            <a:ext cx="579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Since the speed is constant, there </a:t>
            </a:r>
          </a:p>
          <a:p>
            <a:r>
              <a:rPr lang="en-US" sz="2800" dirty="0"/>
              <a:t>i</a:t>
            </a:r>
            <a:r>
              <a:rPr lang="en-US" sz="2800" dirty="0" smtClean="0"/>
              <a:t>s NO ACCELERATION tangentially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743200" y="3810000"/>
            <a:ext cx="0" cy="30480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43200" y="4114800"/>
            <a:ext cx="381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806727" y="2667000"/>
            <a:ext cx="0" cy="69619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2258291" y="2958943"/>
            <a:ext cx="484909" cy="585220"/>
          </a:xfrm>
          <a:prstGeom prst="straightConnector1">
            <a:avLst/>
          </a:prstGeom>
          <a:ln w="38100">
            <a:solidFill>
              <a:srgbClr val="33CC3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743200" y="2993728"/>
            <a:ext cx="609600" cy="55043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57745" y="2993728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</a:rPr>
              <a:t>a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6806" y="4530298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</a:rPr>
              <a:t>v</a:t>
            </a:r>
            <a:endParaRPr lang="en-US" sz="4800" dirty="0">
              <a:solidFill>
                <a:srgbClr val="FF0000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2905990" y="4802013"/>
            <a:ext cx="436419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336962" y="3251553"/>
            <a:ext cx="436419" cy="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821872" y="3952068"/>
            <a:ext cx="436419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93459" y="3998893"/>
            <a:ext cx="579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Acceleration is directed radially inward and acts to change velocity direction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375" y="5638800"/>
            <a:ext cx="8243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● CENTRIPETAL ACCELERATION means </a:t>
            </a:r>
            <a:r>
              <a:rPr lang="en-US" sz="2800" dirty="0" err="1" smtClean="0"/>
              <a:t>centre</a:t>
            </a:r>
            <a:r>
              <a:rPr lang="en-US" sz="2800" dirty="0" smtClean="0"/>
              <a:t>-seeking</a:t>
            </a:r>
          </a:p>
        </p:txBody>
      </p:sp>
    </p:spTree>
    <p:extLst>
      <p:ext uri="{BB962C8B-B14F-4D97-AF65-F5344CB8AC3E}">
        <p14:creationId xmlns:p14="http://schemas.microsoft.com/office/powerpoint/2010/main" val="132740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9" grpId="0"/>
      <p:bldP spid="30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Instantaneous Acceleration Magnitude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1950" y="1439883"/>
                <a:ext cx="3295650" cy="1962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6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6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6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6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6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6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6000" i="1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439883"/>
                <a:ext cx="3295650" cy="196265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57600" y="1496291"/>
                <a:ext cx="49530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800" dirty="0" smtClean="0"/>
                  <a:t>= instantaneous acceleration</a:t>
                </a: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𝑣</m:t>
                    </m:r>
                    <m:r>
                      <a:rPr lang="en-US" sz="28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800" dirty="0" smtClean="0"/>
                  <a:t>=  speed</a:t>
                </a:r>
              </a:p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800" dirty="0" smtClean="0"/>
                  <a:t>= radius of circular path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496291"/>
                <a:ext cx="49530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t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81100" y="3733800"/>
                <a:ext cx="5295900" cy="1790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𝑈𝑛𝑖𝑡𝑠</m:t>
                      </m:r>
                      <m:r>
                        <a:rPr lang="en-US" sz="2800" b="0" i="1" smtClean="0">
                          <a:latin typeface="Cambria Math"/>
                        </a:rPr>
                        <m:t>: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𝑚</m:t>
                                      </m:r>
                                    </m:num>
                                    <m:den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𝑠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den>
                      </m:f>
                      <m:r>
                        <a:rPr lang="en-US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100" y="3733800"/>
                <a:ext cx="5295900" cy="179029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70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951" y="2667000"/>
            <a:ext cx="183817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Applications: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235530" y="990600"/>
            <a:ext cx="8229600" cy="183125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Orbital motion  </a:t>
            </a:r>
          </a:p>
          <a:p>
            <a:pPr algn="l"/>
            <a:r>
              <a:rPr lang="en-US" dirty="0" smtClean="0"/>
              <a:t>    -planets about sun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-moon, satellites about Earth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35530" y="3156815"/>
            <a:ext cx="8756070" cy="324398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smtClean="0"/>
              <a:t>Rotating Objects</a:t>
            </a:r>
          </a:p>
          <a:p>
            <a:pPr algn="l"/>
            <a:r>
              <a:rPr lang="en-US" dirty="0" smtClean="0"/>
              <a:t>    -</a:t>
            </a:r>
            <a:r>
              <a:rPr lang="en-US" sz="3700" dirty="0" smtClean="0"/>
              <a:t>wheels,  vinyl records</a:t>
            </a:r>
          </a:p>
          <a:p>
            <a:pPr algn="l"/>
            <a:r>
              <a:rPr lang="en-US" dirty="0"/>
              <a:t> </a:t>
            </a:r>
            <a:r>
              <a:rPr lang="en-US" dirty="0" smtClean="0"/>
              <a:t>   -</a:t>
            </a:r>
            <a:r>
              <a:rPr lang="en-US" sz="3700" dirty="0" smtClean="0"/>
              <a:t>amusement park rides (</a:t>
            </a:r>
            <a:r>
              <a:rPr lang="en-US" sz="3700" dirty="0" err="1" smtClean="0"/>
              <a:t>Windseeker</a:t>
            </a:r>
            <a:r>
              <a:rPr lang="en-US" sz="3700" dirty="0" smtClean="0"/>
              <a:t>!)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-spinning a bucket over your head</a:t>
            </a:r>
          </a:p>
          <a:p>
            <a:pPr algn="l"/>
            <a:r>
              <a:rPr lang="en-US" sz="3700" dirty="0"/>
              <a:t> </a:t>
            </a:r>
            <a:r>
              <a:rPr lang="en-US" sz="3700" dirty="0" smtClean="0"/>
              <a:t>    -washing machine, centrifuge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314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685800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 smtClean="0"/>
              <a:t>Example 1:</a:t>
            </a:r>
            <a:r>
              <a:rPr lang="en-US" sz="3600" dirty="0" smtClean="0"/>
              <a:t> A child on a merry go round is </a:t>
            </a:r>
          </a:p>
          <a:p>
            <a:r>
              <a:rPr lang="en-US" sz="3600" dirty="0" smtClean="0"/>
              <a:t>3.0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of the ride.  If the child’s speed is 2.0 m/s, what is the magnitude of the child’s centripetal acceleration? 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505691" y="3276600"/>
            <a:ext cx="411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Ans</a:t>
            </a:r>
            <a:r>
              <a:rPr lang="en-US" sz="3600" dirty="0" smtClean="0"/>
              <a:t>:</a:t>
            </a:r>
          </a:p>
          <a:p>
            <a:r>
              <a:rPr lang="en-US" sz="3600" dirty="0" smtClean="0"/>
              <a:t>V= 2.0 m/s    </a:t>
            </a:r>
          </a:p>
          <a:p>
            <a:r>
              <a:rPr lang="en-US" sz="3600" dirty="0" smtClean="0"/>
              <a:t>r=3.0 m</a:t>
            </a:r>
          </a:p>
          <a:p>
            <a:r>
              <a:rPr lang="en-US" sz="3600" dirty="0"/>
              <a:t>a</a:t>
            </a:r>
            <a:r>
              <a:rPr lang="en-US" sz="3600" baseline="-25000" dirty="0" smtClean="0"/>
              <a:t>c</a:t>
            </a:r>
            <a:r>
              <a:rPr lang="en-US" sz="3600" dirty="0" smtClean="0"/>
              <a:t>=?   </a:t>
            </a:r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2563091" y="480060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a</a:t>
            </a:r>
            <a:r>
              <a:rPr lang="en-US" sz="3600" baseline="-25000" dirty="0" smtClean="0"/>
              <a:t>c</a:t>
            </a:r>
            <a:r>
              <a:rPr lang="en-US" sz="3600" dirty="0" smtClean="0"/>
              <a:t>=v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/r  = (2.0)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/3.0=  1.3  m/s</a:t>
            </a:r>
            <a:r>
              <a:rPr lang="en-US" sz="3600" baseline="30000" dirty="0" smtClean="0"/>
              <a:t>2</a:t>
            </a:r>
            <a:r>
              <a:rPr lang="en-US" sz="3600" dirty="0" smtClean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0736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94" y="0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1" dirty="0" smtClean="0"/>
              <a:t>Other forms of the equation:</a:t>
            </a:r>
          </a:p>
          <a:p>
            <a:r>
              <a:rPr lang="en-US" sz="3600" b="1" dirty="0" smtClean="0"/>
              <a:t>Given radius and period (T):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745694" y="990097"/>
            <a:ext cx="6517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Circumference, </a:t>
            </a:r>
            <a:r>
              <a:rPr lang="en-US" sz="3600" b="1" dirty="0" smtClean="0">
                <a:solidFill>
                  <a:srgbClr val="FF0000"/>
                </a:solidFill>
              </a:rPr>
              <a:t>C</a:t>
            </a:r>
            <a:r>
              <a:rPr lang="en-US" sz="3600" dirty="0" smtClean="0">
                <a:solidFill>
                  <a:srgbClr val="FF0000"/>
                </a:solidFill>
              </a:rPr>
              <a:t>=2</a:t>
            </a:r>
            <a:r>
              <a:rPr lang="en-US" sz="3600" dirty="0" smtClean="0">
                <a:solidFill>
                  <a:srgbClr val="FF0000"/>
                </a:solidFill>
                <a:sym typeface="Symbol"/>
              </a:rPr>
              <a:t>r</a:t>
            </a:r>
            <a:r>
              <a:rPr lang="en-US" sz="3600" dirty="0" smtClean="0">
                <a:sym typeface="Symbol"/>
              </a:rPr>
              <a:t>   </a:t>
            </a:r>
            <a:r>
              <a:rPr lang="en-US" sz="3600" smtClean="0">
                <a:sym typeface="Symbol"/>
              </a:rPr>
              <a:t>(Units: </a:t>
            </a:r>
            <a:r>
              <a:rPr lang="en-US" sz="3600" dirty="0" smtClean="0">
                <a:sym typeface="Symbol"/>
              </a:rPr>
              <a:t>m)</a:t>
            </a:r>
            <a:endParaRPr lang="en-US" sz="3600" dirty="0"/>
          </a:p>
        </p:txBody>
      </p:sp>
      <p:sp>
        <p:nvSpPr>
          <p:cNvPr id="4" name="Oval 3"/>
          <p:cNvSpPr/>
          <p:nvPr/>
        </p:nvSpPr>
        <p:spPr>
          <a:xfrm>
            <a:off x="188563" y="1238793"/>
            <a:ext cx="2438400" cy="2286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4694" y="1534857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r</a:t>
            </a:r>
            <a:endParaRPr lang="en-US" sz="4800" dirty="0"/>
          </a:p>
        </p:txBody>
      </p:sp>
      <p:cxnSp>
        <p:nvCxnSpPr>
          <p:cNvPr id="7" name="Straight Arrow Connector 6"/>
          <p:cNvCxnSpPr>
            <a:endCxn id="4" idx="6"/>
          </p:cNvCxnSpPr>
          <p:nvPr/>
        </p:nvCxnSpPr>
        <p:spPr>
          <a:xfrm>
            <a:off x="1407763" y="2381793"/>
            <a:ext cx="1219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12918" y="1935797"/>
            <a:ext cx="5697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Period, T</a:t>
            </a:r>
            <a:r>
              <a:rPr lang="en-US" sz="3600" dirty="0" smtClean="0"/>
              <a:t>= time for one revolution   (Units: seconds)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22746" y="3246407"/>
                <a:ext cx="3059254" cy="11294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𝜋</m:t>
                          </m:r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𝑟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746" y="3246407"/>
                <a:ext cx="3059254" cy="112947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950797" y="3298176"/>
            <a:ext cx="4177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Speed :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81000" y="4918868"/>
                <a:ext cx="8229600" cy="15969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latin typeface="Cambria Math"/>
                        </a:rPr>
                        <m:t>𝑎</m:t>
                      </m:r>
                      <m:r>
                        <a:rPr lang="en-US" sz="4000" b="0" i="1" baseline="-25000" smtClean="0">
                          <a:latin typeface="Cambria Math"/>
                        </a:rPr>
                        <m:t>𝑐</m:t>
                      </m:r>
                      <m:r>
                        <a:rPr lang="en-US" sz="40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4000" i="1">
                                      <a:latin typeface="Cambria Math"/>
                                    </a:rPr>
                                    <m:t>𝜋</m:t>
                                  </m:r>
                                  <m:r>
                                    <a:rPr lang="en-US" sz="4000" i="1">
                                      <a:latin typeface="Cambria Math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sz="4000" i="1">
                                      <a:latin typeface="Cambria Math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b="0" i="1" smtClean="0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918868"/>
                <a:ext cx="8229600" cy="15969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66054" y="4272537"/>
            <a:ext cx="686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We can rewrite the acceleration:</a:t>
            </a:r>
            <a:endParaRPr lang="en-US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266054" y="2415410"/>
            <a:ext cx="831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C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87434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Given radius and frequency (f):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951131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Frequency  (f)-</a:t>
            </a:r>
            <a:r>
              <a:rPr lang="en-US" sz="3600" dirty="0" smtClean="0"/>
              <a:t> is the number of cycles that occur in one second.  Frequency is the inverse of period.              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657600" y="2681499"/>
                <a:ext cx="2133600" cy="12448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4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4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681499"/>
                <a:ext cx="2133600" cy="124482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83895" y="4343400"/>
                <a:ext cx="6909969" cy="1979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4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>
                              <a:latin typeface="Cambria Math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000" i="1">
                              <a:latin typeface="Cambria Math"/>
                            </a:rPr>
                            <m:t>𝑟</m:t>
                          </m:r>
                        </m:num>
                        <m:den>
                          <m:sSup>
                            <m:sSup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sz="4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4000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4000" i="1">
                                          <a:latin typeface="Cambria Math"/>
                                        </a:rPr>
                                        <m:t>𝑓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4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4000" i="1">
                          <a:latin typeface="Cambria Math"/>
                        </a:rPr>
                        <m:t>=4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4000" i="1"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95" y="4343400"/>
                <a:ext cx="6909969" cy="19799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28600" y="3739866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Substituting this expression in for period:  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312686" y="2949970"/>
            <a:ext cx="326082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Units: s</a:t>
            </a:r>
            <a:r>
              <a:rPr lang="en-US" sz="4000" b="1" baseline="30000" dirty="0">
                <a:solidFill>
                  <a:srgbClr val="FF0000"/>
                </a:solidFill>
              </a:rPr>
              <a:t>-1</a:t>
            </a:r>
            <a:r>
              <a:rPr lang="en-US" sz="4000" b="1" dirty="0">
                <a:solidFill>
                  <a:srgbClr val="FF0000"/>
                </a:solidFill>
              </a:rPr>
              <a:t> or Hz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49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04800"/>
            <a:ext cx="838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Example 2:</a:t>
            </a:r>
            <a:r>
              <a:rPr lang="en-US" sz="2800" dirty="0" smtClean="0"/>
              <a:t> A classic LP vinyl record has a diameter of  12.0 inches (30.5 cm) and rotates at 33.3 rpm (revolutions per minute).  What is the centripetal acceleration of an ant sitting at the outermost edge of this record?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09227" y="2819400"/>
            <a:ext cx="4953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Solution:</a:t>
            </a:r>
          </a:p>
          <a:p>
            <a:r>
              <a:rPr lang="en-US" sz="3200" dirty="0" smtClean="0"/>
              <a:t>r=30.5 cm/2=15.25 cm</a:t>
            </a:r>
          </a:p>
          <a:p>
            <a:endParaRPr lang="en-US" sz="3200" dirty="0" smtClean="0"/>
          </a:p>
          <a:p>
            <a:r>
              <a:rPr lang="en-US" sz="3200" dirty="0" smtClean="0"/>
              <a:t>f=33.3/60.0s =0.555 Hz</a:t>
            </a:r>
          </a:p>
          <a:p>
            <a:endParaRPr lang="en-US" sz="3200" dirty="0"/>
          </a:p>
          <a:p>
            <a:r>
              <a:rPr lang="en-US" sz="3200" dirty="0" smtClean="0"/>
              <a:t>a</a:t>
            </a:r>
            <a:r>
              <a:rPr lang="en-US" sz="3200" baseline="-25000" dirty="0" smtClean="0"/>
              <a:t>c</a:t>
            </a:r>
            <a:r>
              <a:rPr lang="en-US" sz="3200" dirty="0" smtClean="0"/>
              <a:t>=?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876800" y="2819399"/>
                <a:ext cx="3382144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/>
                        </a:rPr>
                        <m:t>𝑎</m:t>
                      </m:r>
                      <m:r>
                        <a:rPr lang="en-US" sz="4400" b="0" i="1" baseline="-25000" smtClean="0">
                          <a:latin typeface="Cambria Math"/>
                        </a:rPr>
                        <m:t>𝑐</m:t>
                      </m:r>
                      <m:r>
                        <a:rPr lang="en-US" sz="4400" b="0" i="1" smtClean="0">
                          <a:latin typeface="Cambria Math"/>
                        </a:rPr>
                        <m:t>=</m:t>
                      </m:r>
                      <m:r>
                        <a:rPr lang="en-US" sz="4400" i="1">
                          <a:latin typeface="Cambria Math"/>
                        </a:rPr>
                        <m:t>4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latin typeface="Cambria Math"/>
                            </a:rPr>
                            <m:t>𝜋</m:t>
                          </m:r>
                        </m:e>
                        <m:sup>
                          <m:r>
                            <a:rPr lang="en-US" sz="4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4400" i="1"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sz="4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819399"/>
                <a:ext cx="3382144" cy="76944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876800" y="3604230"/>
                <a:ext cx="41653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4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(15.25)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(0.555)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3604230"/>
                <a:ext cx="4165307" cy="7694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029200" y="4563108"/>
                <a:ext cx="41653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4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/>
                      </a:rPr>
                      <m:t>(15.25)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/>
                          </a:rPr>
                          <m:t>(0.555)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563108"/>
                <a:ext cx="4165307" cy="7694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034366" y="5484949"/>
                <a:ext cx="276562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400" b="0" dirty="0" smtClean="0"/>
                  <a:t>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=185  </m:t>
                    </m:r>
                    <m:r>
                      <a:rPr lang="en-US" sz="2800" b="0" i="1" smtClean="0">
                        <a:latin typeface="Cambria Math"/>
                      </a:rPr>
                      <m:t>𝑐𝑚</m:t>
                    </m:r>
                    <m:r>
                      <a:rPr lang="en-US" sz="2800" b="0" i="1" smtClean="0">
                        <a:latin typeface="Cambria Math"/>
                      </a:rPr>
                      <m:t>/</m:t>
                    </m:r>
                    <m:r>
                      <a:rPr lang="en-US" sz="2800" b="0" i="1" smtClean="0">
                        <a:latin typeface="Cambria Math"/>
                      </a:rPr>
                      <m:t>𝑠</m:t>
                    </m:r>
                    <m:r>
                      <a:rPr lang="en-US" sz="2800" b="0" i="1" baseline="30000" smtClean="0">
                        <a:latin typeface="Cambria Math"/>
                      </a:rPr>
                      <m:t>2</m:t>
                    </m:r>
                  </m:oMath>
                </a14:m>
                <a:endParaRPr lang="en-US" sz="2800" baseline="30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366" y="5484949"/>
                <a:ext cx="2765629" cy="7694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71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Question 1:</a:t>
            </a:r>
            <a:r>
              <a:rPr lang="en-US" sz="3600" dirty="0" smtClean="0"/>
              <a:t>  The Earth travels around the Sun at a constant orbital speed. At any given point in its travel, the Earth’s acceleration is constant in magnitude and directed: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010585" y="3276600"/>
            <a:ext cx="8133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3600" dirty="0" smtClean="0"/>
              <a:t>tangentially forward along the path</a:t>
            </a:r>
          </a:p>
          <a:p>
            <a:pPr marL="742950" indent="-742950">
              <a:buAutoNum type="alphaLcParenR"/>
            </a:pPr>
            <a:r>
              <a:rPr lang="en-US" sz="3600" dirty="0"/>
              <a:t>t</a:t>
            </a:r>
            <a:r>
              <a:rPr lang="en-US" sz="3600" dirty="0" smtClean="0"/>
              <a:t>angentially backward along the path</a:t>
            </a:r>
          </a:p>
          <a:p>
            <a:pPr marL="742950" indent="-742950">
              <a:buAutoNum type="alphaLcParenR"/>
            </a:pPr>
            <a:r>
              <a:rPr lang="en-US" sz="3600" dirty="0"/>
              <a:t>r</a:t>
            </a:r>
            <a:r>
              <a:rPr lang="en-US" sz="3600" dirty="0" smtClean="0"/>
              <a:t>adially outwards away from the Sun</a:t>
            </a:r>
          </a:p>
          <a:p>
            <a:pPr marL="742950" indent="-742950">
              <a:buAutoNum type="alphaLcParenR"/>
            </a:pPr>
            <a:r>
              <a:rPr lang="en-US" sz="3600" dirty="0"/>
              <a:t>r</a:t>
            </a:r>
            <a:r>
              <a:rPr lang="en-US" sz="3600" dirty="0" smtClean="0"/>
              <a:t>adially inwards towards the Sun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1447800" y="101025"/>
            <a:ext cx="594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Thinking questions: </a:t>
            </a:r>
            <a:endParaRPr lang="en-US" sz="32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88" y="4918441"/>
            <a:ext cx="761695" cy="66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931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 smtClean="0"/>
              <a:t>Question 2:</a:t>
            </a:r>
            <a:r>
              <a:rPr lang="en-US" sz="3600" dirty="0" smtClean="0"/>
              <a:t>  On a merry go round, child A is 1.0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 while child B is 4.0 m from the </a:t>
            </a:r>
            <a:r>
              <a:rPr lang="en-US" sz="3600" dirty="0" err="1" smtClean="0"/>
              <a:t>centre</a:t>
            </a:r>
            <a:r>
              <a:rPr lang="en-US" sz="3600" dirty="0" smtClean="0"/>
              <a:t>, near the outer edge.  How do the magnitudes of their tangential speeds compare?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3700522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A is travelling faster.</a:t>
            </a:r>
          </a:p>
          <a:p>
            <a:pPr marL="742950" indent="-742950">
              <a:buAutoNum type="alphaLcParenR"/>
            </a:pPr>
            <a:r>
              <a:rPr lang="en-US" sz="3600" dirty="0"/>
              <a:t>B</a:t>
            </a:r>
            <a:r>
              <a:rPr lang="en-US" sz="3600" dirty="0" smtClean="0"/>
              <a:t> is travelling faster.</a:t>
            </a:r>
          </a:p>
          <a:p>
            <a:pPr marL="742950" indent="-742950">
              <a:buAutoNum type="alphaLcParenR"/>
            </a:pPr>
            <a:r>
              <a:rPr lang="en-US" sz="3600" dirty="0"/>
              <a:t>They are travelling at the same speed </a:t>
            </a:r>
            <a:endParaRPr lang="en-US" sz="3600" dirty="0" smtClean="0"/>
          </a:p>
          <a:p>
            <a:pPr marL="742950" indent="-742950">
              <a:buAutoNum type="alphaLcParenR"/>
            </a:pPr>
            <a:r>
              <a:rPr lang="en-US" sz="3600" dirty="0" smtClean="0"/>
              <a:t> Impossible to know without knowing the rate of rotation. </a:t>
            </a:r>
            <a:endParaRPr lang="en-US" sz="3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01831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79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432106"/>
            <a:ext cx="4724400" cy="4967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" y="228600"/>
            <a:ext cx="838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 smtClean="0"/>
              <a:t>Question 3:</a:t>
            </a:r>
            <a:r>
              <a:rPr lang="en-US" sz="2800" dirty="0" smtClean="0"/>
              <a:t>  A boy swings a ball on the end of a string at a constant speed in a horizontal circle.  The string breaks at the point shown in the diagram below.  In what direction will the ball move? 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2438400"/>
            <a:ext cx="3581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sz="3600" dirty="0" smtClean="0"/>
              <a:t>A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B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C</a:t>
            </a:r>
          </a:p>
          <a:p>
            <a:pPr marL="342900" indent="-342900">
              <a:buAutoNum type="alphaLcParenR"/>
            </a:pPr>
            <a:r>
              <a:rPr lang="en-US" sz="3600" dirty="0" smtClean="0"/>
              <a:t>The ball will continue in the circular path. </a:t>
            </a:r>
            <a:endParaRPr lang="en-US" sz="36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1316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59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538</Words>
  <Application>Microsoft Office PowerPoint</Application>
  <PresentationFormat>On-screen Show (4:3)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Cambria Math</vt:lpstr>
      <vt:lpstr>Symbol</vt:lpstr>
      <vt:lpstr>Office Theme</vt:lpstr>
      <vt:lpstr>Uniform Circular Motion</vt:lpstr>
      <vt:lpstr>PowerPoint Presentation</vt:lpstr>
      <vt:lpstr>Instantaneous Acceleration Magnitude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Circular Motion</dc:title>
  <dc:creator>Linda</dc:creator>
  <cp:lastModifiedBy>Ryan, Linda</cp:lastModifiedBy>
  <cp:revision>20</cp:revision>
  <cp:lastPrinted>2013-02-19T06:36:18Z</cp:lastPrinted>
  <dcterms:created xsi:type="dcterms:W3CDTF">2011-09-21T10:41:56Z</dcterms:created>
  <dcterms:modified xsi:type="dcterms:W3CDTF">2016-09-26T18:39:38Z</dcterms:modified>
</cp:coreProperties>
</file>