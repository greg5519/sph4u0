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tags/tag8.xml" ContentType="application/vnd.openxmlformats-officedocument.presentationml.tags+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ags/tag4.xml" ContentType="application/vnd.openxmlformats-officedocument.presentationml.tags+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tags/tag29.xml" ContentType="application/vnd.openxmlformats-officedocument.presentationml.tags+xml"/>
  <Override PartName="/ppt/tags/tag38.xml" ContentType="application/vnd.openxmlformats-officedocument.presentationml.tags+xml"/>
  <Override PartName="/ppt/tableStyles.xml" ContentType="application/vnd.openxmlformats-officedocument.presentationml.tableStyles+xml"/>
  <Override PartName="/ppt/slideLayouts/slideLayout11.xml" ContentType="application/vnd.openxmlformats-officedocument.presentationml.slideLayout+xml"/>
  <Override PartName="/ppt/tags/tag16.xml" ContentType="application/vnd.openxmlformats-officedocument.presentationml.tags+xml"/>
  <Override PartName="/ppt/tags/tag18.xml" ContentType="application/vnd.openxmlformats-officedocument.presentationml.tags+xml"/>
  <Override PartName="/ppt/tags/tag27.xml" ContentType="application/vnd.openxmlformats-officedocument.presentationml.tags+xml"/>
  <Override PartName="/ppt/tags/tag36.xml" ContentType="application/vnd.openxmlformats-officedocument.presentationml.tags+xml"/>
  <Override PartName="/ppt/tags/tag45.xml" ContentType="application/vnd.openxmlformats-officedocument.presentationml.tags+xml"/>
  <Override PartName="/ppt/slideLayouts/slideLayout10.xml" ContentType="application/vnd.openxmlformats-officedocument.presentationml.slideLayout+xml"/>
  <Override PartName="/ppt/tags/tag14.xml" ContentType="application/vnd.openxmlformats-officedocument.presentationml.tags+xml"/>
  <Override PartName="/ppt/tags/tag15.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30.xml" ContentType="application/vnd.openxmlformats-officedocument.presentationml.tags+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tags/tag7.xml" ContentType="application/vnd.openxmlformats-officedocument.presentationml.tags+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ags/tag5.xml" ContentType="application/vnd.openxmlformats-officedocument.presentationml.tags+xml"/>
  <Override PartName="/ppt/slides/slide1.xml" ContentType="application/vnd.openxmlformats-officedocument.presentationml.slide+xml"/>
  <Override PartName="/ppt/slideLayouts/slideLayout3.xml" ContentType="application/vnd.openxmlformats-officedocument.presentationml.slideLayout+xml"/>
  <Override PartName="/ppt/tags/tag3.xml" ContentType="application/vnd.openxmlformats-officedocument.presentationml.tags+xml"/>
  <Override PartName="/ppt/tags/tag39.xml" ContentType="application/vnd.openxmlformats-officedocument.presentationml.tags+xml"/>
  <Default Extension="jpeg" ContentType="image/jpeg"/>
  <Override PartName="/ppt/presentation.xml" ContentType="application/vnd.openxmlformats-officedocument.presentationml.presentation.main+xml"/>
  <Override PartName="/ppt/slideLayouts/slideLayout1.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ppt/tags/tag37.xml" ContentType="application/vnd.openxmlformats-officedocument.presentationml.tags+xml"/>
  <Override PartName="/docProps/app.xml" ContentType="application/vnd.openxmlformats-officedocument.extended-properties+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tags/tag46.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59" r:id="rId4"/>
    <p:sldId id="260" r:id="rId5"/>
    <p:sldId id="261" r:id="rId6"/>
    <p:sldId id="263" r:id="rId7"/>
    <p:sldId id="266" r:id="rId8"/>
    <p:sldId id="267"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1098"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CA"/>
          </a:p>
        </p:txBody>
      </p:sp>
      <p:sp>
        <p:nvSpPr>
          <p:cNvPr id="4" name="Date Placeholder 3"/>
          <p:cNvSpPr>
            <a:spLocks noGrp="1"/>
          </p:cNvSpPr>
          <p:nvPr>
            <p:ph type="dt" sz="half" idx="10"/>
          </p:nvPr>
        </p:nvSpPr>
        <p:spPr/>
        <p:txBody>
          <a:bodyPr/>
          <a:lstStyle/>
          <a:p>
            <a:fld id="{8EBC5A85-34E1-4173-BB93-9C75F5F0898C}" type="datetimeFigureOut">
              <a:rPr lang="en-US" smtClean="0"/>
              <a:pPr/>
              <a:t>9/27/2012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p>
            <a:fld id="{8EBC5A85-34E1-4173-BB93-9C75F5F0898C}" type="datetimeFigureOut">
              <a:rPr lang="en-US" smtClean="0"/>
              <a:pPr/>
              <a:t>9/27/2012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EBC5A85-34E1-4173-BB93-9C75F5F0898C}" type="datetimeFigureOut">
              <a:rPr lang="en-US" smtClean="0"/>
              <a:pPr/>
              <a:t>9/27/2012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Date Placeholder 4"/>
          <p:cNvSpPr>
            <a:spLocks noGrp="1"/>
          </p:cNvSpPr>
          <p:nvPr>
            <p:ph type="dt" sz="half" idx="10"/>
          </p:nvPr>
        </p:nvSpPr>
        <p:spPr/>
        <p:txBody>
          <a:bodyPr/>
          <a:lstStyle/>
          <a:p>
            <a:fld id="{8EBC5A85-34E1-4173-BB93-9C75F5F0898C}" type="datetimeFigureOut">
              <a:rPr lang="en-US" smtClean="0"/>
              <a:pPr/>
              <a:t>9/27/2012</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Date Placeholder 6"/>
          <p:cNvSpPr>
            <a:spLocks noGrp="1"/>
          </p:cNvSpPr>
          <p:nvPr>
            <p:ph type="dt" sz="half" idx="10"/>
          </p:nvPr>
        </p:nvSpPr>
        <p:spPr/>
        <p:txBody>
          <a:bodyPr/>
          <a:lstStyle/>
          <a:p>
            <a:fld id="{8EBC5A85-34E1-4173-BB93-9C75F5F0898C}" type="datetimeFigureOut">
              <a:rPr lang="en-US" smtClean="0"/>
              <a:pPr/>
              <a:t>9/27/2012</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2"/>
          <p:cNvSpPr>
            <a:spLocks noGrp="1"/>
          </p:cNvSpPr>
          <p:nvPr>
            <p:ph type="dt" sz="half" idx="10"/>
          </p:nvPr>
        </p:nvSpPr>
        <p:spPr/>
        <p:txBody>
          <a:bodyPr/>
          <a:lstStyle/>
          <a:p>
            <a:fld id="{8EBC5A85-34E1-4173-BB93-9C75F5F0898C}" type="datetimeFigureOut">
              <a:rPr lang="en-US" smtClean="0"/>
              <a:pPr/>
              <a:t>9/27/2012</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BC5A85-34E1-4173-BB93-9C75F5F0898C}" type="datetimeFigureOut">
              <a:rPr lang="en-US" smtClean="0"/>
              <a:pPr/>
              <a:t>9/27/2012</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BC5A85-34E1-4173-BB93-9C75F5F0898C}" type="datetimeFigureOut">
              <a:rPr lang="en-US" smtClean="0"/>
              <a:pPr/>
              <a:t>9/27/2012</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BC5A85-34E1-4173-BB93-9C75F5F0898C}" type="datetimeFigureOut">
              <a:rPr lang="en-US" smtClean="0"/>
              <a:pPr/>
              <a:t>9/27/2012</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p>
            <a:fld id="{8EBC5A85-34E1-4173-BB93-9C75F5F0898C}" type="datetimeFigureOut">
              <a:rPr lang="en-US" smtClean="0"/>
              <a:pPr/>
              <a:t>9/27/2012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p>
            <a:fld id="{8EBC5A85-34E1-4173-BB93-9C75F5F0898C}" type="datetimeFigureOut">
              <a:rPr lang="en-US" smtClean="0"/>
              <a:pPr/>
              <a:t>9/27/2012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p>
            <a:fld id="{8EBC5A85-34E1-4173-BB93-9C75F5F0898C}" type="datetimeFigureOut">
              <a:rPr lang="en-US" smtClean="0"/>
              <a:pPr/>
              <a:t>9/27/2012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CA"/>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BC5A85-34E1-4173-BB93-9C75F5F0898C}" type="datetimeFigureOut">
              <a:rPr lang="en-US" smtClean="0"/>
              <a:pPr/>
              <a:t>9/27/2012</a:t>
            </a:fld>
            <a:endParaRPr lang="en-CA"/>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3DDAE3-0FE5-451E-8CD8-BA9221FAD553}" type="slidenum">
              <a:rPr lang="en-CA" smtClean="0"/>
              <a:pPr/>
              <a:t>‹#›</a:t>
            </a:fld>
            <a:endParaRPr lang="en-CA"/>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4.png"/><Relationship Id="rId5" Type="http://schemas.openxmlformats.org/officeDocument/2006/relationships/tags" Target="../tags/tag5.xml"/><Relationship Id="rId10" Type="http://schemas.openxmlformats.org/officeDocument/2006/relationships/image" Target="../media/image3.png"/><Relationship Id="rId4" Type="http://schemas.openxmlformats.org/officeDocument/2006/relationships/tags" Target="../tags/tag4.xml"/><Relationship Id="rId9"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tags" Target="../tags/tag10.xml"/><Relationship Id="rId7" Type="http://schemas.openxmlformats.org/officeDocument/2006/relationships/tags" Target="../tags/tag14.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image" Target="../media/image3.png"/><Relationship Id="rId5" Type="http://schemas.openxmlformats.org/officeDocument/2006/relationships/tags" Target="../tags/tag12.xml"/><Relationship Id="rId10" Type="http://schemas.openxmlformats.org/officeDocument/2006/relationships/image" Target="../media/image4.png"/><Relationship Id="rId4" Type="http://schemas.openxmlformats.org/officeDocument/2006/relationships/tags" Target="../tags/tag11.xml"/><Relationship Id="rId9"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tags" Target="../tags/tag22.xml"/><Relationship Id="rId3" Type="http://schemas.openxmlformats.org/officeDocument/2006/relationships/tags" Target="../tags/tag17.xml"/><Relationship Id="rId7" Type="http://schemas.openxmlformats.org/officeDocument/2006/relationships/tags" Target="../tags/tag21.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image" Target="../media/image3.png"/><Relationship Id="rId5" Type="http://schemas.openxmlformats.org/officeDocument/2006/relationships/tags" Target="../tags/tag19.xml"/><Relationship Id="rId10" Type="http://schemas.openxmlformats.org/officeDocument/2006/relationships/image" Target="../media/image4.png"/><Relationship Id="rId4" Type="http://schemas.openxmlformats.org/officeDocument/2006/relationships/tags" Target="../tags/tag18.xml"/><Relationship Id="rId9"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image" Target="../media/image4.png"/><Relationship Id="rId5" Type="http://schemas.openxmlformats.org/officeDocument/2006/relationships/tags" Target="../tags/tag27.xml"/><Relationship Id="rId10" Type="http://schemas.openxmlformats.org/officeDocument/2006/relationships/image" Target="../media/image3.png"/><Relationship Id="rId4" Type="http://schemas.openxmlformats.org/officeDocument/2006/relationships/tags" Target="../tags/tag26.xml"/><Relationship Id="rId9"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image" Target="../media/image3.png"/><Relationship Id="rId3" Type="http://schemas.openxmlformats.org/officeDocument/2006/relationships/tags" Target="../tags/tag33.xml"/><Relationship Id="rId7" Type="http://schemas.openxmlformats.org/officeDocument/2006/relationships/tags" Target="../tags/tag37.xml"/><Relationship Id="rId12" Type="http://schemas.openxmlformats.org/officeDocument/2006/relationships/image" Target="../media/image4.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image" Target="../media/image6.png"/><Relationship Id="rId5" Type="http://schemas.openxmlformats.org/officeDocument/2006/relationships/tags" Target="../tags/tag35.xml"/><Relationship Id="rId10" Type="http://schemas.openxmlformats.org/officeDocument/2006/relationships/image" Target="../media/image5.png"/><Relationship Id="rId4" Type="http://schemas.openxmlformats.org/officeDocument/2006/relationships/tags" Target="../tags/tag34.xml"/><Relationship Id="rId9"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tags" Target="../tags/tag46.xml"/><Relationship Id="rId13" Type="http://schemas.openxmlformats.org/officeDocument/2006/relationships/image" Target="../media/image3.png"/><Relationship Id="rId3" Type="http://schemas.openxmlformats.org/officeDocument/2006/relationships/tags" Target="../tags/tag41.xml"/><Relationship Id="rId7" Type="http://schemas.openxmlformats.org/officeDocument/2006/relationships/tags" Target="../tags/tag45.xml"/><Relationship Id="rId12" Type="http://schemas.openxmlformats.org/officeDocument/2006/relationships/image" Target="../media/image4.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image" Target="../media/image8.png"/><Relationship Id="rId5" Type="http://schemas.openxmlformats.org/officeDocument/2006/relationships/tags" Target="../tags/tag43.xml"/><Relationship Id="rId10" Type="http://schemas.openxmlformats.org/officeDocument/2006/relationships/image" Target="../media/image7.png"/><Relationship Id="rId4" Type="http://schemas.openxmlformats.org/officeDocument/2006/relationships/tags" Target="../tags/tag42.xml"/><Relationship Id="rId9"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hyperlink" Target="http://www.youtube.com/watch?v=pyBNImQkRuk"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642910" y="3143248"/>
            <a:ext cx="3714776" cy="3207066"/>
          </a:xfrm>
          <a:prstGeom prst="rect">
            <a:avLst/>
          </a:prstGeom>
          <a:noFill/>
          <a:ln w="9525">
            <a:noFill/>
            <a:miter lim="800000"/>
            <a:headEnd/>
            <a:tailEnd/>
          </a:ln>
          <a:effectLst/>
        </p:spPr>
      </p:pic>
      <p:sp>
        <p:nvSpPr>
          <p:cNvPr id="2" name="Title 1"/>
          <p:cNvSpPr>
            <a:spLocks noGrp="1"/>
          </p:cNvSpPr>
          <p:nvPr>
            <p:ph type="ctrTitle"/>
          </p:nvPr>
        </p:nvSpPr>
        <p:spPr>
          <a:xfrm>
            <a:off x="685800" y="428604"/>
            <a:ext cx="8458200" cy="3143272"/>
          </a:xfrm>
        </p:spPr>
        <p:txBody>
          <a:bodyPr>
            <a:noAutofit/>
          </a:bodyPr>
          <a:lstStyle/>
          <a:p>
            <a:r>
              <a:rPr lang="en-CA" sz="6600" dirty="0" smtClean="0"/>
              <a:t>Frames of Reference </a:t>
            </a:r>
            <a:r>
              <a:rPr lang="en-CA" sz="6600" dirty="0"/>
              <a:t/>
            </a:r>
            <a:br>
              <a:rPr lang="en-CA" sz="6600" dirty="0"/>
            </a:br>
            <a:r>
              <a:rPr lang="en-CA" sz="6600" dirty="0" smtClean="0"/>
              <a:t>and </a:t>
            </a:r>
            <a:br>
              <a:rPr lang="en-CA" sz="6600" dirty="0" smtClean="0"/>
            </a:br>
            <a:r>
              <a:rPr lang="en-CA" sz="6600" dirty="0" smtClean="0"/>
              <a:t>Relative Velocity</a:t>
            </a:r>
            <a:endParaRPr lang="en-CA" sz="66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571472" y="785794"/>
            <a:ext cx="8229600" cy="1143000"/>
          </a:xfrm>
        </p:spPr>
        <p:txBody>
          <a:bodyPr>
            <a:noAutofit/>
          </a:bodyPr>
          <a:lstStyle/>
          <a:p>
            <a:r>
              <a:rPr lang="en-CA" sz="2800" dirty="0"/>
              <a:t>1</a:t>
            </a:r>
            <a:r>
              <a:rPr lang="en-CA" sz="2800" dirty="0" smtClean="0"/>
              <a:t>.A boy on a skateboard, moving at a constant velocity forward, tosses a ball straight up in the air.  Which of the following diagrams correctly shows the ball’s path from the perspective of THE BOY? </a:t>
            </a:r>
            <a:endParaRPr lang="en-CA" sz="2800" dirty="0"/>
          </a:p>
        </p:txBody>
      </p:sp>
      <p:sp>
        <p:nvSpPr>
          <p:cNvPr id="3" name="Text Placeholder 2"/>
          <p:cNvSpPr>
            <a:spLocks noGrp="1"/>
          </p:cNvSpPr>
          <p:nvPr>
            <p:ph type="body" idx="1"/>
            <p:custDataLst>
              <p:tags r:id="rId3"/>
            </p:custDataLst>
          </p:nvPr>
        </p:nvSpPr>
        <p:spPr>
          <a:xfrm>
            <a:off x="7150100" y="3568700"/>
            <a:ext cx="711200" cy="2286000"/>
          </a:xfrm>
        </p:spPr>
        <p:txBody>
          <a:bodyPr>
            <a:normAutofit/>
          </a:bodyPr>
          <a:lstStyle/>
          <a:p>
            <a:pPr marL="514350" indent="-514350">
              <a:buAutoNum type="alphaUcPeriod"/>
            </a:pPr>
            <a:r>
              <a:rPr lang="en-CA" dirty="0" smtClean="0"/>
              <a:t>      </a:t>
            </a:r>
          </a:p>
          <a:p>
            <a:pPr marL="514350" indent="-514350">
              <a:buAutoNum type="alphaUcPeriod"/>
            </a:pPr>
            <a:r>
              <a:rPr lang="en-CA" dirty="0" smtClean="0"/>
              <a:t>              </a:t>
            </a:r>
          </a:p>
          <a:p>
            <a:pPr marL="514350" indent="-514350">
              <a:buAutoNum type="alphaUcPeriod"/>
            </a:pPr>
            <a:r>
              <a:rPr lang="en-CA" dirty="0" smtClean="0"/>
              <a:t>           </a:t>
            </a:r>
            <a:endParaRPr lang="en-CA" dirty="0"/>
          </a:p>
        </p:txBody>
      </p:sp>
      <p:sp>
        <p:nvSpPr>
          <p:cNvPr id="4" name="TextBox 3" hidden="1"/>
          <p:cNvSpPr txBox="1"/>
          <p:nvPr>
            <p:custDataLst>
              <p:tags r:id="rId4"/>
            </p:custDataLst>
          </p:nvPr>
        </p:nvSpPr>
        <p:spPr>
          <a:xfrm>
            <a:off x="457200" y="4318000"/>
            <a:ext cx="7620000" cy="923330"/>
          </a:xfrm>
          <a:prstGeom prst="rect">
            <a:avLst/>
          </a:prstGeom>
          <a:noFill/>
        </p:spPr>
        <p:txBody>
          <a:bodyPr vert="horz" rtlCol="0">
            <a:spAutoFit/>
          </a:bodyPr>
          <a:lstStyle/>
          <a:p>
            <a:r>
              <a:rPr lang="en-US" dirty="0" smtClean="0"/>
              <a:t>[Default]</a:t>
            </a:r>
          </a:p>
          <a:p>
            <a:r>
              <a:rPr lang="en-US" dirty="0" smtClean="0"/>
              <a:t>[MC Any]</a:t>
            </a:r>
          </a:p>
          <a:p>
            <a:r>
              <a:rPr lang="en-US" dirty="0" smtClean="0"/>
              <a:t>[MC All]</a:t>
            </a:r>
            <a:endParaRPr lang="en-CA" dirty="0"/>
          </a:p>
        </p:txBody>
      </p:sp>
      <p:pic>
        <p:nvPicPr>
          <p:cNvPr id="3953" name="Picture 2"/>
          <p:cNvPicPr>
            <a:picLocks noChangeAspect="1" noChangeArrowheads="1"/>
          </p:cNvPicPr>
          <p:nvPr/>
        </p:nvPicPr>
        <p:blipFill>
          <a:blip r:embed="rId9" cstate="print"/>
          <a:srcRect/>
          <a:stretch>
            <a:fillRect/>
          </a:stretch>
        </p:blipFill>
        <p:spPr bwMode="auto">
          <a:xfrm>
            <a:off x="2000232" y="2500306"/>
            <a:ext cx="4467225" cy="2867025"/>
          </a:xfrm>
          <a:prstGeom prst="rect">
            <a:avLst/>
          </a:prstGeom>
          <a:noFill/>
          <a:ln w="9525">
            <a:noFill/>
            <a:miter lim="800000"/>
            <a:headEnd/>
            <a:tailEnd/>
          </a:ln>
          <a:effectLst/>
        </p:spPr>
      </p:pic>
      <p:cxnSp>
        <p:nvCxnSpPr>
          <p:cNvPr id="34" name="Straight Arrow Connector 33"/>
          <p:cNvCxnSpPr/>
          <p:nvPr/>
        </p:nvCxnSpPr>
        <p:spPr>
          <a:xfrm>
            <a:off x="6143636" y="2571744"/>
            <a:ext cx="135732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6929454" y="2714620"/>
            <a:ext cx="1285884" cy="369332"/>
          </a:xfrm>
          <a:prstGeom prst="rect">
            <a:avLst/>
          </a:prstGeom>
          <a:noFill/>
        </p:spPr>
        <p:txBody>
          <a:bodyPr wrap="square" rtlCol="0">
            <a:spAutoFit/>
          </a:bodyPr>
          <a:lstStyle/>
          <a:p>
            <a:r>
              <a:rPr lang="en-CA" dirty="0" smtClean="0"/>
              <a:t>Forward</a:t>
            </a:r>
            <a:endParaRPr lang="en-CA" dirty="0"/>
          </a:p>
        </p:txBody>
      </p:sp>
      <p:pic>
        <p:nvPicPr>
          <p:cNvPr id="36" name="Picture 35" descr="correct.png"/>
          <p:cNvPicPr>
            <a:picLocks/>
          </p:cNvPicPr>
          <p:nvPr>
            <p:custDataLst>
              <p:tags r:id="rId5"/>
            </p:custDataLst>
          </p:nvPr>
        </p:nvPicPr>
        <p:blipFill>
          <a:blip r:embed="rId10" cstate="print"/>
          <a:stretch>
            <a:fillRect/>
          </a:stretch>
        </p:blipFill>
        <p:spPr>
          <a:xfrm>
            <a:off x="6819900" y="3619500"/>
            <a:ext cx="330200" cy="330200"/>
          </a:xfrm>
          <a:prstGeom prst="rect">
            <a:avLst/>
          </a:prstGeom>
        </p:spPr>
      </p:pic>
      <p:pic>
        <p:nvPicPr>
          <p:cNvPr id="37" name="Picture 36" descr="wrong.png"/>
          <p:cNvPicPr>
            <a:picLocks/>
          </p:cNvPicPr>
          <p:nvPr>
            <p:custDataLst>
              <p:tags r:id="rId6"/>
            </p:custDataLst>
          </p:nvPr>
        </p:nvPicPr>
        <p:blipFill>
          <a:blip r:embed="rId11" cstate="print"/>
          <a:stretch>
            <a:fillRect/>
          </a:stretch>
        </p:blipFill>
        <p:spPr>
          <a:xfrm>
            <a:off x="6819900" y="4102100"/>
            <a:ext cx="330200" cy="330200"/>
          </a:xfrm>
          <a:prstGeom prst="rect">
            <a:avLst/>
          </a:prstGeom>
        </p:spPr>
      </p:pic>
      <p:pic>
        <p:nvPicPr>
          <p:cNvPr id="38" name="Picture 37" descr="wrong.png"/>
          <p:cNvPicPr>
            <a:picLocks/>
          </p:cNvPicPr>
          <p:nvPr>
            <p:custDataLst>
              <p:tags r:id="rId7"/>
            </p:custDataLst>
          </p:nvPr>
        </p:nvPicPr>
        <p:blipFill>
          <a:blip r:embed="rId11" cstate="print"/>
          <a:stretch>
            <a:fillRect/>
          </a:stretch>
        </p:blipFill>
        <p:spPr>
          <a:xfrm>
            <a:off x="6819900" y="4686300"/>
            <a:ext cx="330200" cy="330200"/>
          </a:xfrm>
          <a:prstGeom prst="rect">
            <a:avLst/>
          </a:prstGeom>
        </p:spPr>
      </p:pic>
    </p:spTree>
    <p:custDataLst>
      <p:tags r:id="rId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53" name="Picture 2"/>
          <p:cNvPicPr>
            <a:picLocks noChangeAspect="1" noChangeArrowheads="1"/>
          </p:cNvPicPr>
          <p:nvPr/>
        </p:nvPicPr>
        <p:blipFill>
          <a:blip r:embed="rId9" cstate="print"/>
          <a:srcRect/>
          <a:stretch>
            <a:fillRect/>
          </a:stretch>
        </p:blipFill>
        <p:spPr bwMode="auto">
          <a:xfrm>
            <a:off x="1643042" y="2071678"/>
            <a:ext cx="4467225" cy="2867025"/>
          </a:xfrm>
          <a:prstGeom prst="rect">
            <a:avLst/>
          </a:prstGeom>
          <a:noFill/>
          <a:ln w="9525">
            <a:noFill/>
            <a:miter lim="800000"/>
            <a:headEnd/>
            <a:tailEnd/>
          </a:ln>
          <a:effectLst/>
        </p:spPr>
      </p:pic>
      <p:sp>
        <p:nvSpPr>
          <p:cNvPr id="2" name="Title 1"/>
          <p:cNvSpPr>
            <a:spLocks noGrp="1"/>
          </p:cNvSpPr>
          <p:nvPr>
            <p:ph type="title"/>
            <p:custDataLst>
              <p:tags r:id="rId2"/>
            </p:custDataLst>
          </p:nvPr>
        </p:nvSpPr>
        <p:spPr>
          <a:xfrm>
            <a:off x="571472" y="785794"/>
            <a:ext cx="8229600" cy="1143000"/>
          </a:xfrm>
        </p:spPr>
        <p:txBody>
          <a:bodyPr>
            <a:noAutofit/>
          </a:bodyPr>
          <a:lstStyle/>
          <a:p>
            <a:r>
              <a:rPr lang="en-CA" sz="2800" dirty="0" smtClean="0"/>
              <a:t>2. A boy on a skateboard, moving at a constant velocity forward, tosses a ball straight up in the air.  Which of the following diagrams correctly shows the ball’s path from the perspective of a person standing on the ground? </a:t>
            </a:r>
            <a:endParaRPr lang="en-CA" sz="2800" dirty="0"/>
          </a:p>
        </p:txBody>
      </p:sp>
      <p:sp>
        <p:nvSpPr>
          <p:cNvPr id="3" name="Text Placeholder 2"/>
          <p:cNvSpPr>
            <a:spLocks noGrp="1"/>
          </p:cNvSpPr>
          <p:nvPr>
            <p:ph type="body" idx="1"/>
            <p:custDataLst>
              <p:tags r:id="rId3"/>
            </p:custDataLst>
          </p:nvPr>
        </p:nvSpPr>
        <p:spPr>
          <a:xfrm>
            <a:off x="7150100" y="3568700"/>
            <a:ext cx="711200" cy="2286000"/>
          </a:xfrm>
        </p:spPr>
        <p:txBody>
          <a:bodyPr>
            <a:normAutofit/>
          </a:bodyPr>
          <a:lstStyle/>
          <a:p>
            <a:pPr marL="514350" indent="-514350">
              <a:buAutoNum type="alphaUcPeriod"/>
            </a:pPr>
            <a:r>
              <a:rPr lang="en-CA" dirty="0" smtClean="0"/>
              <a:t>      </a:t>
            </a:r>
          </a:p>
          <a:p>
            <a:pPr marL="514350" indent="-514350">
              <a:buAutoNum type="alphaUcPeriod"/>
            </a:pPr>
            <a:r>
              <a:rPr lang="en-CA" dirty="0" smtClean="0"/>
              <a:t>              </a:t>
            </a:r>
          </a:p>
          <a:p>
            <a:pPr marL="514350" indent="-514350">
              <a:buAutoNum type="alphaUcPeriod"/>
            </a:pPr>
            <a:r>
              <a:rPr lang="en-CA" dirty="0" smtClean="0"/>
              <a:t>           </a:t>
            </a:r>
            <a:endParaRPr lang="en-CA" dirty="0"/>
          </a:p>
        </p:txBody>
      </p:sp>
      <p:sp>
        <p:nvSpPr>
          <p:cNvPr id="4" name="TextBox 3"/>
          <p:cNvSpPr txBox="1"/>
          <p:nvPr>
            <p:custDataLst>
              <p:tags r:id="rId4"/>
            </p:custDataLst>
          </p:nvPr>
        </p:nvSpPr>
        <p:spPr>
          <a:xfrm>
            <a:off x="457200" y="4318000"/>
            <a:ext cx="7620000" cy="923330"/>
          </a:xfrm>
          <a:prstGeom prst="rect">
            <a:avLst/>
          </a:prstGeom>
          <a:noFill/>
        </p:spPr>
        <p:txBody>
          <a:bodyPr vert="horz" rtlCol="0">
            <a:spAutoFit/>
          </a:bodyPr>
          <a:lstStyle/>
          <a:p>
            <a:r>
              <a:rPr lang="en-US" dirty="0" smtClean="0"/>
              <a:t>[Default]</a:t>
            </a:r>
          </a:p>
          <a:p>
            <a:r>
              <a:rPr lang="en-US" dirty="0" smtClean="0"/>
              <a:t>[MC Any]</a:t>
            </a:r>
          </a:p>
          <a:p>
            <a:r>
              <a:rPr lang="en-US" dirty="0" smtClean="0"/>
              <a:t>[MC All]</a:t>
            </a:r>
            <a:endParaRPr lang="en-CA" dirty="0"/>
          </a:p>
        </p:txBody>
      </p:sp>
      <p:sp>
        <p:nvSpPr>
          <p:cNvPr id="33" name="TextBox 32"/>
          <p:cNvSpPr txBox="1"/>
          <p:nvPr/>
        </p:nvSpPr>
        <p:spPr>
          <a:xfrm>
            <a:off x="7072330" y="2571744"/>
            <a:ext cx="1285884" cy="369332"/>
          </a:xfrm>
          <a:prstGeom prst="rect">
            <a:avLst/>
          </a:prstGeom>
          <a:noFill/>
        </p:spPr>
        <p:txBody>
          <a:bodyPr wrap="square" rtlCol="0">
            <a:spAutoFit/>
          </a:bodyPr>
          <a:lstStyle/>
          <a:p>
            <a:r>
              <a:rPr lang="en-CA" dirty="0" smtClean="0"/>
              <a:t>Forward</a:t>
            </a:r>
            <a:endParaRPr lang="en-CA" dirty="0"/>
          </a:p>
        </p:txBody>
      </p:sp>
      <p:cxnSp>
        <p:nvCxnSpPr>
          <p:cNvPr id="52" name="Straight Arrow Connector 51"/>
          <p:cNvCxnSpPr/>
          <p:nvPr/>
        </p:nvCxnSpPr>
        <p:spPr>
          <a:xfrm>
            <a:off x="6143636" y="2571744"/>
            <a:ext cx="135732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29" name="Picture 28" descr="wrong.png"/>
          <p:cNvPicPr>
            <a:picLocks/>
          </p:cNvPicPr>
          <p:nvPr>
            <p:custDataLst>
              <p:tags r:id="rId5"/>
            </p:custDataLst>
          </p:nvPr>
        </p:nvPicPr>
        <p:blipFill>
          <a:blip r:embed="rId10" cstate="print"/>
          <a:stretch>
            <a:fillRect/>
          </a:stretch>
        </p:blipFill>
        <p:spPr>
          <a:xfrm>
            <a:off x="6819900" y="3619500"/>
            <a:ext cx="330200" cy="330200"/>
          </a:xfrm>
          <a:prstGeom prst="rect">
            <a:avLst/>
          </a:prstGeom>
        </p:spPr>
      </p:pic>
      <p:pic>
        <p:nvPicPr>
          <p:cNvPr id="30" name="Picture 29" descr="wrong.png"/>
          <p:cNvPicPr>
            <a:picLocks/>
          </p:cNvPicPr>
          <p:nvPr>
            <p:custDataLst>
              <p:tags r:id="rId6"/>
            </p:custDataLst>
          </p:nvPr>
        </p:nvPicPr>
        <p:blipFill>
          <a:blip r:embed="rId10" cstate="print"/>
          <a:stretch>
            <a:fillRect/>
          </a:stretch>
        </p:blipFill>
        <p:spPr>
          <a:xfrm>
            <a:off x="6819900" y="4102100"/>
            <a:ext cx="330200" cy="330200"/>
          </a:xfrm>
          <a:prstGeom prst="rect">
            <a:avLst/>
          </a:prstGeom>
        </p:spPr>
      </p:pic>
      <p:pic>
        <p:nvPicPr>
          <p:cNvPr id="31" name="Picture 30" descr="correct.png"/>
          <p:cNvPicPr>
            <a:picLocks/>
          </p:cNvPicPr>
          <p:nvPr>
            <p:custDataLst>
              <p:tags r:id="rId7"/>
            </p:custDataLst>
          </p:nvPr>
        </p:nvPicPr>
        <p:blipFill>
          <a:blip r:embed="rId11" cstate="print"/>
          <a:stretch>
            <a:fillRect/>
          </a:stretch>
        </p:blipFill>
        <p:spPr>
          <a:xfrm>
            <a:off x="6819900" y="4686300"/>
            <a:ext cx="330200" cy="330200"/>
          </a:xfrm>
          <a:prstGeom prst="rect">
            <a:avLst/>
          </a:prstGeom>
        </p:spPr>
      </p:pic>
    </p:spTree>
    <p:custDataLst>
      <p:tags r:id="rId1"/>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571472" y="785794"/>
            <a:ext cx="8229600" cy="1143000"/>
          </a:xfrm>
        </p:spPr>
        <p:txBody>
          <a:bodyPr>
            <a:noAutofit/>
          </a:bodyPr>
          <a:lstStyle/>
          <a:p>
            <a:r>
              <a:rPr lang="en-CA" sz="2800" dirty="0"/>
              <a:t>3</a:t>
            </a:r>
            <a:r>
              <a:rPr lang="en-CA" sz="2800" dirty="0" smtClean="0"/>
              <a:t>. A person is walking forward at 5.0 km/h on a train travelling at 42.0 km/h [East].  What is the person’s velocity relative to the ground? </a:t>
            </a:r>
            <a:endParaRPr lang="en-CA" sz="2800" dirty="0"/>
          </a:p>
        </p:txBody>
      </p:sp>
      <p:sp>
        <p:nvSpPr>
          <p:cNvPr id="3" name="Text Placeholder 2"/>
          <p:cNvSpPr>
            <a:spLocks noGrp="1"/>
          </p:cNvSpPr>
          <p:nvPr>
            <p:ph type="body" idx="1"/>
            <p:custDataLst>
              <p:tags r:id="rId3"/>
            </p:custDataLst>
          </p:nvPr>
        </p:nvSpPr>
        <p:spPr>
          <a:xfrm>
            <a:off x="2857500" y="2641600"/>
            <a:ext cx="3797300" cy="2286000"/>
          </a:xfrm>
        </p:spPr>
        <p:txBody>
          <a:bodyPr>
            <a:normAutofit lnSpcReduction="10000"/>
          </a:bodyPr>
          <a:lstStyle/>
          <a:p>
            <a:pPr marL="514350" indent="-514350">
              <a:buAutoNum type="alphaUcPeriod"/>
            </a:pPr>
            <a:r>
              <a:rPr lang="en-CA" dirty="0" smtClean="0"/>
              <a:t>42.0 km/h [East]      </a:t>
            </a:r>
          </a:p>
          <a:p>
            <a:pPr marL="514350" indent="-514350">
              <a:buAutoNum type="alphaUcPeriod"/>
            </a:pPr>
            <a:r>
              <a:rPr lang="en-CA" dirty="0" smtClean="0"/>
              <a:t>37.0 km/h [West]              </a:t>
            </a:r>
          </a:p>
          <a:p>
            <a:pPr marL="514350" indent="-514350">
              <a:buAutoNum type="alphaUcPeriod"/>
            </a:pPr>
            <a:r>
              <a:rPr lang="en-CA" dirty="0" smtClean="0"/>
              <a:t>47.0 km/h [East]</a:t>
            </a:r>
          </a:p>
          <a:p>
            <a:pPr marL="514350" indent="-514350">
              <a:buAutoNum type="alphaUcPeriod"/>
            </a:pPr>
            <a:r>
              <a:rPr lang="en-CA" dirty="0" smtClean="0"/>
              <a:t>47.0 km/h [West]</a:t>
            </a:r>
            <a:endParaRPr lang="en-CA" dirty="0"/>
          </a:p>
        </p:txBody>
      </p:sp>
      <p:sp>
        <p:nvSpPr>
          <p:cNvPr id="4" name="TextBox 3" hidden="1"/>
          <p:cNvSpPr txBox="1"/>
          <p:nvPr>
            <p:custDataLst>
              <p:tags r:id="rId4"/>
            </p:custDataLst>
          </p:nvPr>
        </p:nvSpPr>
        <p:spPr>
          <a:xfrm>
            <a:off x="457200" y="4318000"/>
            <a:ext cx="7620000" cy="923330"/>
          </a:xfrm>
          <a:prstGeom prst="rect">
            <a:avLst/>
          </a:prstGeom>
          <a:noFill/>
        </p:spPr>
        <p:txBody>
          <a:bodyPr vert="horz" rtlCol="0">
            <a:spAutoFit/>
          </a:bodyPr>
          <a:lstStyle/>
          <a:p>
            <a:r>
              <a:rPr lang="en-US" dirty="0" smtClean="0"/>
              <a:t>[Default]</a:t>
            </a:r>
          </a:p>
          <a:p>
            <a:r>
              <a:rPr lang="en-US" dirty="0" smtClean="0"/>
              <a:t>[MC Any]</a:t>
            </a:r>
          </a:p>
          <a:p>
            <a:r>
              <a:rPr lang="en-US" dirty="0" smtClean="0"/>
              <a:t>[MC All]</a:t>
            </a:r>
            <a:endParaRPr lang="en-CA" dirty="0"/>
          </a:p>
        </p:txBody>
      </p:sp>
      <p:pic>
        <p:nvPicPr>
          <p:cNvPr id="39" name="Picture 38" descr="wrong.png"/>
          <p:cNvPicPr>
            <a:picLocks/>
          </p:cNvPicPr>
          <p:nvPr>
            <p:custDataLst>
              <p:tags r:id="rId5"/>
            </p:custDataLst>
          </p:nvPr>
        </p:nvPicPr>
        <p:blipFill>
          <a:blip r:embed="rId10" cstate="print"/>
          <a:stretch>
            <a:fillRect/>
          </a:stretch>
        </p:blipFill>
        <p:spPr>
          <a:xfrm>
            <a:off x="2527300" y="2692400"/>
            <a:ext cx="330200" cy="330200"/>
          </a:xfrm>
          <a:prstGeom prst="rect">
            <a:avLst/>
          </a:prstGeom>
        </p:spPr>
      </p:pic>
      <p:pic>
        <p:nvPicPr>
          <p:cNvPr id="40" name="Picture 39" descr="wrong.png"/>
          <p:cNvPicPr>
            <a:picLocks/>
          </p:cNvPicPr>
          <p:nvPr>
            <p:custDataLst>
              <p:tags r:id="rId6"/>
            </p:custDataLst>
          </p:nvPr>
        </p:nvPicPr>
        <p:blipFill>
          <a:blip r:embed="rId10" cstate="print"/>
          <a:stretch>
            <a:fillRect/>
          </a:stretch>
        </p:blipFill>
        <p:spPr>
          <a:xfrm>
            <a:off x="2527300" y="3124200"/>
            <a:ext cx="330200" cy="330200"/>
          </a:xfrm>
          <a:prstGeom prst="rect">
            <a:avLst/>
          </a:prstGeom>
        </p:spPr>
      </p:pic>
      <p:pic>
        <p:nvPicPr>
          <p:cNvPr id="41" name="Picture 40" descr="correct.png"/>
          <p:cNvPicPr>
            <a:picLocks/>
          </p:cNvPicPr>
          <p:nvPr>
            <p:custDataLst>
              <p:tags r:id="rId7"/>
            </p:custDataLst>
          </p:nvPr>
        </p:nvPicPr>
        <p:blipFill>
          <a:blip r:embed="rId11" cstate="print"/>
          <a:stretch>
            <a:fillRect/>
          </a:stretch>
        </p:blipFill>
        <p:spPr>
          <a:xfrm>
            <a:off x="2527300" y="3657600"/>
            <a:ext cx="330200" cy="330200"/>
          </a:xfrm>
          <a:prstGeom prst="rect">
            <a:avLst/>
          </a:prstGeom>
        </p:spPr>
      </p:pic>
      <p:pic>
        <p:nvPicPr>
          <p:cNvPr id="42" name="Picture 41" descr="wrong.png"/>
          <p:cNvPicPr>
            <a:picLocks/>
          </p:cNvPicPr>
          <p:nvPr>
            <p:custDataLst>
              <p:tags r:id="rId8"/>
            </p:custDataLst>
          </p:nvPr>
        </p:nvPicPr>
        <p:blipFill>
          <a:blip r:embed="rId10" cstate="print"/>
          <a:stretch>
            <a:fillRect/>
          </a:stretch>
        </p:blipFill>
        <p:spPr>
          <a:xfrm>
            <a:off x="2527300" y="4203700"/>
            <a:ext cx="330200" cy="330200"/>
          </a:xfrm>
          <a:prstGeom prst="rect">
            <a:avLst/>
          </a:prstGeom>
        </p:spPr>
      </p:pic>
    </p:spTree>
    <p:custDataLst>
      <p:tags r:id="rId1"/>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571472" y="785794"/>
            <a:ext cx="8229600" cy="1143000"/>
          </a:xfrm>
        </p:spPr>
        <p:txBody>
          <a:bodyPr>
            <a:noAutofit/>
          </a:bodyPr>
          <a:lstStyle/>
          <a:p>
            <a:r>
              <a:rPr lang="en-CA" sz="2800" dirty="0" smtClean="0"/>
              <a:t>4. A person is walking backwards at 3.0 km/h on a train travelling at 50.0 km/h [North].  What is the person’s velocity relative to the ground? </a:t>
            </a:r>
            <a:endParaRPr lang="en-CA" sz="2800" dirty="0"/>
          </a:p>
        </p:txBody>
      </p:sp>
      <p:sp>
        <p:nvSpPr>
          <p:cNvPr id="3" name="Text Placeholder 2"/>
          <p:cNvSpPr>
            <a:spLocks noGrp="1"/>
          </p:cNvSpPr>
          <p:nvPr>
            <p:ph type="body" idx="1"/>
            <p:custDataLst>
              <p:tags r:id="rId3"/>
            </p:custDataLst>
          </p:nvPr>
        </p:nvSpPr>
        <p:spPr>
          <a:xfrm>
            <a:off x="2997200" y="2362200"/>
            <a:ext cx="3797300" cy="2286000"/>
          </a:xfrm>
        </p:spPr>
        <p:txBody>
          <a:bodyPr>
            <a:normAutofit lnSpcReduction="10000"/>
          </a:bodyPr>
          <a:lstStyle/>
          <a:p>
            <a:pPr marL="514350" indent="-514350">
              <a:buAutoNum type="alphaUcPeriod"/>
            </a:pPr>
            <a:r>
              <a:rPr lang="en-CA" dirty="0" smtClean="0"/>
              <a:t>47.0 km/h [North]      </a:t>
            </a:r>
          </a:p>
          <a:p>
            <a:pPr marL="514350" indent="-514350">
              <a:buAutoNum type="alphaUcPeriod"/>
            </a:pPr>
            <a:r>
              <a:rPr lang="en-CA" dirty="0" smtClean="0"/>
              <a:t>53.0 km/h [North]              </a:t>
            </a:r>
          </a:p>
          <a:p>
            <a:pPr marL="514350" indent="-514350">
              <a:buAutoNum type="alphaUcPeriod"/>
            </a:pPr>
            <a:r>
              <a:rPr lang="en-CA" dirty="0" smtClean="0"/>
              <a:t>50.0 km/h [North]</a:t>
            </a:r>
          </a:p>
          <a:p>
            <a:pPr marL="514350" indent="-514350">
              <a:buAutoNum type="alphaUcPeriod"/>
            </a:pPr>
            <a:r>
              <a:rPr lang="en-CA" dirty="0" smtClean="0"/>
              <a:t>47.0 km/h [South]</a:t>
            </a:r>
            <a:endParaRPr lang="en-CA" dirty="0"/>
          </a:p>
        </p:txBody>
      </p:sp>
      <p:sp>
        <p:nvSpPr>
          <p:cNvPr id="4" name="TextBox 3" hidden="1"/>
          <p:cNvSpPr txBox="1"/>
          <p:nvPr>
            <p:custDataLst>
              <p:tags r:id="rId4"/>
            </p:custDataLst>
          </p:nvPr>
        </p:nvSpPr>
        <p:spPr>
          <a:xfrm>
            <a:off x="457200" y="4318000"/>
            <a:ext cx="7620000" cy="923330"/>
          </a:xfrm>
          <a:prstGeom prst="rect">
            <a:avLst/>
          </a:prstGeom>
          <a:noFill/>
        </p:spPr>
        <p:txBody>
          <a:bodyPr vert="horz" rtlCol="0">
            <a:spAutoFit/>
          </a:bodyPr>
          <a:lstStyle/>
          <a:p>
            <a:r>
              <a:rPr lang="en-US" dirty="0" smtClean="0"/>
              <a:t>[Default]</a:t>
            </a:r>
          </a:p>
          <a:p>
            <a:r>
              <a:rPr lang="en-US" dirty="0" smtClean="0"/>
              <a:t>[MC Any]</a:t>
            </a:r>
          </a:p>
          <a:p>
            <a:r>
              <a:rPr lang="en-US" dirty="0" smtClean="0"/>
              <a:t>[MC All]</a:t>
            </a:r>
            <a:endParaRPr lang="en-CA" dirty="0"/>
          </a:p>
        </p:txBody>
      </p:sp>
      <p:pic>
        <p:nvPicPr>
          <p:cNvPr id="39" name="Picture 38" descr="correct.png"/>
          <p:cNvPicPr>
            <a:picLocks/>
          </p:cNvPicPr>
          <p:nvPr>
            <p:custDataLst>
              <p:tags r:id="rId5"/>
            </p:custDataLst>
          </p:nvPr>
        </p:nvPicPr>
        <p:blipFill>
          <a:blip r:embed="rId10" cstate="print"/>
          <a:stretch>
            <a:fillRect/>
          </a:stretch>
        </p:blipFill>
        <p:spPr>
          <a:xfrm>
            <a:off x="2667000" y="2413000"/>
            <a:ext cx="330200" cy="330200"/>
          </a:xfrm>
          <a:prstGeom prst="rect">
            <a:avLst/>
          </a:prstGeom>
        </p:spPr>
      </p:pic>
      <p:pic>
        <p:nvPicPr>
          <p:cNvPr id="40" name="Picture 39" descr="wrong.png"/>
          <p:cNvPicPr>
            <a:picLocks/>
          </p:cNvPicPr>
          <p:nvPr>
            <p:custDataLst>
              <p:tags r:id="rId6"/>
            </p:custDataLst>
          </p:nvPr>
        </p:nvPicPr>
        <p:blipFill>
          <a:blip r:embed="rId11" cstate="print"/>
          <a:stretch>
            <a:fillRect/>
          </a:stretch>
        </p:blipFill>
        <p:spPr>
          <a:xfrm>
            <a:off x="2667000" y="2844800"/>
            <a:ext cx="330200" cy="330200"/>
          </a:xfrm>
          <a:prstGeom prst="rect">
            <a:avLst/>
          </a:prstGeom>
        </p:spPr>
      </p:pic>
      <p:pic>
        <p:nvPicPr>
          <p:cNvPr id="41" name="Picture 40" descr="wrong.png"/>
          <p:cNvPicPr>
            <a:picLocks/>
          </p:cNvPicPr>
          <p:nvPr>
            <p:custDataLst>
              <p:tags r:id="rId7"/>
            </p:custDataLst>
          </p:nvPr>
        </p:nvPicPr>
        <p:blipFill>
          <a:blip r:embed="rId11" cstate="print"/>
          <a:stretch>
            <a:fillRect/>
          </a:stretch>
        </p:blipFill>
        <p:spPr>
          <a:xfrm>
            <a:off x="2667000" y="3378200"/>
            <a:ext cx="330200" cy="330200"/>
          </a:xfrm>
          <a:prstGeom prst="rect">
            <a:avLst/>
          </a:prstGeom>
        </p:spPr>
      </p:pic>
      <p:pic>
        <p:nvPicPr>
          <p:cNvPr id="42" name="Picture 41" descr="wrong.png"/>
          <p:cNvPicPr>
            <a:picLocks/>
          </p:cNvPicPr>
          <p:nvPr>
            <p:custDataLst>
              <p:tags r:id="rId8"/>
            </p:custDataLst>
          </p:nvPr>
        </p:nvPicPr>
        <p:blipFill>
          <a:blip r:embed="rId11" cstate="print"/>
          <a:stretch>
            <a:fillRect/>
          </a:stretch>
        </p:blipFill>
        <p:spPr>
          <a:xfrm>
            <a:off x="2667000" y="3924300"/>
            <a:ext cx="330200" cy="330200"/>
          </a:xfrm>
          <a:prstGeom prst="rect">
            <a:avLst/>
          </a:prstGeom>
        </p:spPr>
      </p:pic>
    </p:spTree>
    <p:custDataLst>
      <p:tags r:id="rId1"/>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571472" y="785794"/>
            <a:ext cx="8229600" cy="1714512"/>
          </a:xfrm>
        </p:spPr>
        <p:txBody>
          <a:bodyPr>
            <a:noAutofit/>
          </a:bodyPr>
          <a:lstStyle/>
          <a:p>
            <a:r>
              <a:rPr lang="en-CA" sz="2800" dirty="0" smtClean="0"/>
              <a:t>5. On two different days a swimmer wishes to cross a stream. On Day 1, the stream is moving so slowly the water is essentially at rest.  On Day 2, the Hydro Dam has opened the gates upstream and the current is much faster.  This affects the swimmer’s path as shown below. Which crossing takes the least time? </a:t>
            </a:r>
            <a:endParaRPr lang="en-CA" sz="2800" dirty="0"/>
          </a:p>
        </p:txBody>
      </p:sp>
      <p:sp>
        <p:nvSpPr>
          <p:cNvPr id="3" name="Text Placeholder 2"/>
          <p:cNvSpPr>
            <a:spLocks noGrp="1"/>
          </p:cNvSpPr>
          <p:nvPr>
            <p:ph type="body" idx="1"/>
            <p:custDataLst>
              <p:tags r:id="rId3"/>
            </p:custDataLst>
          </p:nvPr>
        </p:nvSpPr>
        <p:spPr>
          <a:xfrm>
            <a:off x="2997200" y="4076700"/>
            <a:ext cx="5486400" cy="2501900"/>
          </a:xfrm>
        </p:spPr>
        <p:txBody>
          <a:bodyPr>
            <a:normAutofit fontScale="85000" lnSpcReduction="10000"/>
          </a:bodyPr>
          <a:lstStyle/>
          <a:p>
            <a:pPr marL="514350" indent="-514350">
              <a:buAutoNum type="alphaUcPeriod"/>
            </a:pPr>
            <a:r>
              <a:rPr lang="en-CA" dirty="0" smtClean="0"/>
              <a:t>Day 1</a:t>
            </a:r>
          </a:p>
          <a:p>
            <a:pPr marL="514350" indent="-514350">
              <a:buAutoNum type="alphaUcPeriod"/>
            </a:pPr>
            <a:r>
              <a:rPr lang="en-CA" dirty="0" smtClean="0"/>
              <a:t>Day 2             </a:t>
            </a:r>
          </a:p>
          <a:p>
            <a:pPr marL="514350" indent="-514350">
              <a:buAutoNum type="alphaUcPeriod"/>
            </a:pPr>
            <a:r>
              <a:rPr lang="en-CA" dirty="0" smtClean="0"/>
              <a:t>Both crossings take the same time</a:t>
            </a:r>
          </a:p>
          <a:p>
            <a:pPr marL="514350" indent="-514350">
              <a:buAutoNum type="alphaUcPeriod"/>
            </a:pPr>
            <a:r>
              <a:rPr lang="en-CA" dirty="0" smtClean="0"/>
              <a:t>You can’t tell without knowing the speed of the current.</a:t>
            </a:r>
          </a:p>
        </p:txBody>
      </p:sp>
      <p:sp>
        <p:nvSpPr>
          <p:cNvPr id="4" name="TextBox 3" hidden="1"/>
          <p:cNvSpPr txBox="1"/>
          <p:nvPr>
            <p:custDataLst>
              <p:tags r:id="rId4"/>
            </p:custDataLst>
          </p:nvPr>
        </p:nvSpPr>
        <p:spPr>
          <a:xfrm>
            <a:off x="457200" y="4318000"/>
            <a:ext cx="7620000" cy="923330"/>
          </a:xfrm>
          <a:prstGeom prst="rect">
            <a:avLst/>
          </a:prstGeom>
          <a:noFill/>
        </p:spPr>
        <p:txBody>
          <a:bodyPr vert="horz" rtlCol="0">
            <a:spAutoFit/>
          </a:bodyPr>
          <a:lstStyle/>
          <a:p>
            <a:r>
              <a:rPr lang="en-US" dirty="0" smtClean="0"/>
              <a:t>[Default]</a:t>
            </a:r>
          </a:p>
          <a:p>
            <a:r>
              <a:rPr lang="en-US" dirty="0" smtClean="0"/>
              <a:t>[MC Any]</a:t>
            </a:r>
          </a:p>
          <a:p>
            <a:r>
              <a:rPr lang="en-US" dirty="0" smtClean="0"/>
              <a:t>[MC All]</a:t>
            </a:r>
            <a:endParaRPr lang="en-CA" dirty="0"/>
          </a:p>
        </p:txBody>
      </p:sp>
      <p:pic>
        <p:nvPicPr>
          <p:cNvPr id="5" name="Picture 2"/>
          <p:cNvPicPr>
            <a:picLocks noChangeAspect="1" noChangeArrowheads="1"/>
          </p:cNvPicPr>
          <p:nvPr/>
        </p:nvPicPr>
        <p:blipFill>
          <a:blip r:embed="rId10" cstate="print"/>
          <a:srcRect/>
          <a:stretch>
            <a:fillRect/>
          </a:stretch>
        </p:blipFill>
        <p:spPr bwMode="auto">
          <a:xfrm>
            <a:off x="428596" y="2857496"/>
            <a:ext cx="2438400" cy="1371600"/>
          </a:xfrm>
          <a:prstGeom prst="rect">
            <a:avLst/>
          </a:prstGeom>
          <a:noFill/>
          <a:ln w="9525">
            <a:noFill/>
            <a:miter lim="800000"/>
            <a:headEnd/>
            <a:tailEnd/>
          </a:ln>
          <a:effectLst/>
        </p:spPr>
      </p:pic>
      <p:pic>
        <p:nvPicPr>
          <p:cNvPr id="6" name="Picture 3"/>
          <p:cNvPicPr>
            <a:picLocks noChangeAspect="1" noChangeArrowheads="1"/>
          </p:cNvPicPr>
          <p:nvPr/>
        </p:nvPicPr>
        <p:blipFill>
          <a:blip r:embed="rId11" cstate="print"/>
          <a:srcRect/>
          <a:stretch>
            <a:fillRect/>
          </a:stretch>
        </p:blipFill>
        <p:spPr bwMode="auto">
          <a:xfrm>
            <a:off x="4929190" y="3000372"/>
            <a:ext cx="2619375" cy="1466850"/>
          </a:xfrm>
          <a:prstGeom prst="rect">
            <a:avLst/>
          </a:prstGeom>
          <a:noFill/>
          <a:ln w="9525">
            <a:noFill/>
            <a:miter lim="800000"/>
            <a:headEnd/>
            <a:tailEnd/>
          </a:ln>
          <a:effectLst/>
        </p:spPr>
      </p:pic>
      <p:pic>
        <p:nvPicPr>
          <p:cNvPr id="49" name="Picture 48" descr="wrong.png"/>
          <p:cNvPicPr>
            <a:picLocks/>
          </p:cNvPicPr>
          <p:nvPr>
            <p:custDataLst>
              <p:tags r:id="rId5"/>
            </p:custDataLst>
          </p:nvPr>
        </p:nvPicPr>
        <p:blipFill>
          <a:blip r:embed="rId12" cstate="print"/>
          <a:stretch>
            <a:fillRect/>
          </a:stretch>
        </p:blipFill>
        <p:spPr>
          <a:xfrm>
            <a:off x="2667000" y="4127500"/>
            <a:ext cx="330200" cy="330200"/>
          </a:xfrm>
          <a:prstGeom prst="rect">
            <a:avLst/>
          </a:prstGeom>
        </p:spPr>
      </p:pic>
      <p:pic>
        <p:nvPicPr>
          <p:cNvPr id="50" name="Picture 49" descr="wrong.png"/>
          <p:cNvPicPr>
            <a:picLocks/>
          </p:cNvPicPr>
          <p:nvPr>
            <p:custDataLst>
              <p:tags r:id="rId6"/>
            </p:custDataLst>
          </p:nvPr>
        </p:nvPicPr>
        <p:blipFill>
          <a:blip r:embed="rId12" cstate="print"/>
          <a:stretch>
            <a:fillRect/>
          </a:stretch>
        </p:blipFill>
        <p:spPr>
          <a:xfrm>
            <a:off x="2667000" y="4495800"/>
            <a:ext cx="330200" cy="330200"/>
          </a:xfrm>
          <a:prstGeom prst="rect">
            <a:avLst/>
          </a:prstGeom>
        </p:spPr>
      </p:pic>
      <p:pic>
        <p:nvPicPr>
          <p:cNvPr id="51" name="Picture 50" descr="correct.png"/>
          <p:cNvPicPr>
            <a:picLocks/>
          </p:cNvPicPr>
          <p:nvPr>
            <p:custDataLst>
              <p:tags r:id="rId7"/>
            </p:custDataLst>
          </p:nvPr>
        </p:nvPicPr>
        <p:blipFill>
          <a:blip r:embed="rId13" cstate="print"/>
          <a:stretch>
            <a:fillRect/>
          </a:stretch>
        </p:blipFill>
        <p:spPr>
          <a:xfrm>
            <a:off x="2667000" y="4940300"/>
            <a:ext cx="330200" cy="330200"/>
          </a:xfrm>
          <a:prstGeom prst="rect">
            <a:avLst/>
          </a:prstGeom>
        </p:spPr>
      </p:pic>
      <p:pic>
        <p:nvPicPr>
          <p:cNvPr id="52" name="Picture 51" descr="wrong.png"/>
          <p:cNvPicPr>
            <a:picLocks/>
          </p:cNvPicPr>
          <p:nvPr>
            <p:custDataLst>
              <p:tags r:id="rId8"/>
            </p:custDataLst>
          </p:nvPr>
        </p:nvPicPr>
        <p:blipFill>
          <a:blip r:embed="rId12" cstate="print"/>
          <a:stretch>
            <a:fillRect/>
          </a:stretch>
        </p:blipFill>
        <p:spPr>
          <a:xfrm>
            <a:off x="2667000" y="5397500"/>
            <a:ext cx="330200" cy="330200"/>
          </a:xfrm>
          <a:prstGeom prst="rect">
            <a:avLst/>
          </a:prstGeom>
        </p:spPr>
      </p:pic>
    </p:spTree>
    <p:custDataLst>
      <p:tags r:id="rId1"/>
    </p:custData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1" name="Picture 6"/>
          <p:cNvPicPr>
            <a:picLocks noChangeAspect="1" noChangeArrowheads="1"/>
          </p:cNvPicPr>
          <p:nvPr/>
        </p:nvPicPr>
        <p:blipFill>
          <a:blip r:embed="rId10" cstate="print"/>
          <a:srcRect/>
          <a:stretch>
            <a:fillRect/>
          </a:stretch>
        </p:blipFill>
        <p:spPr bwMode="auto">
          <a:xfrm>
            <a:off x="0" y="2428868"/>
            <a:ext cx="3214678" cy="1857558"/>
          </a:xfrm>
          <a:prstGeom prst="rect">
            <a:avLst/>
          </a:prstGeom>
          <a:noFill/>
          <a:ln w="9525">
            <a:noFill/>
            <a:miter lim="800000"/>
            <a:headEnd/>
            <a:tailEnd/>
          </a:ln>
          <a:effectLst/>
        </p:spPr>
      </p:pic>
      <p:sp>
        <p:nvSpPr>
          <p:cNvPr id="2" name="Title 1"/>
          <p:cNvSpPr>
            <a:spLocks noGrp="1"/>
          </p:cNvSpPr>
          <p:nvPr>
            <p:ph type="title"/>
            <p:custDataLst>
              <p:tags r:id="rId2"/>
            </p:custDataLst>
          </p:nvPr>
        </p:nvSpPr>
        <p:spPr>
          <a:xfrm>
            <a:off x="428596" y="571480"/>
            <a:ext cx="8229600" cy="2143132"/>
          </a:xfrm>
        </p:spPr>
        <p:txBody>
          <a:bodyPr>
            <a:noAutofit/>
          </a:bodyPr>
          <a:lstStyle/>
          <a:p>
            <a:r>
              <a:rPr lang="en-CA" sz="2800" dirty="0" smtClean="0"/>
              <a:t>6. </a:t>
            </a:r>
            <a:r>
              <a:rPr lang="en-CA" sz="2400" dirty="0" smtClean="0"/>
              <a:t>Two swimmers, Happy and Lazy, have an urgent desire to cross a moving river.  Happy decides to compensate for the current by heading northwest so that his resultant path takes him directly across the river.  Lazy decides to go with the flow and points north but lands downstream of where he started.  If both swim at the same speed relative to water, who makes it across the river first?  </a:t>
            </a:r>
            <a:endParaRPr lang="en-CA" sz="2400" dirty="0"/>
          </a:p>
        </p:txBody>
      </p:sp>
      <p:sp>
        <p:nvSpPr>
          <p:cNvPr id="3" name="Text Placeholder 2"/>
          <p:cNvSpPr>
            <a:spLocks noGrp="1"/>
          </p:cNvSpPr>
          <p:nvPr>
            <p:ph type="body" idx="1"/>
            <p:custDataLst>
              <p:tags r:id="rId3"/>
            </p:custDataLst>
          </p:nvPr>
        </p:nvSpPr>
        <p:spPr>
          <a:xfrm>
            <a:off x="3357554" y="3571876"/>
            <a:ext cx="5130800" cy="2857500"/>
          </a:xfrm>
        </p:spPr>
        <p:txBody>
          <a:bodyPr>
            <a:normAutofit fontScale="85000" lnSpcReduction="10000"/>
          </a:bodyPr>
          <a:lstStyle/>
          <a:p>
            <a:pPr marL="514350" indent="-514350">
              <a:buAutoNum type="alphaUcPeriod"/>
            </a:pPr>
            <a:r>
              <a:rPr lang="en-CA" dirty="0" smtClean="0"/>
              <a:t>They arrive at the same time.</a:t>
            </a:r>
          </a:p>
          <a:p>
            <a:pPr marL="514350" indent="-514350">
              <a:buAutoNum type="alphaUcPeriod"/>
            </a:pPr>
            <a:r>
              <a:rPr lang="en-CA" dirty="0"/>
              <a:t> </a:t>
            </a:r>
            <a:r>
              <a:rPr lang="en-CA" dirty="0" smtClean="0"/>
              <a:t>Happy arrives first.        </a:t>
            </a:r>
          </a:p>
          <a:p>
            <a:pPr marL="514350" indent="-514350">
              <a:buAutoNum type="alphaUcPeriod"/>
            </a:pPr>
            <a:r>
              <a:rPr lang="en-CA" dirty="0" smtClean="0"/>
              <a:t>Lazy arrives first.</a:t>
            </a:r>
          </a:p>
          <a:p>
            <a:pPr marL="514350" indent="-514350">
              <a:buAutoNum type="alphaUcPeriod"/>
            </a:pPr>
            <a:r>
              <a:rPr lang="en-CA" dirty="0" smtClean="0"/>
              <a:t> It’s impossible to tell without knowing their speeds and the current speed.          </a:t>
            </a:r>
            <a:endParaRPr lang="en-CA" dirty="0"/>
          </a:p>
        </p:txBody>
      </p:sp>
      <p:sp>
        <p:nvSpPr>
          <p:cNvPr id="4" name="TextBox 3"/>
          <p:cNvSpPr txBox="1"/>
          <p:nvPr>
            <p:custDataLst>
              <p:tags r:id="rId4"/>
            </p:custDataLst>
          </p:nvPr>
        </p:nvSpPr>
        <p:spPr>
          <a:xfrm>
            <a:off x="714348" y="5572140"/>
            <a:ext cx="7620000" cy="923330"/>
          </a:xfrm>
          <a:prstGeom prst="rect">
            <a:avLst/>
          </a:prstGeom>
          <a:noFill/>
        </p:spPr>
        <p:txBody>
          <a:bodyPr vert="horz" rtlCol="0">
            <a:spAutoFit/>
          </a:bodyPr>
          <a:lstStyle/>
          <a:p>
            <a:r>
              <a:rPr lang="en-US" dirty="0" smtClean="0"/>
              <a:t>[Default]</a:t>
            </a:r>
          </a:p>
          <a:p>
            <a:r>
              <a:rPr lang="en-US" dirty="0" smtClean="0"/>
              <a:t>[MC Any]</a:t>
            </a:r>
          </a:p>
          <a:p>
            <a:r>
              <a:rPr lang="en-US" dirty="0" smtClean="0"/>
              <a:t>[MC All]</a:t>
            </a:r>
            <a:endParaRPr lang="en-CA" dirty="0"/>
          </a:p>
        </p:txBody>
      </p:sp>
      <p:pic>
        <p:nvPicPr>
          <p:cNvPr id="11674" name="Picture 5"/>
          <p:cNvPicPr>
            <a:picLocks noChangeAspect="1" noChangeArrowheads="1"/>
          </p:cNvPicPr>
          <p:nvPr/>
        </p:nvPicPr>
        <p:blipFill>
          <a:blip r:embed="rId11" cstate="print"/>
          <a:srcRect/>
          <a:stretch>
            <a:fillRect/>
          </a:stretch>
        </p:blipFill>
        <p:spPr bwMode="auto">
          <a:xfrm>
            <a:off x="0" y="4286256"/>
            <a:ext cx="1875248" cy="857256"/>
          </a:xfrm>
          <a:prstGeom prst="rect">
            <a:avLst/>
          </a:prstGeom>
          <a:noFill/>
          <a:ln w="9525">
            <a:noFill/>
            <a:miter lim="800000"/>
            <a:headEnd/>
            <a:tailEnd/>
          </a:ln>
          <a:effectLst/>
          <a:scene3d>
            <a:camera prst="isometricTopUp"/>
            <a:lightRig rig="threePt" dir="t"/>
          </a:scene3d>
        </p:spPr>
      </p:pic>
      <p:pic>
        <p:nvPicPr>
          <p:cNvPr id="41" name="Picture 40" descr="wrong.png"/>
          <p:cNvPicPr>
            <a:picLocks/>
          </p:cNvPicPr>
          <p:nvPr>
            <p:custDataLst>
              <p:tags r:id="rId5"/>
            </p:custDataLst>
          </p:nvPr>
        </p:nvPicPr>
        <p:blipFill>
          <a:blip r:embed="rId12" cstate="print"/>
          <a:stretch>
            <a:fillRect/>
          </a:stretch>
        </p:blipFill>
        <p:spPr>
          <a:xfrm>
            <a:off x="3000364" y="3643314"/>
            <a:ext cx="330200" cy="330200"/>
          </a:xfrm>
          <a:prstGeom prst="rect">
            <a:avLst/>
          </a:prstGeom>
        </p:spPr>
      </p:pic>
      <p:pic>
        <p:nvPicPr>
          <p:cNvPr id="42" name="Picture 41" descr="wrong.png"/>
          <p:cNvPicPr>
            <a:picLocks/>
          </p:cNvPicPr>
          <p:nvPr>
            <p:custDataLst>
              <p:tags r:id="rId6"/>
            </p:custDataLst>
          </p:nvPr>
        </p:nvPicPr>
        <p:blipFill>
          <a:blip r:embed="rId12" cstate="print"/>
          <a:stretch>
            <a:fillRect/>
          </a:stretch>
        </p:blipFill>
        <p:spPr>
          <a:xfrm>
            <a:off x="3071802" y="4143380"/>
            <a:ext cx="330200" cy="330200"/>
          </a:xfrm>
          <a:prstGeom prst="rect">
            <a:avLst/>
          </a:prstGeom>
        </p:spPr>
      </p:pic>
      <p:pic>
        <p:nvPicPr>
          <p:cNvPr id="43" name="Picture 42" descr="correct.png"/>
          <p:cNvPicPr>
            <a:picLocks/>
          </p:cNvPicPr>
          <p:nvPr>
            <p:custDataLst>
              <p:tags r:id="rId7"/>
            </p:custDataLst>
          </p:nvPr>
        </p:nvPicPr>
        <p:blipFill>
          <a:blip r:embed="rId13" cstate="print"/>
          <a:stretch>
            <a:fillRect/>
          </a:stretch>
        </p:blipFill>
        <p:spPr>
          <a:xfrm>
            <a:off x="3071802" y="4500570"/>
            <a:ext cx="330200" cy="330200"/>
          </a:xfrm>
          <a:prstGeom prst="rect">
            <a:avLst/>
          </a:prstGeom>
        </p:spPr>
      </p:pic>
      <p:pic>
        <p:nvPicPr>
          <p:cNvPr id="44" name="Picture 43" descr="wrong.png"/>
          <p:cNvPicPr>
            <a:picLocks/>
          </p:cNvPicPr>
          <p:nvPr>
            <p:custDataLst>
              <p:tags r:id="rId8"/>
            </p:custDataLst>
          </p:nvPr>
        </p:nvPicPr>
        <p:blipFill>
          <a:blip r:embed="rId12" cstate="print"/>
          <a:stretch>
            <a:fillRect/>
          </a:stretch>
        </p:blipFill>
        <p:spPr>
          <a:xfrm>
            <a:off x="3071802" y="5072074"/>
            <a:ext cx="330200" cy="330200"/>
          </a:xfrm>
          <a:prstGeom prst="rect">
            <a:avLst/>
          </a:prstGeom>
        </p:spPr>
      </p:pic>
    </p:spTree>
    <p:custDataLst>
      <p:tags r:id="rId1"/>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Frames of Reference</a:t>
            </a:r>
            <a:endParaRPr lang="en-CA" dirty="0"/>
          </a:p>
        </p:txBody>
      </p:sp>
      <p:sp>
        <p:nvSpPr>
          <p:cNvPr id="7" name="TextBox 6"/>
          <p:cNvSpPr txBox="1"/>
          <p:nvPr/>
        </p:nvSpPr>
        <p:spPr>
          <a:xfrm>
            <a:off x="1714480" y="2071678"/>
            <a:ext cx="4071966" cy="369332"/>
          </a:xfrm>
          <a:prstGeom prst="rect">
            <a:avLst/>
          </a:prstGeom>
          <a:noFill/>
        </p:spPr>
        <p:txBody>
          <a:bodyPr wrap="square" rtlCol="0">
            <a:spAutoFit/>
          </a:bodyPr>
          <a:lstStyle/>
          <a:p>
            <a:r>
              <a:rPr lang="en-CA" dirty="0" smtClean="0">
                <a:hlinkClick r:id="rId2"/>
              </a:rPr>
              <a:t>Frames of reference video....</a:t>
            </a:r>
            <a:endParaRPr lang="en-CA" dirty="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PSSLIDEREVISION" val="1.0.0"/>
  <p:tag name="CPSSLIDETEMPLATE" val="MC4 - Answer Graphics"/>
  <p:tag name="CORRECTANSWERSTEM" val="0"/>
</p:tagLst>
</file>

<file path=ppt/tags/tag2.xml><?xml version="1.0" encoding="utf-8"?>
<p:tagLst xmlns:a="http://schemas.openxmlformats.org/drawingml/2006/main" xmlns:r="http://schemas.openxmlformats.org/officeDocument/2006/relationships" xmlns:p="http://schemas.openxmlformats.org/presentationml/2006/main">
  <p:tag name="CPSSHAPETYPE" val="QuestionStem"/>
</p:tagLst>
</file>

<file path=ppt/tags/tag3.xml><?xml version="1.0" encoding="utf-8"?>
<p:tagLst xmlns:a="http://schemas.openxmlformats.org/drawingml/2006/main" xmlns:r="http://schemas.openxmlformats.org/officeDocument/2006/relationships" xmlns:p="http://schemas.openxmlformats.org/presentationml/2006/main">
  <p:tag name="CPSSHAPETYPE" val="AnswerStems"/>
</p:tagLst>
</file>

<file path=ppt/tags/tag4.xml><?xml version="1.0" encoding="utf-8"?>
<p:tagLst xmlns:a="http://schemas.openxmlformats.org/drawingml/2006/main" xmlns:r="http://schemas.openxmlformats.org/officeDocument/2006/relationships" xmlns:p="http://schemas.openxmlformats.org/presentationml/2006/main">
  <p:tag name="CPSSHAPETYPE" val="MCTypes"/>
</p:tagLst>
</file>

<file path=ppt/tags/tag5.xml><?xml version="1.0" encoding="utf-8"?>
<p:tagLst xmlns:a="http://schemas.openxmlformats.org/drawingml/2006/main" xmlns:r="http://schemas.openxmlformats.org/officeDocument/2006/relationships" xmlns:p="http://schemas.openxmlformats.org/presentationml/2006/main">
  <p:tag name="CPSSHAPETYPE" val="Correct"/>
  <p:tag name="ANSWERSTEMINDEX" val="0"/>
</p:tagLst>
</file>

<file path=ppt/tags/tag6.xml><?xml version="1.0" encoding="utf-8"?>
<p:tagLst xmlns:a="http://schemas.openxmlformats.org/drawingml/2006/main" xmlns:r="http://schemas.openxmlformats.org/officeDocument/2006/relationships" xmlns:p="http://schemas.openxmlformats.org/presentationml/2006/main">
  <p:tag name="CPSSHAPETYPE" val="Incorrect"/>
  <p:tag name="ANSWERSTEMINDEX" val="1"/>
</p:tagLst>
</file>

<file path=ppt/tags/tag7.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8.xml><?xml version="1.0" encoding="utf-8"?>
<p:tagLst xmlns:a="http://schemas.openxmlformats.org/drawingml/2006/main" xmlns:r="http://schemas.openxmlformats.org/officeDocument/2006/relationships" xmlns:p="http://schemas.openxmlformats.org/presentationml/2006/main">
  <p:tag name="CPSSLIDEREVISION" val="1.0.0"/>
  <p:tag name="CPSSLIDETEMPLATE" val="MC4 - Answer Graphics"/>
  <p:tag name="CORRECTANSWERSTEM" val="2"/>
</p:tagLst>
</file>

<file path=ppt/tags/tag9.xml><?xml version="1.0" encoding="utf-8"?>
<p:tagLst xmlns:a="http://schemas.openxmlformats.org/drawingml/2006/main" xmlns:r="http://schemas.openxmlformats.org/officeDocument/2006/relationships" xmlns:p="http://schemas.openxmlformats.org/presentationml/2006/main">
  <p:tag name="CPSSHAPETYPE" val="QuestionStem"/>
</p:tagLst>
</file>

<file path=ppt/tags/tag10.xml><?xml version="1.0" encoding="utf-8"?>
<p:tagLst xmlns:a="http://schemas.openxmlformats.org/drawingml/2006/main" xmlns:r="http://schemas.openxmlformats.org/officeDocument/2006/relationships" xmlns:p="http://schemas.openxmlformats.org/presentationml/2006/main">
  <p:tag name="CPSSHAPETYPE" val="AnswerStems"/>
</p:tagLst>
</file>

<file path=ppt/tags/tag11.xml><?xml version="1.0" encoding="utf-8"?>
<p:tagLst xmlns:a="http://schemas.openxmlformats.org/drawingml/2006/main" xmlns:r="http://schemas.openxmlformats.org/officeDocument/2006/relationships" xmlns:p="http://schemas.openxmlformats.org/presentationml/2006/main">
  <p:tag name="CPSSHAPETYPE" val="MCTypes"/>
</p:tagLst>
</file>

<file path=ppt/tags/tag12.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13.xml><?xml version="1.0" encoding="utf-8"?>
<p:tagLst xmlns:a="http://schemas.openxmlformats.org/drawingml/2006/main" xmlns:r="http://schemas.openxmlformats.org/officeDocument/2006/relationships" xmlns:p="http://schemas.openxmlformats.org/presentationml/2006/main">
  <p:tag name="CPSSHAPETYPE" val="Incorrect"/>
  <p:tag name="ANSWERSTEMINDEX" val="1"/>
</p:tagLst>
</file>

<file path=ppt/tags/tag14.xml><?xml version="1.0" encoding="utf-8"?>
<p:tagLst xmlns:a="http://schemas.openxmlformats.org/drawingml/2006/main" xmlns:r="http://schemas.openxmlformats.org/officeDocument/2006/relationships" xmlns:p="http://schemas.openxmlformats.org/presentationml/2006/main">
  <p:tag name="CPSSHAPETYPE" val="Correct"/>
  <p:tag name="ANSWERSTEMINDEX" val="2"/>
</p:tagLst>
</file>

<file path=ppt/tags/tag15.xml><?xml version="1.0" encoding="utf-8"?>
<p:tagLst xmlns:a="http://schemas.openxmlformats.org/drawingml/2006/main" xmlns:r="http://schemas.openxmlformats.org/officeDocument/2006/relationships" xmlns:p="http://schemas.openxmlformats.org/presentationml/2006/main">
  <p:tag name="CPSSLIDEREVISION" val="1.0.0"/>
  <p:tag name="CPSSLIDETEMPLATE" val="MC4 - Answer Graphics"/>
  <p:tag name="CORRECTANSWERSTEM" val="2"/>
</p:tagLst>
</file>

<file path=ppt/tags/tag16.xml><?xml version="1.0" encoding="utf-8"?>
<p:tagLst xmlns:a="http://schemas.openxmlformats.org/drawingml/2006/main" xmlns:r="http://schemas.openxmlformats.org/officeDocument/2006/relationships" xmlns:p="http://schemas.openxmlformats.org/presentationml/2006/main">
  <p:tag name="CPSSHAPETYPE" val="QuestionStem"/>
</p:tagLst>
</file>

<file path=ppt/tags/tag17.xml><?xml version="1.0" encoding="utf-8"?>
<p:tagLst xmlns:a="http://schemas.openxmlformats.org/drawingml/2006/main" xmlns:r="http://schemas.openxmlformats.org/officeDocument/2006/relationships" xmlns:p="http://schemas.openxmlformats.org/presentationml/2006/main">
  <p:tag name="CPSSHAPETYPE" val="AnswerStems"/>
</p:tagLst>
</file>

<file path=ppt/tags/tag18.xml><?xml version="1.0" encoding="utf-8"?>
<p:tagLst xmlns:a="http://schemas.openxmlformats.org/drawingml/2006/main" xmlns:r="http://schemas.openxmlformats.org/officeDocument/2006/relationships" xmlns:p="http://schemas.openxmlformats.org/presentationml/2006/main">
  <p:tag name="CPSSHAPETYPE" val="MCTypes"/>
</p:tagLst>
</file>

<file path=ppt/tags/tag19.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20.xml><?xml version="1.0" encoding="utf-8"?>
<p:tagLst xmlns:a="http://schemas.openxmlformats.org/drawingml/2006/main" xmlns:r="http://schemas.openxmlformats.org/officeDocument/2006/relationships" xmlns:p="http://schemas.openxmlformats.org/presentationml/2006/main">
  <p:tag name="CPSSHAPETYPE" val="Incorrect"/>
  <p:tag name="ANSWERSTEMINDEX" val="1"/>
</p:tagLst>
</file>

<file path=ppt/tags/tag21.xml><?xml version="1.0" encoding="utf-8"?>
<p:tagLst xmlns:a="http://schemas.openxmlformats.org/drawingml/2006/main" xmlns:r="http://schemas.openxmlformats.org/officeDocument/2006/relationships" xmlns:p="http://schemas.openxmlformats.org/presentationml/2006/main">
  <p:tag name="CPSSHAPETYPE" val="Correct"/>
  <p:tag name="ANSWERSTEMINDEX" val="2"/>
</p:tagLst>
</file>

<file path=ppt/tags/tag22.xml><?xml version="1.0" encoding="utf-8"?>
<p:tagLst xmlns:a="http://schemas.openxmlformats.org/drawingml/2006/main" xmlns:r="http://schemas.openxmlformats.org/officeDocument/2006/relationships" xmlns:p="http://schemas.openxmlformats.org/presentationml/2006/main">
  <p:tag name="CPSSHAPETYPE" val="Incorrect"/>
  <p:tag name="ANSWERSTEMINDEX" val="3"/>
</p:tagLst>
</file>

<file path=ppt/tags/tag23.xml><?xml version="1.0" encoding="utf-8"?>
<p:tagLst xmlns:a="http://schemas.openxmlformats.org/drawingml/2006/main" xmlns:r="http://schemas.openxmlformats.org/officeDocument/2006/relationships" xmlns:p="http://schemas.openxmlformats.org/presentationml/2006/main">
  <p:tag name="CPSSLIDEREVISION" val="1.0.0"/>
  <p:tag name="CPSSLIDETEMPLATE" val="MC4 - Answer Graphics"/>
  <p:tag name="CORRECTANSWERSTEM" val="0"/>
</p:tagLst>
</file>

<file path=ppt/tags/tag24.xml><?xml version="1.0" encoding="utf-8"?>
<p:tagLst xmlns:a="http://schemas.openxmlformats.org/drawingml/2006/main" xmlns:r="http://schemas.openxmlformats.org/officeDocument/2006/relationships" xmlns:p="http://schemas.openxmlformats.org/presentationml/2006/main">
  <p:tag name="CPSSHAPETYPE" val="QuestionStem"/>
</p:tagLst>
</file>

<file path=ppt/tags/tag25.xml><?xml version="1.0" encoding="utf-8"?>
<p:tagLst xmlns:a="http://schemas.openxmlformats.org/drawingml/2006/main" xmlns:r="http://schemas.openxmlformats.org/officeDocument/2006/relationships" xmlns:p="http://schemas.openxmlformats.org/presentationml/2006/main">
  <p:tag name="CPSSHAPETYPE" val="AnswerStems"/>
</p:tagLst>
</file>

<file path=ppt/tags/tag26.xml><?xml version="1.0" encoding="utf-8"?>
<p:tagLst xmlns:a="http://schemas.openxmlformats.org/drawingml/2006/main" xmlns:r="http://schemas.openxmlformats.org/officeDocument/2006/relationships" xmlns:p="http://schemas.openxmlformats.org/presentationml/2006/main">
  <p:tag name="CPSSHAPETYPE" val="MCTypes"/>
</p:tagLst>
</file>

<file path=ppt/tags/tag27.xml><?xml version="1.0" encoding="utf-8"?>
<p:tagLst xmlns:a="http://schemas.openxmlformats.org/drawingml/2006/main" xmlns:r="http://schemas.openxmlformats.org/officeDocument/2006/relationships" xmlns:p="http://schemas.openxmlformats.org/presentationml/2006/main">
  <p:tag name="CPSSHAPETYPE" val="Correct"/>
  <p:tag name="ANSWERSTEMINDEX" val="0"/>
</p:tagLst>
</file>

<file path=ppt/tags/tag28.xml><?xml version="1.0" encoding="utf-8"?>
<p:tagLst xmlns:a="http://schemas.openxmlformats.org/drawingml/2006/main" xmlns:r="http://schemas.openxmlformats.org/officeDocument/2006/relationships" xmlns:p="http://schemas.openxmlformats.org/presentationml/2006/main">
  <p:tag name="CPSSHAPETYPE" val="Incorrect"/>
  <p:tag name="ANSWERSTEMINDEX" val="1"/>
</p:tagLst>
</file>

<file path=ppt/tags/tag29.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30.xml><?xml version="1.0" encoding="utf-8"?>
<p:tagLst xmlns:a="http://schemas.openxmlformats.org/drawingml/2006/main" xmlns:r="http://schemas.openxmlformats.org/officeDocument/2006/relationships" xmlns:p="http://schemas.openxmlformats.org/presentationml/2006/main">
  <p:tag name="CPSSHAPETYPE" val="Incorrect"/>
  <p:tag name="ANSWERSTEMINDEX" val="3"/>
</p:tagLst>
</file>

<file path=ppt/tags/tag31.xml><?xml version="1.0" encoding="utf-8"?>
<p:tagLst xmlns:a="http://schemas.openxmlformats.org/drawingml/2006/main" xmlns:r="http://schemas.openxmlformats.org/officeDocument/2006/relationships" xmlns:p="http://schemas.openxmlformats.org/presentationml/2006/main">
  <p:tag name="CPSSLIDEREVISION" val="1.0.0"/>
  <p:tag name="CPSSLIDETEMPLATE" val="MC4 - Answer Graphics"/>
  <p:tag name="CORRECTANSWERSTEM" val="2"/>
</p:tagLst>
</file>

<file path=ppt/tags/tag32.xml><?xml version="1.0" encoding="utf-8"?>
<p:tagLst xmlns:a="http://schemas.openxmlformats.org/drawingml/2006/main" xmlns:r="http://schemas.openxmlformats.org/officeDocument/2006/relationships" xmlns:p="http://schemas.openxmlformats.org/presentationml/2006/main">
  <p:tag name="CPSSHAPETYPE" val="QuestionStem"/>
</p:tagLst>
</file>

<file path=ppt/tags/tag33.xml><?xml version="1.0" encoding="utf-8"?>
<p:tagLst xmlns:a="http://schemas.openxmlformats.org/drawingml/2006/main" xmlns:r="http://schemas.openxmlformats.org/officeDocument/2006/relationships" xmlns:p="http://schemas.openxmlformats.org/presentationml/2006/main">
  <p:tag name="CPSSHAPETYPE" val="AnswerStems"/>
</p:tagLst>
</file>

<file path=ppt/tags/tag34.xml><?xml version="1.0" encoding="utf-8"?>
<p:tagLst xmlns:a="http://schemas.openxmlformats.org/drawingml/2006/main" xmlns:r="http://schemas.openxmlformats.org/officeDocument/2006/relationships" xmlns:p="http://schemas.openxmlformats.org/presentationml/2006/main">
  <p:tag name="CPSSHAPETYPE" val="MCTypes"/>
</p:tagLst>
</file>

<file path=ppt/tags/tag35.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36.xml><?xml version="1.0" encoding="utf-8"?>
<p:tagLst xmlns:a="http://schemas.openxmlformats.org/drawingml/2006/main" xmlns:r="http://schemas.openxmlformats.org/officeDocument/2006/relationships" xmlns:p="http://schemas.openxmlformats.org/presentationml/2006/main">
  <p:tag name="CPSSHAPETYPE" val="Incorrect"/>
  <p:tag name="ANSWERSTEMINDEX" val="1"/>
</p:tagLst>
</file>

<file path=ppt/tags/tag37.xml><?xml version="1.0" encoding="utf-8"?>
<p:tagLst xmlns:a="http://schemas.openxmlformats.org/drawingml/2006/main" xmlns:r="http://schemas.openxmlformats.org/officeDocument/2006/relationships" xmlns:p="http://schemas.openxmlformats.org/presentationml/2006/main">
  <p:tag name="CPSSHAPETYPE" val="Correct"/>
  <p:tag name="ANSWERSTEMINDEX" val="2"/>
</p:tagLst>
</file>

<file path=ppt/tags/tag38.xml><?xml version="1.0" encoding="utf-8"?>
<p:tagLst xmlns:a="http://schemas.openxmlformats.org/drawingml/2006/main" xmlns:r="http://schemas.openxmlformats.org/officeDocument/2006/relationships" xmlns:p="http://schemas.openxmlformats.org/presentationml/2006/main">
  <p:tag name="CPSSHAPETYPE" val="Incorrect"/>
  <p:tag name="ANSWERSTEMINDEX" val="3"/>
</p:tagLst>
</file>

<file path=ppt/tags/tag39.xml><?xml version="1.0" encoding="utf-8"?>
<p:tagLst xmlns:a="http://schemas.openxmlformats.org/drawingml/2006/main" xmlns:r="http://schemas.openxmlformats.org/officeDocument/2006/relationships" xmlns:p="http://schemas.openxmlformats.org/presentationml/2006/main">
  <p:tag name="CPSSLIDEREVISION" val="1.0.0"/>
  <p:tag name="CPSSLIDETEMPLATE" val="MC4 - Answer Graphics"/>
  <p:tag name="CORRECTANSWERSTEM" val="2"/>
</p:tagLst>
</file>

<file path=ppt/tags/tag40.xml><?xml version="1.0" encoding="utf-8"?>
<p:tagLst xmlns:a="http://schemas.openxmlformats.org/drawingml/2006/main" xmlns:r="http://schemas.openxmlformats.org/officeDocument/2006/relationships" xmlns:p="http://schemas.openxmlformats.org/presentationml/2006/main">
  <p:tag name="CPSSHAPETYPE" val="QuestionStem"/>
</p:tagLst>
</file>

<file path=ppt/tags/tag41.xml><?xml version="1.0" encoding="utf-8"?>
<p:tagLst xmlns:a="http://schemas.openxmlformats.org/drawingml/2006/main" xmlns:r="http://schemas.openxmlformats.org/officeDocument/2006/relationships" xmlns:p="http://schemas.openxmlformats.org/presentationml/2006/main">
  <p:tag name="CPSSHAPETYPE" val="AnswerStems"/>
</p:tagLst>
</file>

<file path=ppt/tags/tag42.xml><?xml version="1.0" encoding="utf-8"?>
<p:tagLst xmlns:a="http://schemas.openxmlformats.org/drawingml/2006/main" xmlns:r="http://schemas.openxmlformats.org/officeDocument/2006/relationships" xmlns:p="http://schemas.openxmlformats.org/presentationml/2006/main">
  <p:tag name="CPSSHAPETYPE" val="MCTypes"/>
</p:tagLst>
</file>

<file path=ppt/tags/tag43.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44.xml><?xml version="1.0" encoding="utf-8"?>
<p:tagLst xmlns:a="http://schemas.openxmlformats.org/drawingml/2006/main" xmlns:r="http://schemas.openxmlformats.org/officeDocument/2006/relationships" xmlns:p="http://schemas.openxmlformats.org/presentationml/2006/main">
  <p:tag name="CPSSHAPETYPE" val="Incorrect"/>
  <p:tag name="ANSWERSTEMINDEX" val="1"/>
</p:tagLst>
</file>

<file path=ppt/tags/tag45.xml><?xml version="1.0" encoding="utf-8"?>
<p:tagLst xmlns:a="http://schemas.openxmlformats.org/drawingml/2006/main" xmlns:r="http://schemas.openxmlformats.org/officeDocument/2006/relationships" xmlns:p="http://schemas.openxmlformats.org/presentationml/2006/main">
  <p:tag name="CPSSHAPETYPE" val="Correct"/>
  <p:tag name="ANSWERSTEMINDEX" val="2"/>
</p:tagLst>
</file>

<file path=ppt/tags/tag46.xml><?xml version="1.0" encoding="utf-8"?>
<p:tagLst xmlns:a="http://schemas.openxmlformats.org/drawingml/2006/main" xmlns:r="http://schemas.openxmlformats.org/officeDocument/2006/relationships" xmlns:p="http://schemas.openxmlformats.org/presentationml/2006/main">
  <p:tag name="CPSSHAPETYPE" val="Incorrect"/>
  <p:tag name="ANSWERSTEMINDEX" val="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TotalTime>
  <Words>464</Words>
  <Application>Microsoft Office PowerPoint</Application>
  <PresentationFormat>On-screen Show (4:3)</PresentationFormat>
  <Paragraphs>51</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Frames of Reference  and  Relative Velocity</vt:lpstr>
      <vt:lpstr>1.A boy on a skateboard, moving at a constant velocity forward, tosses a ball straight up in the air.  Which of the following diagrams correctly shows the ball’s path from the perspective of THE BOY? </vt:lpstr>
      <vt:lpstr>2. A boy on a skateboard, moving at a constant velocity forward, tosses a ball straight up in the air.  Which of the following diagrams correctly shows the ball’s path from the perspective of a person standing on the ground? </vt:lpstr>
      <vt:lpstr>3. A person is walking forward at 5.0 km/h on a train travelling at 42.0 km/h [East].  What is the person’s velocity relative to the ground? </vt:lpstr>
      <vt:lpstr>4. A person is walking backwards at 3.0 km/h on a train travelling at 50.0 km/h [North].  What is the person’s velocity relative to the ground? </vt:lpstr>
      <vt:lpstr>5. On two different days a swimmer wishes to cross a stream. On Day 1, the stream is moving so slowly the water is essentially at rest.  On Day 2, the Hydro Dam has opened the gates upstream and the current is much faster.  This affects the swimmer’s path as shown below. Which crossing takes the least time? </vt:lpstr>
      <vt:lpstr>6. Two swimmers, Happy and Lazy, have an urgent desire to cross a moving river.  Happy decides to compensate for the current by heading northwest so that his resultant path takes him directly across the river.  Lazy decides to go with the flow and points north but lands downstream of where he started.  If both swim at the same speed relative to water, who makes it across the river first?  </vt:lpstr>
      <vt:lpstr>Frames of Reference</vt:lpstr>
    </vt:vector>
  </TitlesOfParts>
  <Company>Peel District School Board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Frames of Reference  and  Relative Velocity</dc:title>
  <dc:creator>Peel District School Board</dc:creator>
  <cp:lastModifiedBy>Peel District School Board</cp:lastModifiedBy>
  <cp:revision>19</cp:revision>
  <dcterms:created xsi:type="dcterms:W3CDTF">2011-09-16T14:38:06Z</dcterms:created>
  <dcterms:modified xsi:type="dcterms:W3CDTF">2012-09-27T14:57:00Z</dcterms:modified>
</cp:coreProperties>
</file>