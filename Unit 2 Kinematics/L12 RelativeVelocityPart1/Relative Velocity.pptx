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BD3"/>
    <a:srgbClr val="E6E3D0"/>
    <a:srgbClr val="E1DEC5"/>
    <a:srgbClr val="8F6D58"/>
    <a:srgbClr val="906D58"/>
    <a:srgbClr val="EDE7E3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7" d="100"/>
          <a:sy n="67" d="100"/>
        </p:scale>
        <p:origin x="8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5C3C98C-DAAE-47E7-8801-5EEF08AF08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971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88BF2F-8BFF-40E3-AC81-7F40DD4C2483}" type="slidenum">
              <a:rPr lang="en-US"/>
              <a:pPr/>
              <a:t>3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</a:t>
            </a:r>
            <a:r>
              <a:rPr lang="en-US" baseline="-25000"/>
              <a:t>SG</a:t>
            </a:r>
            <a:r>
              <a:rPr lang="en-US"/>
              <a:t> </a:t>
            </a:r>
            <a:r>
              <a:rPr lang="en-US">
                <a:sym typeface="Wingdings" pitchFamily="2" charset="2"/>
              </a:rPr>
              <a:t> Velocity: Stewardess to Ground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78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75E7B3-4260-48FE-A3F0-63A9D140B07D}" type="slidenum">
              <a:rPr lang="en-US"/>
              <a:pPr/>
              <a:t>5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on board.</a:t>
            </a:r>
          </a:p>
          <a:p>
            <a:r>
              <a:rPr lang="en-US" dirty="0"/>
              <a:t> </a:t>
            </a:r>
            <a:r>
              <a:rPr lang="en-US" dirty="0" err="1"/>
              <a:t>v</a:t>
            </a:r>
            <a:r>
              <a:rPr lang="en-US" baseline="-25000" dirty="0" err="1"/>
              <a:t>YW</a:t>
            </a:r>
            <a:r>
              <a:rPr lang="en-US" dirty="0"/>
              <a:t> = 3 m/s N</a:t>
            </a:r>
          </a:p>
          <a:p>
            <a:r>
              <a:rPr lang="en-US" dirty="0"/>
              <a:t> </a:t>
            </a:r>
            <a:r>
              <a:rPr lang="en-US" dirty="0" err="1"/>
              <a:t>v</a:t>
            </a:r>
            <a:r>
              <a:rPr lang="en-US" baseline="-25000" dirty="0" err="1"/>
              <a:t>WS</a:t>
            </a:r>
            <a:r>
              <a:rPr lang="en-US" dirty="0"/>
              <a:t> = 5 m/s E</a:t>
            </a:r>
          </a:p>
          <a:p>
            <a:r>
              <a:rPr lang="en-US" dirty="0"/>
              <a:t> </a:t>
            </a:r>
            <a:r>
              <a:rPr lang="en-US" dirty="0" err="1"/>
              <a:t>v</a:t>
            </a:r>
            <a:r>
              <a:rPr lang="en-US" baseline="-25000" dirty="0" err="1"/>
              <a:t>YS</a:t>
            </a:r>
            <a:r>
              <a:rPr lang="en-US" dirty="0"/>
              <a:t> = </a:t>
            </a:r>
            <a:r>
              <a:rPr lang="en-US" dirty="0" err="1"/>
              <a:t>v</a:t>
            </a:r>
            <a:r>
              <a:rPr lang="en-US" baseline="-25000" dirty="0" err="1"/>
              <a:t>YW</a:t>
            </a:r>
            <a:r>
              <a:rPr lang="en-US" dirty="0"/>
              <a:t> + </a:t>
            </a:r>
            <a:r>
              <a:rPr lang="en-US" dirty="0" err="1"/>
              <a:t>v</a:t>
            </a:r>
            <a:r>
              <a:rPr lang="en-US" baseline="-25000" dirty="0" err="1"/>
              <a:t>WS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use vector addition</a:t>
            </a:r>
          </a:p>
          <a:p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</a:t>
            </a:r>
            <a:r>
              <a:rPr lang="en-US" baseline="-25000" dirty="0" err="1">
                <a:sym typeface="Wingdings" pitchFamily="2" charset="2"/>
              </a:rPr>
              <a:t>YS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n-US" dirty="0" err="1">
                <a:sym typeface="Wingdings" pitchFamily="2" charset="2"/>
              </a:rPr>
              <a:t>sqrt</a:t>
            </a:r>
            <a:r>
              <a:rPr lang="en-US" dirty="0">
                <a:sym typeface="Wingdings" pitchFamily="2" charset="2"/>
              </a:rPr>
              <a:t>(3</a:t>
            </a:r>
            <a:r>
              <a:rPr lang="en-US" baseline="30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+ 4</a:t>
            </a:r>
            <a:r>
              <a:rPr lang="en-US" baseline="30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) = 5 m/s</a:t>
            </a:r>
          </a:p>
          <a:p>
            <a:r>
              <a:rPr lang="en-US" dirty="0">
                <a:sym typeface="Wingdings" pitchFamily="2" charset="2"/>
              </a:rPr>
              <a:t> </a:t>
            </a:r>
            <a:r>
              <a:rPr lang="en-US" dirty="0">
                <a:sym typeface="Symbol" pitchFamily="18" charset="2"/>
              </a:rPr>
              <a:t> = cos</a:t>
            </a:r>
            <a:r>
              <a:rPr lang="en-US" baseline="30000" dirty="0">
                <a:sym typeface="Symbol" pitchFamily="18" charset="2"/>
              </a:rPr>
              <a:t>-1</a:t>
            </a:r>
            <a:r>
              <a:rPr lang="en-US" dirty="0">
                <a:sym typeface="Symbol" pitchFamily="18" charset="2"/>
              </a:rPr>
              <a:t> (4 / 5) = 36.9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° N of 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y = </a:t>
            </a:r>
            <a:r>
              <a:rPr lang="en-US" dirty="0" err="1"/>
              <a:t>v</a:t>
            </a:r>
            <a:r>
              <a:rPr lang="en-US" baseline="-25000" dirty="0" err="1"/>
              <a:t>y</a:t>
            </a:r>
            <a:r>
              <a:rPr lang="en-US" dirty="0" err="1"/>
              <a:t>t</a:t>
            </a:r>
            <a:endParaRPr lang="en-US" dirty="0"/>
          </a:p>
          <a:p>
            <a:r>
              <a:rPr lang="en-US" dirty="0"/>
              <a:t>50 m = (5 sin 36.9) m/s (t) </a:t>
            </a:r>
            <a:r>
              <a:rPr lang="en-US" dirty="0">
                <a:sym typeface="Wingdings" pitchFamily="2" charset="2"/>
              </a:rPr>
              <a:t> 50 m = 3 m/s t  t = 16.7 s</a:t>
            </a:r>
          </a:p>
          <a:p>
            <a:r>
              <a:rPr lang="en-US" dirty="0">
                <a:sym typeface="Wingdings" pitchFamily="2" charset="2"/>
              </a:rPr>
              <a:t>Notice the position and velocity vectors must both point in the same direction.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59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E09A40-14EA-4EC1-B881-80ADF5BD789A}" type="slidenum">
              <a:rPr lang="en-US"/>
              <a:pPr/>
              <a:t>7</a:t>
            </a:fld>
            <a:endParaRPr 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on board.</a:t>
            </a:r>
          </a:p>
          <a:p>
            <a:r>
              <a:rPr lang="en-US"/>
              <a:t> v</a:t>
            </a:r>
            <a:r>
              <a:rPr lang="en-US" baseline="-25000"/>
              <a:t>RG</a:t>
            </a:r>
            <a:r>
              <a:rPr lang="en-US"/>
              <a:t> = 8 m/s N</a:t>
            </a:r>
          </a:p>
          <a:p>
            <a:r>
              <a:rPr lang="en-US"/>
              <a:t> v</a:t>
            </a:r>
            <a:r>
              <a:rPr lang="en-US" baseline="-25000"/>
              <a:t>DG</a:t>
            </a:r>
            <a:r>
              <a:rPr lang="en-US"/>
              <a:t> = 6 m/s E</a:t>
            </a:r>
          </a:p>
          <a:p>
            <a:r>
              <a:rPr lang="en-US"/>
              <a:t> v</a:t>
            </a:r>
            <a:r>
              <a:rPr lang="en-US" baseline="-25000"/>
              <a:t>RD </a:t>
            </a:r>
            <a:r>
              <a:rPr lang="en-US"/>
              <a:t>= v</a:t>
            </a:r>
            <a:r>
              <a:rPr lang="en-US" baseline="-25000"/>
              <a:t>RG</a:t>
            </a:r>
            <a:r>
              <a:rPr lang="en-US"/>
              <a:t> + v</a:t>
            </a:r>
            <a:r>
              <a:rPr lang="en-US" baseline="-25000"/>
              <a:t>GD</a:t>
            </a:r>
            <a:r>
              <a:rPr lang="en-US"/>
              <a:t> </a:t>
            </a:r>
            <a:r>
              <a:rPr lang="en-US">
                <a:sym typeface="Wingdings" pitchFamily="2" charset="2"/>
              </a:rPr>
              <a:t> vector addition</a:t>
            </a:r>
          </a:p>
          <a:p>
            <a:r>
              <a:rPr lang="en-US">
                <a:sym typeface="Wingdings" pitchFamily="2" charset="2"/>
              </a:rPr>
              <a:t> v</a:t>
            </a:r>
            <a:r>
              <a:rPr lang="en-US" baseline="-25000">
                <a:sym typeface="Wingdings" pitchFamily="2" charset="2"/>
              </a:rPr>
              <a:t>RD</a:t>
            </a:r>
            <a:r>
              <a:rPr lang="en-US">
                <a:sym typeface="Wingdings" pitchFamily="2" charset="2"/>
              </a:rPr>
              <a:t> = sqrt(8</a:t>
            </a:r>
            <a:r>
              <a:rPr lang="en-US" baseline="30000">
                <a:sym typeface="Wingdings" pitchFamily="2" charset="2"/>
              </a:rPr>
              <a:t>2</a:t>
            </a:r>
            <a:r>
              <a:rPr lang="en-US">
                <a:sym typeface="Wingdings" pitchFamily="2" charset="2"/>
              </a:rPr>
              <a:t> + 6</a:t>
            </a:r>
            <a:r>
              <a:rPr lang="en-US" baseline="30000">
                <a:sym typeface="Wingdings" pitchFamily="2" charset="2"/>
              </a:rPr>
              <a:t>2</a:t>
            </a:r>
            <a:r>
              <a:rPr lang="en-US">
                <a:sym typeface="Wingdings" pitchFamily="2" charset="2"/>
              </a:rPr>
              <a:t>) = 10 m/s</a:t>
            </a:r>
          </a:p>
          <a:p>
            <a:r>
              <a:rPr lang="en-US">
                <a:sym typeface="Wingdings" pitchFamily="2" charset="2"/>
              </a:rPr>
              <a:t> </a:t>
            </a:r>
            <a:r>
              <a:rPr lang="en-US">
                <a:sym typeface="Symbol" pitchFamily="18" charset="2"/>
              </a:rPr>
              <a:t> = cos</a:t>
            </a:r>
            <a:r>
              <a:rPr lang="en-US" baseline="30000">
                <a:sym typeface="Symbol" pitchFamily="18" charset="2"/>
              </a:rPr>
              <a:t>-1</a:t>
            </a:r>
            <a:r>
              <a:rPr lang="en-US">
                <a:sym typeface="Symbol" pitchFamily="18" charset="2"/>
              </a:rPr>
              <a:t> (6 / 10) = 53.1</a:t>
            </a:r>
            <a:r>
              <a:rPr lang="en-US">
                <a:cs typeface="Times New Roman" pitchFamily="18" charset="0"/>
                <a:sym typeface="Symbol" pitchFamily="18" charset="2"/>
              </a:rPr>
              <a:t>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00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494A2C6-8669-4240-989F-AA180328FA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BBCA-BED2-469D-8538-D9B6672AC5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11EFFF8-E526-43B5-A9BD-01B71A821FC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CB5FE-B17B-419E-A302-DEC5D53C48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8B09D-0B95-4065-89A4-C3AB25D558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3AB6A-E608-4513-ADCB-2AD0F8ABB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6A93-58A8-4C5C-A7CF-DB3B81F8B0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F40A-7390-4FBC-942F-1FBDFB1CBA7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8AD78-B32B-4879-AD38-FE9455179D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99CF0-1DD2-4D01-AA78-5C9AE38D8E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BAC52-5C83-438F-8895-621D8F366F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A13CA16-9326-4849-8559-6A0E102496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Relative </a:t>
            </a:r>
            <a:r>
              <a:rPr lang="en-US" dirty="0"/>
              <a:t>Velocity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Have you ever…?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Sat at a stop light and watched a large truck next to move forward and get the feeling that you were going backwards?</a:t>
            </a:r>
          </a:p>
          <a:p>
            <a:endParaRPr lang="en-US" sz="3200" dirty="0"/>
          </a:p>
          <a:p>
            <a:r>
              <a:rPr lang="en-US" sz="3200" dirty="0"/>
              <a:t>This shows that velocity is relative to the observer.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Another Example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571472" y="1285860"/>
            <a:ext cx="7620000" cy="4724400"/>
          </a:xfrm>
        </p:spPr>
        <p:txBody>
          <a:bodyPr>
            <a:noAutofit/>
          </a:bodyPr>
          <a:lstStyle/>
          <a:p>
            <a:r>
              <a:rPr lang="en-US" sz="3200" dirty="0"/>
              <a:t>You are sitting in an airport watching a plane land v = 100 m/s.  The </a:t>
            </a:r>
            <a:r>
              <a:rPr lang="en-US" sz="3200" dirty="0" smtClean="0"/>
              <a:t>flight attendant is </a:t>
            </a:r>
            <a:r>
              <a:rPr lang="en-US" sz="3200" dirty="0"/>
              <a:t>walking down the isle.  To the people in the plane she seems to be walking 2 m/s.</a:t>
            </a:r>
          </a:p>
          <a:p>
            <a:pPr lvl="1"/>
            <a:r>
              <a:rPr lang="en-US" sz="3200" dirty="0">
                <a:solidFill>
                  <a:srgbClr val="0000FF"/>
                </a:solidFill>
              </a:rPr>
              <a:t>P</a:t>
            </a:r>
            <a:r>
              <a:rPr lang="en-US" sz="3200" dirty="0"/>
              <a:t>lane: </a:t>
            </a:r>
            <a:r>
              <a:rPr lang="en-US" sz="3200" b="1" dirty="0" err="1"/>
              <a:t>v</a:t>
            </a:r>
            <a:r>
              <a:rPr lang="en-US" sz="3200" b="1" baseline="-25000" dirty="0" err="1">
                <a:solidFill>
                  <a:srgbClr val="0000FF"/>
                </a:solidFill>
              </a:rPr>
              <a:t>P</a:t>
            </a:r>
            <a:r>
              <a:rPr lang="en-US" sz="3200" b="1" baseline="-25000" dirty="0" err="1">
                <a:solidFill>
                  <a:srgbClr val="FF0000"/>
                </a:solidFill>
              </a:rPr>
              <a:t>G</a:t>
            </a:r>
            <a:r>
              <a:rPr lang="en-US" sz="3200" dirty="0"/>
              <a:t> = 100 m/s to</a:t>
            </a:r>
            <a:r>
              <a:rPr lang="en-US" sz="3200" dirty="0">
                <a:solidFill>
                  <a:srgbClr val="FF0000"/>
                </a:solidFill>
              </a:rPr>
              <a:t> G</a:t>
            </a:r>
            <a:r>
              <a:rPr lang="en-US" sz="3200" dirty="0"/>
              <a:t>round</a:t>
            </a:r>
          </a:p>
          <a:p>
            <a:pPr lvl="1"/>
            <a:r>
              <a:rPr lang="en-US" sz="3200" dirty="0" smtClean="0">
                <a:solidFill>
                  <a:srgbClr val="FF0000"/>
                </a:solidFill>
              </a:rPr>
              <a:t>F</a:t>
            </a:r>
            <a:r>
              <a:rPr lang="en-US" sz="3200" dirty="0" smtClean="0">
                <a:solidFill>
                  <a:schemeClr val="tx1"/>
                </a:solidFill>
              </a:rPr>
              <a:t>light attendant</a:t>
            </a:r>
            <a:r>
              <a:rPr lang="en-US" sz="3200" dirty="0" smtClean="0"/>
              <a:t>: </a:t>
            </a:r>
            <a:r>
              <a:rPr lang="en-US" sz="3200" b="1" dirty="0" err="1" smtClean="0"/>
              <a:t>v</a:t>
            </a:r>
            <a:r>
              <a:rPr lang="en-US" sz="3200" b="1" baseline="-25000" dirty="0" err="1" smtClean="0">
                <a:solidFill>
                  <a:srgbClr val="FF0000"/>
                </a:solidFill>
              </a:rPr>
              <a:t>F</a:t>
            </a:r>
            <a:r>
              <a:rPr lang="en-US" sz="3200" b="1" baseline="-25000" dirty="0" err="1" smtClean="0">
                <a:solidFill>
                  <a:srgbClr val="0000FF"/>
                </a:solidFill>
              </a:rPr>
              <a:t>P</a:t>
            </a:r>
            <a:r>
              <a:rPr lang="en-US" sz="3200" dirty="0" smtClean="0"/>
              <a:t> </a:t>
            </a:r>
            <a:r>
              <a:rPr lang="en-US" sz="3200" dirty="0"/>
              <a:t>= 2 m/s to </a:t>
            </a:r>
            <a:r>
              <a:rPr lang="en-US" sz="3200" dirty="0">
                <a:solidFill>
                  <a:srgbClr val="0000FF"/>
                </a:solidFill>
              </a:rPr>
              <a:t>P</a:t>
            </a:r>
            <a:r>
              <a:rPr lang="en-US" sz="3200" dirty="0"/>
              <a:t>lane</a:t>
            </a:r>
          </a:p>
          <a:p>
            <a:r>
              <a:rPr lang="en-US" sz="3200" dirty="0"/>
              <a:t>How fast does the </a:t>
            </a:r>
            <a:r>
              <a:rPr lang="en-US" sz="3200" dirty="0" smtClean="0"/>
              <a:t>flight attendant appear </a:t>
            </a:r>
            <a:r>
              <a:rPr lang="en-US" sz="3200" dirty="0"/>
              <a:t>to move to you?</a:t>
            </a:r>
          </a:p>
          <a:p>
            <a:pPr lvl="1"/>
            <a:r>
              <a:rPr lang="en-US" sz="3200" dirty="0" err="1" smtClean="0"/>
              <a:t>v</a:t>
            </a:r>
            <a:r>
              <a:rPr lang="en-US" sz="3200" baseline="-25000" dirty="0" err="1"/>
              <a:t>F</a:t>
            </a:r>
            <a:r>
              <a:rPr lang="en-US" sz="3200" baseline="-25000" dirty="0" err="1" smtClean="0"/>
              <a:t>G</a:t>
            </a:r>
            <a:r>
              <a:rPr lang="en-US" sz="3200" baseline="-25000" dirty="0" smtClean="0"/>
              <a:t> </a:t>
            </a:r>
            <a:r>
              <a:rPr lang="en-US" sz="3200" dirty="0"/>
              <a:t>= </a:t>
            </a:r>
            <a:r>
              <a:rPr lang="en-US" sz="3200" dirty="0" err="1" smtClean="0"/>
              <a:t>v</a:t>
            </a:r>
            <a:r>
              <a:rPr lang="en-US" sz="3200" baseline="-25000" dirty="0" err="1" smtClean="0"/>
              <a:t>FP</a:t>
            </a:r>
            <a:r>
              <a:rPr lang="en-US" sz="3200" dirty="0" smtClean="0"/>
              <a:t> </a:t>
            </a:r>
            <a:r>
              <a:rPr lang="en-US" sz="3200" dirty="0"/>
              <a:t>+ </a:t>
            </a:r>
            <a:r>
              <a:rPr lang="en-US" sz="3200" dirty="0" err="1"/>
              <a:t>v</a:t>
            </a:r>
            <a:r>
              <a:rPr lang="en-US" sz="3200" baseline="-25000" dirty="0" err="1"/>
              <a:t>PG</a:t>
            </a:r>
            <a:r>
              <a:rPr lang="en-US" sz="3200" dirty="0"/>
              <a:t> </a:t>
            </a:r>
            <a:r>
              <a:rPr lang="en-US" sz="3200" dirty="0">
                <a:sym typeface="Wingdings" pitchFamily="2" charset="2"/>
              </a:rPr>
              <a:t> 2 m/s + 100 m/s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dirty="0"/>
              <a:t>Notation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 </a:t>
            </a:r>
            <a:r>
              <a:rPr lang="en-US" sz="3200" b="1" dirty="0" err="1"/>
              <a:t>v</a:t>
            </a:r>
            <a:r>
              <a:rPr lang="en-US" sz="3200" b="1" baseline="-25000" dirty="0" err="1"/>
              <a:t>PG</a:t>
            </a:r>
            <a:r>
              <a:rPr lang="en-US" sz="3200" dirty="0"/>
              <a:t> means Velocity of Plane to Ground</a:t>
            </a:r>
          </a:p>
          <a:p>
            <a:endParaRPr lang="en-US" sz="3200" dirty="0"/>
          </a:p>
          <a:p>
            <a:r>
              <a:rPr lang="en-US" sz="3200" b="1" dirty="0" err="1" smtClean="0"/>
              <a:t>v</a:t>
            </a:r>
            <a:r>
              <a:rPr lang="en-US" sz="3200" b="1" baseline="-25000" dirty="0" err="1">
                <a:solidFill>
                  <a:srgbClr val="0000FF"/>
                </a:solidFill>
              </a:rPr>
              <a:t>F</a:t>
            </a:r>
            <a:r>
              <a:rPr lang="en-US" sz="3200" b="1" baseline="-25000" dirty="0" err="1" smtClean="0">
                <a:solidFill>
                  <a:srgbClr val="FF0000"/>
                </a:solidFill>
              </a:rPr>
              <a:t>G</a:t>
            </a:r>
            <a:r>
              <a:rPr lang="en-US" sz="3200" baseline="-25000" dirty="0" smtClean="0"/>
              <a:t> </a:t>
            </a:r>
            <a:r>
              <a:rPr lang="en-US" sz="3200" dirty="0"/>
              <a:t>= </a:t>
            </a:r>
            <a:r>
              <a:rPr lang="en-US" sz="3200" b="1" dirty="0" err="1" smtClean="0"/>
              <a:t>v</a:t>
            </a:r>
            <a:r>
              <a:rPr lang="en-US" sz="3200" b="1" baseline="-25000" dirty="0" err="1" smtClean="0">
                <a:solidFill>
                  <a:srgbClr val="0000FF"/>
                </a:solidFill>
              </a:rPr>
              <a:t>F</a:t>
            </a:r>
            <a:r>
              <a:rPr lang="en-US" sz="3200" b="1" baseline="-25000" dirty="0" err="1" smtClean="0"/>
              <a:t>P</a:t>
            </a:r>
            <a:r>
              <a:rPr lang="en-US" sz="3200" dirty="0" smtClean="0"/>
              <a:t> </a:t>
            </a:r>
            <a:r>
              <a:rPr lang="en-US" sz="3200" dirty="0"/>
              <a:t>+ </a:t>
            </a:r>
            <a:r>
              <a:rPr lang="en-US" sz="3200" b="1" dirty="0" err="1"/>
              <a:t>v</a:t>
            </a:r>
            <a:r>
              <a:rPr lang="en-US" sz="3200" b="1" baseline="-25000" dirty="0" err="1"/>
              <a:t>P</a:t>
            </a:r>
            <a:r>
              <a:rPr lang="en-US" sz="3200" b="1" baseline="-25000" dirty="0" err="1">
                <a:solidFill>
                  <a:srgbClr val="FF0000"/>
                </a:solidFill>
              </a:rPr>
              <a:t>G</a:t>
            </a:r>
            <a:endParaRPr lang="en-US" sz="3200" b="1" baseline="-25000" dirty="0">
              <a:solidFill>
                <a:srgbClr val="FF0000"/>
              </a:solidFill>
            </a:endParaRPr>
          </a:p>
          <a:p>
            <a:pPr lvl="1"/>
            <a:r>
              <a:rPr lang="en-US" sz="3200" dirty="0"/>
              <a:t>The matching of subscripts shows proper order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Crossing Example</a:t>
            </a:r>
            <a:endParaRPr 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71472" y="1285860"/>
            <a:ext cx="7620000" cy="4648200"/>
          </a:xfrm>
        </p:spPr>
        <p:txBody>
          <a:bodyPr/>
          <a:lstStyle/>
          <a:p>
            <a:r>
              <a:rPr lang="en-US" dirty="0"/>
              <a:t>You are swimming to shore from 50 m out in the ocean.  You swim directly towards the shore at </a:t>
            </a:r>
            <a:r>
              <a:rPr lang="en-US" dirty="0" err="1"/>
              <a:t>v</a:t>
            </a:r>
            <a:r>
              <a:rPr lang="en-US" baseline="-25000" dirty="0" err="1"/>
              <a:t>YW</a:t>
            </a:r>
            <a:r>
              <a:rPr lang="en-US" dirty="0"/>
              <a:t> = 3 m/s north relative to the water.  The current is </a:t>
            </a:r>
            <a:r>
              <a:rPr lang="en-US" dirty="0" err="1"/>
              <a:t>v</a:t>
            </a:r>
            <a:r>
              <a:rPr lang="en-US" baseline="-25000" dirty="0" err="1"/>
              <a:t>WS</a:t>
            </a:r>
            <a:r>
              <a:rPr lang="en-US" dirty="0"/>
              <a:t> = 4 m/s east relative to the shore.  What is you velocity relative to the shore?</a:t>
            </a:r>
          </a:p>
          <a:p>
            <a:pPr lvl="1"/>
            <a:r>
              <a:rPr lang="en-US" dirty="0"/>
              <a:t>5 m/s </a:t>
            </a:r>
            <a:r>
              <a:rPr lang="en-US" dirty="0" smtClean="0"/>
              <a:t>[N53</a:t>
            </a:r>
            <a:r>
              <a:rPr lang="en-US" dirty="0" smtClean="0">
                <a:cs typeface="Times New Roman" pitchFamily="18" charset="0"/>
              </a:rPr>
              <a:t>°</a:t>
            </a:r>
            <a:r>
              <a:rPr lang="en-US" dirty="0" smtClean="0"/>
              <a:t>E]</a:t>
            </a:r>
            <a:endParaRPr lang="en-US" dirty="0">
              <a:cs typeface="Times New Roman" pitchFamily="18" charset="0"/>
            </a:endParaRPr>
          </a:p>
          <a:p>
            <a:r>
              <a:rPr lang="en-US" dirty="0"/>
              <a:t>How long to get to shore?</a:t>
            </a:r>
          </a:p>
          <a:p>
            <a:pPr lvl="1"/>
            <a:r>
              <a:rPr lang="en-US" dirty="0"/>
              <a:t>t = 17 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Flying Example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pilot is required to fly directly from London, UK to Rome, Italy in 3.5 h. The displacement is 1.4 x 10</a:t>
            </a:r>
            <a:r>
              <a:rPr lang="en-US" baseline="30000" dirty="0" smtClean="0"/>
              <a:t>3</a:t>
            </a:r>
            <a:r>
              <a:rPr lang="en-US" dirty="0" smtClean="0"/>
              <a:t> km [S43</a:t>
            </a:r>
            <a:r>
              <a:rPr lang="en-US" baseline="30000" dirty="0" smtClean="0"/>
              <a:t>o</a:t>
            </a:r>
            <a:r>
              <a:rPr lang="en-US" dirty="0" smtClean="0"/>
              <a:t> E]. A wind is blowing with a velocity of 75 km/h [E]. Determine the required velocity of the plane relative to the air</a:t>
            </a:r>
            <a:r>
              <a:rPr lang="en-US" dirty="0" smtClean="0"/>
              <a:t>.</a:t>
            </a:r>
          </a:p>
          <a:p>
            <a:endParaRPr lang="en-CA" dirty="0"/>
          </a:p>
          <a:p>
            <a:endParaRPr lang="en-CA" dirty="0" smtClean="0"/>
          </a:p>
          <a:p>
            <a:r>
              <a:rPr lang="en-CA" i="1" dirty="0" err="1" smtClean="0"/>
              <a:t>Ans</a:t>
            </a:r>
            <a:r>
              <a:rPr lang="en-CA" i="1" dirty="0" smtClean="0"/>
              <a:t>: 353 km/h [W56S]</a:t>
            </a:r>
            <a:endParaRPr lang="en-CA" i="1" dirty="0" smtClean="0"/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Football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A player is running to tackle the running back.  The running back is moving 8 m/s up the field and the defense is moving 6 m/s across the field.  What is the velocity of the running back relative the defense?</a:t>
            </a:r>
          </a:p>
          <a:p>
            <a:r>
              <a:rPr lang="en-US"/>
              <a:t> </a:t>
            </a:r>
            <a:r>
              <a:rPr lang="en-US" b="1"/>
              <a:t>v</a:t>
            </a:r>
            <a:r>
              <a:rPr lang="en-US" b="1" baseline="-25000"/>
              <a:t>RD</a:t>
            </a:r>
            <a:r>
              <a:rPr lang="en-US"/>
              <a:t> = 10 m/s @ 53.1</a:t>
            </a:r>
            <a:r>
              <a:rPr lang="en-US">
                <a:cs typeface="Times New Roman" pitchFamily="18" charset="0"/>
              </a:rPr>
              <a:t>°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autoUpdateAnimBg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171</TotalTime>
  <Words>477</Words>
  <Application>Microsoft Office PowerPoint</Application>
  <PresentationFormat>On-screen Show (4:3)</PresentationFormat>
  <Paragraphs>49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Bookman Old Style</vt:lpstr>
      <vt:lpstr>Gill Sans MT</vt:lpstr>
      <vt:lpstr>Symbol</vt:lpstr>
      <vt:lpstr>Times New Roman</vt:lpstr>
      <vt:lpstr>Wingdings</vt:lpstr>
      <vt:lpstr>Wingdings 3</vt:lpstr>
      <vt:lpstr>Origin</vt:lpstr>
      <vt:lpstr>Relative Velocity</vt:lpstr>
      <vt:lpstr>Have you ever…?</vt:lpstr>
      <vt:lpstr>Another Example</vt:lpstr>
      <vt:lpstr>Notation</vt:lpstr>
      <vt:lpstr>Water Crossing Example</vt:lpstr>
      <vt:lpstr>Flying Example</vt:lpstr>
      <vt:lpstr>Football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3.4 Relative Velocity</dc:title>
  <dc:creator>Rick Wright</dc:creator>
  <cp:lastModifiedBy>Nestor, Gregory</cp:lastModifiedBy>
  <cp:revision>21</cp:revision>
  <cp:lastPrinted>1601-01-01T00:00:00Z</cp:lastPrinted>
  <dcterms:created xsi:type="dcterms:W3CDTF">2005-07-31T23:10:06Z</dcterms:created>
  <dcterms:modified xsi:type="dcterms:W3CDTF">2020-03-06T14:57:38Z</dcterms:modified>
</cp:coreProperties>
</file>