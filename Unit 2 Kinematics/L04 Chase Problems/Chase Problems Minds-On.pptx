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7"/>
  </p:handoutMasterIdLst>
  <p:sldIdLst>
    <p:sldId id="256" r:id="rId2"/>
    <p:sldId id="260" r:id="rId3"/>
    <p:sldId id="261" r:id="rId4"/>
    <p:sldId id="257" r:id="rId5"/>
    <p:sldId id="258" r:id="rId6"/>
  </p:sldIdLst>
  <p:sldSz cx="9144000" cy="6858000" type="screen4x3"/>
  <p:notesSz cx="7086600" cy="9372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0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14100" y="0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E30D7F4E-10D6-425C-999C-FCCFEDB2EEA3}" type="datetimeFigureOut">
              <a:rPr lang="en-US" smtClean="0"/>
              <a:pPr/>
              <a:t>2/12/2020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02343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14100" y="8902343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498E5831-F83B-4BEB-9688-58EAA5958E7C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61038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160E4-D39C-40B1-A344-DBE0D3F3D74B}" type="datetimeFigureOut">
              <a:rPr lang="en-US" smtClean="0"/>
              <a:pPr/>
              <a:t>2/12/2020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2CBE0-5376-4146-ADC1-C0B2845D718F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160E4-D39C-40B1-A344-DBE0D3F3D74B}" type="datetimeFigureOut">
              <a:rPr lang="en-US" smtClean="0"/>
              <a:pPr/>
              <a:t>2/12/2020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2CBE0-5376-4146-ADC1-C0B2845D718F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160E4-D39C-40B1-A344-DBE0D3F3D74B}" type="datetimeFigureOut">
              <a:rPr lang="en-US" smtClean="0"/>
              <a:pPr/>
              <a:t>2/12/2020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2CBE0-5376-4146-ADC1-C0B2845D718F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160E4-D39C-40B1-A344-DBE0D3F3D74B}" type="datetimeFigureOut">
              <a:rPr lang="en-US" smtClean="0"/>
              <a:pPr/>
              <a:t>2/12/2020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2CBE0-5376-4146-ADC1-C0B2845D718F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160E4-D39C-40B1-A344-DBE0D3F3D74B}" type="datetimeFigureOut">
              <a:rPr lang="en-US" smtClean="0"/>
              <a:pPr/>
              <a:t>2/12/2020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2CBE0-5376-4146-ADC1-C0B2845D718F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160E4-D39C-40B1-A344-DBE0D3F3D74B}" type="datetimeFigureOut">
              <a:rPr lang="en-US" smtClean="0"/>
              <a:pPr/>
              <a:t>2/12/2020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2CBE0-5376-4146-ADC1-C0B2845D718F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160E4-D39C-40B1-A344-DBE0D3F3D74B}" type="datetimeFigureOut">
              <a:rPr lang="en-US" smtClean="0"/>
              <a:pPr/>
              <a:t>2/12/2020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2CBE0-5376-4146-ADC1-C0B2845D718F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160E4-D39C-40B1-A344-DBE0D3F3D74B}" type="datetimeFigureOut">
              <a:rPr lang="en-US" smtClean="0"/>
              <a:pPr/>
              <a:t>2/12/2020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2CBE0-5376-4146-ADC1-C0B2845D718F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160E4-D39C-40B1-A344-DBE0D3F3D74B}" type="datetimeFigureOut">
              <a:rPr lang="en-US" smtClean="0"/>
              <a:pPr/>
              <a:t>2/12/2020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2CBE0-5376-4146-ADC1-C0B2845D718F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160E4-D39C-40B1-A344-DBE0D3F3D74B}" type="datetimeFigureOut">
              <a:rPr lang="en-US" smtClean="0"/>
              <a:pPr/>
              <a:t>2/12/2020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2CBE0-5376-4146-ADC1-C0B2845D718F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160E4-D39C-40B1-A344-DBE0D3F3D74B}" type="datetimeFigureOut">
              <a:rPr lang="en-US" smtClean="0"/>
              <a:pPr/>
              <a:t>2/12/2020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2CBE0-5376-4146-ADC1-C0B2845D718F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160E4-D39C-40B1-A344-DBE0D3F3D74B}" type="datetimeFigureOut">
              <a:rPr lang="en-US" smtClean="0"/>
              <a:pPr/>
              <a:t>2/12/2020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2CBE0-5376-4146-ADC1-C0B2845D718F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852936"/>
            <a:ext cx="3888432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-171400"/>
            <a:ext cx="8276456" cy="1470025"/>
          </a:xfrm>
        </p:spPr>
        <p:txBody>
          <a:bodyPr/>
          <a:lstStyle/>
          <a:p>
            <a:r>
              <a:rPr lang="en-CA" b="1" i="1" dirty="0">
                <a:solidFill>
                  <a:srgbClr val="FF0000"/>
                </a:solidFill>
              </a:rPr>
              <a:t>Chase Problems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908720"/>
            <a:ext cx="8462174" cy="2185429"/>
          </a:xfrm>
        </p:spPr>
        <p:txBody>
          <a:bodyPr>
            <a:normAutofit fontScale="92500"/>
          </a:bodyPr>
          <a:lstStyle/>
          <a:p>
            <a:pPr algn="l">
              <a:buFont typeface="Symbol" pitchFamily="18" charset="2"/>
              <a:buChar char="·"/>
            </a:pPr>
            <a:r>
              <a:rPr lang="en-US" sz="2600" b="1" dirty="0">
                <a:solidFill>
                  <a:schemeClr val="tx1"/>
                </a:solidFill>
              </a:rPr>
              <a:t> Involve objects either approaching or chasing each other </a:t>
            </a:r>
          </a:p>
          <a:p>
            <a:pPr algn="l"/>
            <a:r>
              <a:rPr lang="en-US" sz="2600" b="1" dirty="0">
                <a:solidFill>
                  <a:schemeClr val="tx1"/>
                </a:solidFill>
              </a:rPr>
              <a:t>     E.g.   A police car chasing a speeding car.</a:t>
            </a:r>
          </a:p>
          <a:p>
            <a:pPr algn="l"/>
            <a:r>
              <a:rPr lang="en-US" sz="2600" b="1" dirty="0">
                <a:solidFill>
                  <a:schemeClr val="tx1"/>
                </a:solidFill>
              </a:rPr>
              <a:t>	  A passenger chasing a departing train</a:t>
            </a:r>
          </a:p>
          <a:p>
            <a:pPr algn="l"/>
            <a:r>
              <a:rPr lang="en-US" sz="2600" b="1" dirty="0">
                <a:solidFill>
                  <a:schemeClr val="tx1"/>
                </a:solidFill>
              </a:rPr>
              <a:t>	  Two trains heading towards each other on a single track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  <a:p>
            <a:pPr algn="l"/>
            <a:endParaRPr lang="en-US" b="1" dirty="0">
              <a:solidFill>
                <a:schemeClr val="tx1"/>
              </a:solidFill>
            </a:endParaRPr>
          </a:p>
          <a:p>
            <a:endParaRPr lang="en-C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00002" y="188640"/>
            <a:ext cx="8643998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ym typeface="Symbol"/>
              </a:rPr>
              <a:t>Key Concepts:</a:t>
            </a:r>
          </a:p>
          <a:p>
            <a:pPr marL="285750" indent="-285750">
              <a:buFont typeface="Symbol" panose="05050102010706020507" pitchFamily="18" charset="2"/>
              <a:buChar char="·"/>
            </a:pPr>
            <a:endParaRPr lang="en-US" dirty="0">
              <a:sym typeface="Symbol"/>
            </a:endParaRPr>
          </a:p>
          <a:p>
            <a:pPr marL="285750" indent="-285750">
              <a:buFont typeface="Symbol" panose="05050102010706020507" pitchFamily="18" charset="2"/>
              <a:buChar char="·"/>
            </a:pPr>
            <a:r>
              <a:rPr lang="en-US" sz="2000" dirty="0">
                <a:sym typeface="Symbol"/>
              </a:rPr>
              <a:t>Two objects will be in motion</a:t>
            </a:r>
          </a:p>
          <a:p>
            <a:pPr marL="742950" lvl="1" indent="-285750">
              <a:buFont typeface="Symbol" panose="05050102010706020507" pitchFamily="18" charset="2"/>
              <a:buChar char="·"/>
            </a:pPr>
            <a:r>
              <a:rPr lang="en-US" dirty="0">
                <a:sym typeface="Symbol"/>
              </a:rPr>
              <a:t>Either motion may be uniform or accelerated</a:t>
            </a:r>
            <a:r>
              <a:rPr lang="en-US" dirty="0"/>
              <a:t>. </a:t>
            </a:r>
            <a:endParaRPr lang="en-US" sz="800" dirty="0"/>
          </a:p>
          <a:p>
            <a:pPr marL="742950" lvl="1" indent="-285750">
              <a:buFont typeface="Symbol" panose="05050102010706020507" pitchFamily="18" charset="2"/>
              <a:buChar char="·"/>
            </a:pPr>
            <a:r>
              <a:rPr lang="en-US" dirty="0"/>
              <a:t>The objects may be initially separated by a “gap” in distance.  </a:t>
            </a:r>
          </a:p>
          <a:p>
            <a:pPr marL="742950" lvl="1" indent="-285750">
              <a:buFont typeface="Symbol" panose="05050102010706020507" pitchFamily="18" charset="2"/>
              <a:buChar char="·"/>
            </a:pPr>
            <a:endParaRPr lang="en-US" dirty="0"/>
          </a:p>
          <a:p>
            <a:pPr marL="285750" indent="-285750">
              <a:buFont typeface="Symbol" panose="05050102010706020507" pitchFamily="18" charset="2"/>
              <a:buChar char="·"/>
            </a:pPr>
            <a:r>
              <a:rPr lang="en-US" sz="2000" dirty="0"/>
              <a:t>The Starting Point is Two Equations with Two Unknowns</a:t>
            </a:r>
          </a:p>
          <a:p>
            <a:pPr marL="742950" lvl="1" indent="-285750">
              <a:buFont typeface="Symbol" panose="05050102010706020507" pitchFamily="18" charset="2"/>
              <a:buChar char="·"/>
            </a:pPr>
            <a:r>
              <a:rPr lang="en-US" dirty="0"/>
              <a:t>Find the POI (Point of Intersection) using Grade 10 Math</a:t>
            </a:r>
          </a:p>
          <a:p>
            <a:pPr marL="742950" lvl="1" indent="-285750">
              <a:buFont typeface="Symbol" panose="05050102010706020507" pitchFamily="18" charset="2"/>
              <a:buChar char="·"/>
            </a:pPr>
            <a:endParaRPr lang="en-US" dirty="0"/>
          </a:p>
          <a:p>
            <a:pPr marL="285750" indent="-285750">
              <a:buFont typeface="Symbol" panose="05050102010706020507" pitchFamily="18" charset="2"/>
              <a:buChar char="·"/>
            </a:pPr>
            <a:r>
              <a:rPr lang="en-US" sz="2000" dirty="0"/>
              <a:t>Solve the chase equations graphically</a:t>
            </a:r>
          </a:p>
          <a:p>
            <a:pPr marL="742950" lvl="1" indent="-285750">
              <a:buFont typeface="Symbol" panose="05050102010706020507" pitchFamily="18" charset="2"/>
              <a:buChar char="·"/>
            </a:pPr>
            <a:r>
              <a:rPr lang="en-US" dirty="0"/>
              <a:t>Find the intersection point of the position-time graphs.  </a:t>
            </a:r>
          </a:p>
          <a:p>
            <a:pPr marL="285750" indent="-285750">
              <a:buFont typeface="Symbol" panose="05050102010706020507" pitchFamily="18" charset="2"/>
              <a:buChar char="·"/>
            </a:pPr>
            <a:endParaRPr lang="en-US" dirty="0"/>
          </a:p>
          <a:p>
            <a:pPr marL="285750" indent="-285750">
              <a:buFont typeface="Symbol" panose="05050102010706020507" pitchFamily="18" charset="2"/>
              <a:buChar char="·"/>
            </a:pPr>
            <a:r>
              <a:rPr lang="en-US" sz="2000" dirty="0"/>
              <a:t>Solve the equations algebraically</a:t>
            </a:r>
          </a:p>
          <a:p>
            <a:pPr marL="742950" lvl="1" indent="-285750">
              <a:buFont typeface="Symbol" panose="05050102010706020507" pitchFamily="18" charset="2"/>
              <a:buChar char="·"/>
            </a:pPr>
            <a:r>
              <a:rPr lang="en-US" dirty="0"/>
              <a:t>Using elimination or substitution</a:t>
            </a:r>
            <a:endParaRPr lang="en-CA" dirty="0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CD01213F-CB7D-4159-8072-688E15ADC19C}"/>
              </a:ext>
            </a:extLst>
          </p:cNvPr>
          <p:cNvSpPr/>
          <p:nvPr/>
        </p:nvSpPr>
        <p:spPr>
          <a:xfrm rot="4976227">
            <a:off x="4052532" y="2883178"/>
            <a:ext cx="3142298" cy="3585818"/>
          </a:xfrm>
          <a:prstGeom prst="arc">
            <a:avLst>
              <a:gd name="adj1" fmla="val 16558431"/>
              <a:gd name="adj2" fmla="val 21250973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95B3D42-BE24-4E1B-9C29-C4F10DFE406B}"/>
              </a:ext>
            </a:extLst>
          </p:cNvPr>
          <p:cNvGrpSpPr/>
          <p:nvPr/>
        </p:nvGrpSpPr>
        <p:grpSpPr>
          <a:xfrm>
            <a:off x="5567992" y="4041068"/>
            <a:ext cx="2555010" cy="2473355"/>
            <a:chOff x="5567992" y="4041068"/>
            <a:chExt cx="2555010" cy="247335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D00DFE3-64F3-4E94-A12A-540519EA9A38}"/>
                </a:ext>
              </a:extLst>
            </p:cNvPr>
            <p:cNvGrpSpPr/>
            <p:nvPr/>
          </p:nvGrpSpPr>
          <p:grpSpPr>
            <a:xfrm>
              <a:off x="5832140" y="4041068"/>
              <a:ext cx="2290862" cy="2223864"/>
              <a:chOff x="5832140" y="4041068"/>
              <a:chExt cx="2290862" cy="222386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B8EA0E3-3D9C-4E29-9A1C-767E8021E27E}"/>
                  </a:ext>
                </a:extLst>
              </p:cNvPr>
              <p:cNvSpPr/>
              <p:nvPr/>
            </p:nvSpPr>
            <p:spPr>
              <a:xfrm>
                <a:off x="5868144" y="4149080"/>
                <a:ext cx="2088232" cy="208823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D0CEA44-F5CB-4CF5-8361-A388026E9B3D}"/>
                  </a:ext>
                </a:extLst>
              </p:cNvPr>
              <p:cNvSpPr/>
              <p:nvPr/>
            </p:nvSpPr>
            <p:spPr>
              <a:xfrm>
                <a:off x="5832140" y="4041068"/>
                <a:ext cx="2160240" cy="2160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B5E38A7-46C7-40CB-9575-1CDDBCFB8A64}"/>
                  </a:ext>
                </a:extLst>
              </p:cNvPr>
              <p:cNvSpPr/>
              <p:nvPr/>
            </p:nvSpPr>
            <p:spPr>
              <a:xfrm>
                <a:off x="7956375" y="4176700"/>
                <a:ext cx="166627" cy="20882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9E46498-9C81-48E0-A08A-99BC8E57E0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8143" y="4797152"/>
              <a:ext cx="1944217" cy="1224136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0619D99-155A-4386-AAA4-26B12DE14A83}"/>
                </a:ext>
              </a:extLst>
            </p:cNvPr>
            <p:cNvSpPr txBox="1"/>
            <p:nvPr/>
          </p:nvSpPr>
          <p:spPr>
            <a:xfrm>
              <a:off x="7398437" y="5008530"/>
              <a:ext cx="5132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POI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4751A58-E0DA-4E3A-B7BB-7C6D253F9B87}"/>
                </a:ext>
              </a:extLst>
            </p:cNvPr>
            <p:cNvSpPr txBox="1"/>
            <p:nvPr/>
          </p:nvSpPr>
          <p:spPr>
            <a:xfrm>
              <a:off x="6639869" y="6206646"/>
              <a:ext cx="5469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Time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B005679-009A-41C7-A74C-ED7E264B8F16}"/>
                </a:ext>
              </a:extLst>
            </p:cNvPr>
            <p:cNvSpPr txBox="1"/>
            <p:nvPr/>
          </p:nvSpPr>
          <p:spPr>
            <a:xfrm>
              <a:off x="5567992" y="4312875"/>
              <a:ext cx="240100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Position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756DC1C-124B-4296-9597-D3897DC2A3FE}"/>
              </a:ext>
            </a:extLst>
          </p:cNvPr>
          <p:cNvSpPr txBox="1"/>
          <p:nvPr/>
        </p:nvSpPr>
        <p:spPr>
          <a:xfrm>
            <a:off x="1205060" y="4701265"/>
            <a:ext cx="16626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5x + 3y = 11</a:t>
            </a:r>
          </a:p>
          <a:p>
            <a:r>
              <a:rPr lang="en-US" sz="2400" dirty="0">
                <a:solidFill>
                  <a:srgbClr val="0070C0"/>
                </a:solidFill>
              </a:rPr>
              <a:t>2x – 3y = 3</a:t>
            </a:r>
          </a:p>
          <a:p>
            <a:r>
              <a:rPr lang="en-US" sz="2400" dirty="0">
                <a:solidFill>
                  <a:srgbClr val="0070C0"/>
                </a:solidFill>
              </a:rPr>
              <a:t>7x         = 14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x         =  2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32B03F3-16F3-444E-9973-791336F70266}"/>
              </a:ext>
            </a:extLst>
          </p:cNvPr>
          <p:cNvCxnSpPr>
            <a:stCxn id="16" idx="1"/>
            <a:endCxn id="16" idx="3"/>
          </p:cNvCxnSpPr>
          <p:nvPr/>
        </p:nvCxnSpPr>
        <p:spPr>
          <a:xfrm>
            <a:off x="1205060" y="5486095"/>
            <a:ext cx="1662635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767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3425" y="1047750"/>
            <a:ext cx="7419975" cy="670322"/>
          </a:xfrm>
        </p:spPr>
        <p:txBody>
          <a:bodyPr>
            <a:normAutofit fontScale="90000"/>
          </a:bodyPr>
          <a:lstStyle/>
          <a:p>
            <a:r>
              <a:rPr lang="en-CA" dirty="0"/>
              <a:t>Chase Problem: Minds On!!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6" y="1718072"/>
            <a:ext cx="5287124" cy="32635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72175" y="1790700"/>
            <a:ext cx="281940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100" dirty="0"/>
              <a:t>Two rugby players separated by 50.0 m begin running towards each other.  If neither changes direction or speed, where will they collide? </a:t>
            </a:r>
            <a:endParaRPr lang="en-US" sz="2100" dirty="0"/>
          </a:p>
        </p:txBody>
      </p:sp>
      <p:sp>
        <p:nvSpPr>
          <p:cNvPr id="6" name="TextBox 5"/>
          <p:cNvSpPr txBox="1"/>
          <p:nvPr/>
        </p:nvSpPr>
        <p:spPr>
          <a:xfrm>
            <a:off x="5839574" y="4785367"/>
            <a:ext cx="28194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100" dirty="0">
                <a:solidFill>
                  <a:srgbClr val="FF0000"/>
                </a:solidFill>
              </a:rPr>
              <a:t>Answer:  </a:t>
            </a:r>
            <a:r>
              <a:rPr lang="en-CA" sz="2100" dirty="0">
                <a:solidFill>
                  <a:srgbClr val="FF0000"/>
                </a:solidFill>
                <a:sym typeface="Symbol" panose="05050102010706020507" pitchFamily="18" charset="2"/>
              </a:rPr>
              <a:t>t =4.55s, </a:t>
            </a:r>
          </a:p>
          <a:p>
            <a:r>
              <a:rPr lang="en-CA" sz="2100" dirty="0">
                <a:solidFill>
                  <a:srgbClr val="FF0000"/>
                </a:solidFill>
                <a:sym typeface="Symbol" panose="05050102010706020507" pitchFamily="18" charset="2"/>
              </a:rPr>
              <a:t> d= 22.7 m [E] from A OR 27.3 m [W] from B      </a:t>
            </a:r>
            <a:r>
              <a:rPr lang="en-CA" sz="2100" dirty="0">
                <a:solidFill>
                  <a:srgbClr val="FF0000"/>
                </a:solidFill>
              </a:rPr>
              <a:t> </a:t>
            </a:r>
            <a:endParaRPr lang="en-US" sz="2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479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Warm-Up #1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CA" dirty="0"/>
              <a:t>Runner “A” starts at the origin and moves at a constant velocity of 10 m/s [E]. Runner “B” starts with a head start of 10 m [E] and moves at a constant velocity of 5 m/s [E]. When and where will runner “A” overtake runner “B”?</a:t>
            </a:r>
          </a:p>
          <a:p>
            <a:pPr lvl="1"/>
            <a:endParaRPr lang="en-CA" dirty="0"/>
          </a:p>
          <a:p>
            <a:r>
              <a:rPr lang="en-CA" dirty="0"/>
              <a:t>Hint: Remember POI and systems of equations from grade 10 math.</a:t>
            </a:r>
          </a:p>
          <a:p>
            <a:pPr lvl="1"/>
            <a:endParaRPr lang="en-CA" dirty="0"/>
          </a:p>
          <a:p>
            <a:pPr marL="514350" indent="-514350">
              <a:buFont typeface="+mj-lt"/>
              <a:buAutoNum type="alphaUcPeriod"/>
            </a:pPr>
            <a:r>
              <a:rPr lang="en-CA" dirty="0"/>
              <a:t>Solve the problem graphically using a P-T Graph.</a:t>
            </a:r>
          </a:p>
          <a:p>
            <a:pPr marL="914400" lvl="1" indent="-514350">
              <a:buFont typeface="+mj-lt"/>
              <a:buAutoNum type="alphaUcPeriod"/>
            </a:pPr>
            <a:endParaRPr lang="en-CA" dirty="0"/>
          </a:p>
          <a:p>
            <a:pPr marL="514350" indent="-514350">
              <a:buFont typeface="+mj-lt"/>
              <a:buAutoNum type="alphaUcPeriod"/>
            </a:pPr>
            <a:r>
              <a:rPr lang="en-CA" dirty="0"/>
              <a:t>Solve the system mathematically.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896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Warm-Up #2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 jogger with a constant velocity of 4.50 meters/second runs by a stationary dog. After 1.00 second, the dog decides to chase the jogger. The dog accelerates at 1.50 m/s</a:t>
            </a:r>
            <a:r>
              <a:rPr lang="en-US" baseline="30000" dirty="0"/>
              <a:t>2</a:t>
            </a:r>
            <a:r>
              <a:rPr lang="en-US" dirty="0"/>
              <a:t>.</a:t>
            </a:r>
          </a:p>
          <a:p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How much time does it take the dog to catch the jogger?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How far away from the spot where the dog was sitting has the jogger gone when she is caught by the dog?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  <a:p>
            <a:r>
              <a:rPr lang="en-US" b="1" u="sng" dirty="0"/>
              <a:t>Note:</a:t>
            </a:r>
            <a:r>
              <a:rPr lang="en-US" dirty="0"/>
              <a:t>  Assume the jogger is listening to her iPod and doesn't realize the dog is chasing her until it's too late. In other words, assume constant velocity for the jogger.</a:t>
            </a:r>
          </a:p>
          <a:p>
            <a:endParaRPr lang="en-CA" dirty="0"/>
          </a:p>
          <a:p>
            <a:r>
              <a:rPr lang="en-CA" b="1" u="sng" dirty="0"/>
              <a:t>Hint:</a:t>
            </a:r>
            <a:r>
              <a:rPr lang="en-CA" dirty="0"/>
              <a:t> Do your remember the “quadratic formula”?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711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410</Words>
  <Application>Microsoft Office PowerPoint</Application>
  <PresentationFormat>On-screen Show (4:3)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Symbol</vt:lpstr>
      <vt:lpstr>Office Theme</vt:lpstr>
      <vt:lpstr>Chase Problems</vt:lpstr>
      <vt:lpstr>PowerPoint Presentation</vt:lpstr>
      <vt:lpstr>Chase Problem: Minds On!!</vt:lpstr>
      <vt:lpstr>Warm-Up #1</vt:lpstr>
      <vt:lpstr>Warm-Up #2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Chase Problems</dc:title>
  <dc:creator>Peel District School Board</dc:creator>
  <cp:lastModifiedBy>Greg Nestor</cp:lastModifiedBy>
  <cp:revision>36</cp:revision>
  <cp:lastPrinted>2013-02-07T07:04:54Z</cp:lastPrinted>
  <dcterms:created xsi:type="dcterms:W3CDTF">2012-09-07T15:26:50Z</dcterms:created>
  <dcterms:modified xsi:type="dcterms:W3CDTF">2020-02-12T22:34:25Z</dcterms:modified>
</cp:coreProperties>
</file>