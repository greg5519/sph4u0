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7" r:id="rId5"/>
    <p:sldId id="258" r:id="rId6"/>
    <p:sldId id="259" r:id="rId7"/>
    <p:sldId id="261" r:id="rId8"/>
    <p:sldId id="260" r:id="rId9"/>
    <p:sldId id="262" r:id="rId10"/>
    <p:sldId id="263" r:id="rId11"/>
    <p:sldId id="264" r:id="rId12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28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034" y="285728"/>
            <a:ext cx="8501122" cy="1470025"/>
          </a:xfrm>
        </p:spPr>
        <p:txBody>
          <a:bodyPr>
            <a:normAutofit/>
          </a:bodyPr>
          <a:lstStyle/>
          <a:p>
            <a:r>
              <a:rPr lang="en-CA" sz="3200" dirty="0" smtClean="0"/>
              <a:t>Review: The “Famous Five” Kinematics Equations for Uniform Acceleration</a:t>
            </a:r>
            <a:endParaRPr lang="en-CA" sz="3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1643050"/>
            <a:ext cx="3786214" cy="2593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http://www.physicsclassroom.com/class/1dkin/U1L5a1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00892" y="1285860"/>
            <a:ext cx="1571636" cy="4547713"/>
          </a:xfrm>
          <a:prstGeom prst="rect">
            <a:avLst/>
          </a:prstGeom>
          <a:noFill/>
        </p:spPr>
      </p:pic>
      <p:pic>
        <p:nvPicPr>
          <p:cNvPr id="1031" name="Picture 7" descr="http://4.bp.blogspot.com/-ZaaLa5_81Nc/UBrDFDi-8EI/AAAAAAAABHc/0C8KIxmjmho/s400/Barrack+Hill+Ball+Run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57686" y="2428868"/>
            <a:ext cx="2819393" cy="264318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-2242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CA" sz="3200" b="1" dirty="0" smtClean="0"/>
              <a:t>Uniform Acceleration-Warm Up</a:t>
            </a:r>
            <a:br>
              <a:rPr lang="en-CA" sz="3200" b="1" dirty="0" smtClean="0"/>
            </a:br>
            <a:r>
              <a:rPr lang="en-CA" sz="3200" b="1" dirty="0" smtClean="0"/>
              <a:t>What do the corresponding v-t graphs look like for the following motions? </a:t>
            </a:r>
            <a:endParaRPr lang="en-US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318706"/>
            <a:ext cx="7671494" cy="4943103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5076056" y="1844824"/>
            <a:ext cx="1800200" cy="1656184"/>
          </a:xfrm>
          <a:prstGeom prst="line">
            <a:avLst/>
          </a:prstGeom>
          <a:ln w="793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004048" y="4509120"/>
            <a:ext cx="2088232" cy="1440160"/>
          </a:xfrm>
          <a:prstGeom prst="line">
            <a:avLst/>
          </a:prstGeom>
          <a:ln w="793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90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2024062"/>
            <a:ext cx="8086725" cy="39972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-2242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CA" sz="3200" b="1" dirty="0"/>
              <a:t/>
            </a:r>
            <a:br>
              <a:rPr lang="en-CA" sz="3200" b="1" dirty="0"/>
            </a:br>
            <a:r>
              <a:rPr lang="en-CA" sz="3200" b="1" dirty="0" smtClean="0"/>
              <a:t>Combo Problems Warm up- What does the corresponding v-t graphs look like for the following motion? </a:t>
            </a:r>
            <a:endParaRPr lang="en-US" sz="3200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516216" y="4149080"/>
            <a:ext cx="720080" cy="1008112"/>
          </a:xfrm>
          <a:prstGeom prst="line">
            <a:avLst/>
          </a:prstGeom>
          <a:ln w="793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436096" y="4149080"/>
            <a:ext cx="1080120" cy="0"/>
          </a:xfrm>
          <a:prstGeom prst="line">
            <a:avLst/>
          </a:prstGeom>
          <a:ln w="698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236296" y="5157192"/>
            <a:ext cx="720080" cy="0"/>
          </a:xfrm>
          <a:prstGeom prst="line">
            <a:avLst/>
          </a:prstGeom>
          <a:ln w="698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16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538" y="142852"/>
            <a:ext cx="7358114" cy="1082660"/>
          </a:xfrm>
        </p:spPr>
        <p:txBody>
          <a:bodyPr>
            <a:normAutofit/>
          </a:bodyPr>
          <a:lstStyle/>
          <a:p>
            <a:pPr algn="l"/>
            <a:r>
              <a:rPr lang="en-CA" sz="2800" dirty="0" smtClean="0"/>
              <a:t>Kinematics Equations for Uniform Acceleration</a:t>
            </a:r>
            <a:endParaRPr lang="en-CA" sz="2800" dirty="0"/>
          </a:p>
        </p:txBody>
      </p:sp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1214422"/>
            <a:ext cx="2857520" cy="1210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" name="Picture 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2428868"/>
            <a:ext cx="3823101" cy="90487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6" name="Picture 1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86512" y="2285992"/>
            <a:ext cx="2200275" cy="5524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7" name="Picture 1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4414" y="3357561"/>
            <a:ext cx="3786214" cy="7994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8" name="Picture 2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85851" y="4286256"/>
            <a:ext cx="4179123" cy="92869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9" name="Picture 2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214414" y="5143512"/>
            <a:ext cx="4143404" cy="15295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5143504" y="250030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OR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CA" u="sng" dirty="0" smtClean="0"/>
              <a:t>Application</a:t>
            </a:r>
            <a:endParaRPr lang="en-CA" u="sng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14348" y="1214422"/>
            <a:ext cx="842965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</a:t>
            </a:r>
            <a:r>
              <a:rPr kumimoji="0" lang="en-CA" sz="2400" b="0" i="0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each problem: </a:t>
            </a:r>
          </a:p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CA" sz="2400" noProof="0" dirty="0" smtClean="0">
                <a:latin typeface="+mj-lt"/>
                <a:ea typeface="+mj-ea"/>
                <a:cs typeface="+mj-cs"/>
              </a:rPr>
              <a:t>Identify the variables (given and unknown)</a:t>
            </a:r>
          </a:p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400" b="0" i="0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Identify the appropriate</a:t>
            </a:r>
            <a:r>
              <a:rPr kumimoji="0" lang="en-CA" sz="2400" b="0" i="0" strike="noStrike" kern="120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equation to solve for the unknown.</a:t>
            </a:r>
          </a:p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AutoNum type="arabicPeriod" startAt="3"/>
              <a:tabLst/>
              <a:defRPr/>
            </a:pPr>
            <a:r>
              <a:rPr lang="en-CA" sz="2400" dirty="0" smtClean="0">
                <a:latin typeface="+mj-lt"/>
                <a:ea typeface="+mj-ea"/>
                <a:cs typeface="+mj-cs"/>
              </a:rPr>
              <a:t>Rewrite the equation as needed. </a:t>
            </a:r>
          </a:p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AutoNum type="arabicPeriod" startAt="3"/>
              <a:tabLst/>
              <a:defRPr/>
            </a:pPr>
            <a:r>
              <a:rPr lang="en-CA" sz="2400" dirty="0" smtClean="0">
                <a:latin typeface="+mj-lt"/>
                <a:ea typeface="+mj-ea"/>
                <a:cs typeface="+mj-cs"/>
              </a:rPr>
              <a:t>Solve the problem!</a:t>
            </a:r>
            <a:endParaRPr kumimoji="0" lang="en-CA" sz="2400" b="0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844" y="3286124"/>
            <a:ext cx="87154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CA" sz="2800" dirty="0" smtClean="0"/>
              <a:t>You throw a rock off a cliff, giving it a velocity of 8.30 m/s [down].  At the instant you drop the rock, your hiking buddy begins timing the falling rock on his phone.  You hear the splash 6.90 s later when the rock lands in the river below.  How high is the cliff above the river?   </a:t>
            </a:r>
            <a:r>
              <a:rPr lang="en-CA" sz="2800" dirty="0"/>
              <a:t> </a:t>
            </a:r>
            <a:r>
              <a:rPr lang="en-CA" sz="2800" dirty="0" smtClean="0"/>
              <a:t>                                                                                                ( </a:t>
            </a:r>
            <a:r>
              <a:rPr lang="en-CA" sz="2800" dirty="0" err="1" smtClean="0"/>
              <a:t>Ans</a:t>
            </a:r>
            <a:r>
              <a:rPr lang="en-CA" sz="2800" dirty="0" smtClean="0"/>
              <a:t>: 291 m)</a:t>
            </a:r>
            <a:endParaRPr lang="en-CA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85728"/>
            <a:ext cx="88936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CA" dirty="0" smtClean="0"/>
              <a:t>2</a:t>
            </a:r>
            <a:r>
              <a:rPr lang="en-CA" sz="4000" dirty="0" smtClean="0"/>
              <a:t>.    A car travelling at 24.0 m/s [West] accelerates uniformly at 1.50 m/s</a:t>
            </a:r>
            <a:r>
              <a:rPr lang="en-CA" sz="4000" baseline="30000" dirty="0" smtClean="0"/>
              <a:t>2</a:t>
            </a:r>
            <a:r>
              <a:rPr lang="en-CA" sz="4000" dirty="0" smtClean="0"/>
              <a:t> [East] when it enters a school zone.  The car reaches a final velocity of 18.0 m/s [West].  For how long did it accelerate?      					(</a:t>
            </a:r>
            <a:r>
              <a:rPr lang="en-CA" sz="4000" dirty="0" err="1" smtClean="0"/>
              <a:t>Ans</a:t>
            </a:r>
            <a:r>
              <a:rPr lang="en-CA" sz="4000" dirty="0" smtClean="0"/>
              <a:t>: 4.00 seconds)</a:t>
            </a:r>
            <a:endParaRPr lang="en-CA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642918"/>
            <a:ext cx="87154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CA" sz="3600" dirty="0" smtClean="0"/>
              <a:t>3. A race car accelerates at 5.00 m/s</a:t>
            </a:r>
            <a:r>
              <a:rPr lang="en-CA" sz="3600" baseline="30000" dirty="0" smtClean="0"/>
              <a:t>2 </a:t>
            </a:r>
            <a:r>
              <a:rPr lang="en-CA" sz="3600" dirty="0" smtClean="0"/>
              <a:t>[Forward]. If it has a final velocity of 200.0 km/h [Forward], </a:t>
            </a:r>
            <a:r>
              <a:rPr lang="en-CA" sz="3600" dirty="0"/>
              <a:t> </a:t>
            </a:r>
            <a:r>
              <a:rPr lang="en-CA" sz="3600" dirty="0" smtClean="0"/>
              <a:t>how far has it travelled after 8.00 seconds? 	                    </a:t>
            </a:r>
          </a:p>
          <a:p>
            <a:pPr marL="342900" indent="-342900"/>
            <a:r>
              <a:rPr lang="en-CA" sz="3600" dirty="0" smtClean="0"/>
              <a:t> (</a:t>
            </a:r>
            <a:r>
              <a:rPr lang="en-CA" sz="3600" dirty="0" err="1" smtClean="0"/>
              <a:t>Ans</a:t>
            </a:r>
            <a:r>
              <a:rPr lang="en-CA" sz="3600" dirty="0" smtClean="0"/>
              <a:t>: 284 m) 				</a:t>
            </a:r>
            <a:endParaRPr lang="en-CA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500042"/>
            <a:ext cx="871543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CA" sz="4400" dirty="0" smtClean="0"/>
              <a:t>4. A clown throws a juggling ball up in the air with an initial velocity of 8.00 m/s [ up].  How far up in the air will the ball rise? 	                     		                            (</a:t>
            </a:r>
            <a:r>
              <a:rPr lang="en-CA" sz="4400" dirty="0" err="1" smtClean="0"/>
              <a:t>Ans</a:t>
            </a:r>
            <a:r>
              <a:rPr lang="en-CA" sz="4400" dirty="0" smtClean="0"/>
              <a:t>: 3.27 m) </a:t>
            </a:r>
            <a:r>
              <a:rPr lang="en-CA" dirty="0" smtClean="0"/>
              <a:t>				</a:t>
            </a:r>
            <a:endParaRPr lang="en-C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2844" y="428604"/>
            <a:ext cx="87154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CA" dirty="0"/>
              <a:t>5</a:t>
            </a:r>
            <a:r>
              <a:rPr lang="en-CA" dirty="0" smtClean="0"/>
              <a:t>. </a:t>
            </a:r>
            <a:r>
              <a:rPr lang="en-CA" sz="3200" dirty="0" smtClean="0"/>
              <a:t>An airplane lands on a runway moving at 280.0 km/h [ East].   After travelling 200.0 m along the runway  the plane has slowed down to 30.0 km/h [East]. What time has it taken to reach this final velocity?   				</a:t>
            </a:r>
          </a:p>
          <a:p>
            <a:pPr marL="342900" indent="-342900"/>
            <a:r>
              <a:rPr lang="en-CA" sz="3200" dirty="0" smtClean="0"/>
              <a:t>(</a:t>
            </a:r>
            <a:r>
              <a:rPr lang="en-CA" sz="3200" dirty="0" err="1" smtClean="0"/>
              <a:t>Ans</a:t>
            </a:r>
            <a:r>
              <a:rPr lang="en-CA" sz="3200" dirty="0" smtClean="0"/>
              <a:t>:  4.65 seconds</a:t>
            </a:r>
            <a:r>
              <a:rPr lang="en-CA" dirty="0" smtClean="0"/>
              <a:t>)				</a:t>
            </a:r>
            <a:endParaRPr lang="en-C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714356"/>
            <a:ext cx="871543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CA" dirty="0" smtClean="0"/>
              <a:t>6</a:t>
            </a:r>
            <a:r>
              <a:rPr lang="en-CA" sz="3200" dirty="0" smtClean="0"/>
              <a:t>.    A car travels east along a straight road at a constant velocity of 18.0 m/s.  After 5.0 seconds, it accelerates uniformly for 4.00 seconds.  When it reaches a velocity of 24.0 m/s, the car proceeds with uniform motion for 6.00 seconds.  Determine the car’s total displacement during the trip.             			(</a:t>
            </a:r>
            <a:r>
              <a:rPr lang="en-CA" sz="3200" dirty="0" err="1" smtClean="0"/>
              <a:t>Ans</a:t>
            </a:r>
            <a:r>
              <a:rPr lang="en-CA" sz="3200" dirty="0" smtClean="0"/>
              <a:t>: 318 m [E])				</a:t>
            </a:r>
            <a:endParaRPr lang="en-CA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428596" y="214290"/>
            <a:ext cx="4071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 smtClean="0"/>
              <a:t>Combo Problems!</a:t>
            </a:r>
            <a:endParaRPr lang="en-CA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357166"/>
            <a:ext cx="871543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7"/>
            </a:pPr>
            <a:r>
              <a:rPr lang="en-CA" sz="2800" dirty="0" smtClean="0"/>
              <a:t>While driving to school one morning at a constant velocity of 60.0 km/h [East], Ms. Ryan sees a truck suddenly stop up ahead as a squirrel runs across the road.  It takes Ms. Ryan 200.0 ms to react and put on the brakes.  Her car accelerates uniformly at 2.5 m/s</a:t>
            </a:r>
            <a:r>
              <a:rPr lang="en-CA" sz="2800" baseline="30000" dirty="0" smtClean="0"/>
              <a:t>2</a:t>
            </a:r>
            <a:r>
              <a:rPr lang="en-CA" sz="2800" dirty="0" smtClean="0"/>
              <a:t> [West] once the brake is applied. </a:t>
            </a:r>
          </a:p>
          <a:p>
            <a:pPr marL="342900" indent="-342900"/>
            <a:r>
              <a:rPr lang="en-CA" sz="2800" dirty="0" smtClean="0"/>
              <a:t>a) Draw sketches of the velocity-time and displacement time graphs representing Ms. Ryan’s motion.    </a:t>
            </a:r>
          </a:p>
          <a:p>
            <a:pPr marL="342900" indent="-342900"/>
            <a:r>
              <a:rPr lang="en-CA" sz="2800" dirty="0" smtClean="0"/>
              <a:t>b) If the truck was 60.0 m ahead of her when she first saw it stopped, will Ms. Ryan be able to stop in time?  					(</a:t>
            </a:r>
            <a:r>
              <a:rPr lang="en-CA" sz="2800" dirty="0" err="1" smtClean="0"/>
              <a:t>Ans</a:t>
            </a:r>
            <a:r>
              <a:rPr lang="en-CA" sz="2800" dirty="0" smtClean="0"/>
              <a:t>: Luckily yes!!)	</a:t>
            </a:r>
            <a:r>
              <a:rPr lang="en-CA" dirty="0" smtClean="0"/>
              <a:t>			</a:t>
            </a:r>
            <a:endParaRPr lang="en-C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449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Review: The “Famous Five” Kinematics Equations for Uniform Acceleration</vt:lpstr>
      <vt:lpstr>Uniform Acceleration-Warm Up What do the corresponding v-t graphs look like for the following motions? </vt:lpstr>
      <vt:lpstr> Combo Problems Warm up- What does the corresponding v-t graphs look like for the following motion? </vt:lpstr>
      <vt:lpstr>Kinematics Equations for Uniform Acceleration</vt:lpstr>
      <vt:lpstr>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Review: The “Famous Five” Kinematics Equations for Uniform Acceleration</dc:title>
  <dc:creator>Peel District School Board</dc:creator>
  <cp:lastModifiedBy>Ryan, Linda</cp:lastModifiedBy>
  <cp:revision>18</cp:revision>
  <dcterms:created xsi:type="dcterms:W3CDTF">2013-02-06T15:43:55Z</dcterms:created>
  <dcterms:modified xsi:type="dcterms:W3CDTF">2019-02-19T14:46:28Z</dcterms:modified>
</cp:coreProperties>
</file>