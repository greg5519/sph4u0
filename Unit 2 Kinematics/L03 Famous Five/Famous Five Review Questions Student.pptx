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00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FFD44-D5E2-4E19-A53B-3C4156FDC947}" type="datetimeFigureOut">
              <a:rPr lang="en-US" smtClean="0"/>
              <a:pPr/>
              <a:t>2/19/2019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10D14-7E6D-4C7B-9DE1-F5B4B7286566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1214422"/>
            <a:ext cx="2857520" cy="1210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2428868"/>
            <a:ext cx="3823101" cy="90487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6" name="Picture 1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86512" y="2285992"/>
            <a:ext cx="2200275" cy="5524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7" name="Picture 1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4414" y="3357561"/>
            <a:ext cx="3786214" cy="7994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8" name="Picture 2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85851" y="4286256"/>
            <a:ext cx="4179123" cy="92869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9" name="Picture 2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214414" y="5143512"/>
            <a:ext cx="4143404" cy="15295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5143504" y="250030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OR</a:t>
            </a:r>
            <a:endParaRPr lang="en-CA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357158" y="0"/>
            <a:ext cx="850112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Review: The “Famous Five” Kinematics Equations for Uniform Acceleration</a:t>
            </a:r>
            <a:endParaRPr kumimoji="0" lang="en-CA" sz="3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CA" u="sng" dirty="0" smtClean="0"/>
              <a:t>Application</a:t>
            </a:r>
            <a:endParaRPr lang="en-CA" u="sng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1560" y="1052736"/>
            <a:ext cx="842965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CA" sz="2400" noProof="0" dirty="0" smtClean="0">
                <a:latin typeface="+mj-lt"/>
                <a:ea typeface="+mj-ea"/>
                <a:cs typeface="+mj-cs"/>
              </a:rPr>
              <a:t>Identify </a:t>
            </a:r>
            <a:r>
              <a:rPr lang="en-CA" sz="2400" noProof="0" dirty="0" smtClean="0">
                <a:latin typeface="+mj-lt"/>
                <a:ea typeface="+mj-ea"/>
                <a:cs typeface="+mj-cs"/>
              </a:rPr>
              <a:t>the variables (given and unknown)</a:t>
            </a:r>
          </a:p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400" b="0" i="0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Identify the appropriate</a:t>
            </a:r>
            <a:r>
              <a:rPr kumimoji="0" lang="en-CA" sz="2400" b="0" i="0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equation to solve for the unknown.</a:t>
            </a:r>
          </a:p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AutoNum type="arabicPeriod" startAt="3"/>
              <a:tabLst/>
              <a:defRPr/>
            </a:pPr>
            <a:r>
              <a:rPr lang="en-CA" sz="2400" dirty="0" smtClean="0">
                <a:latin typeface="+mj-lt"/>
                <a:ea typeface="+mj-ea"/>
                <a:cs typeface="+mj-cs"/>
              </a:rPr>
              <a:t>Rewrite the equation as needed. </a:t>
            </a:r>
          </a:p>
          <a:p>
            <a:pPr marL="742950" marR="0" lvl="0" indent="-74295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AutoNum type="arabicPeriod" startAt="3"/>
              <a:tabLst/>
              <a:defRPr/>
            </a:pPr>
            <a:r>
              <a:rPr lang="en-CA" sz="2400" dirty="0" smtClean="0">
                <a:latin typeface="+mj-lt"/>
                <a:ea typeface="+mj-ea"/>
                <a:cs typeface="+mj-cs"/>
              </a:rPr>
              <a:t>Solve the problem!</a:t>
            </a:r>
            <a:endParaRPr kumimoji="0" lang="en-CA" sz="2400" b="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776" y="2492896"/>
            <a:ext cx="87154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CA" sz="2400" dirty="0" smtClean="0"/>
              <a:t>You throw a rock off a cliff, giving it a velocity of 8.30 m/s [down].  At the instant you drop the rock, your hiking buddy begins timing the falling rock on his phone.  You hear the splash 6.90 s later when the rock lands in the river below.  How high is the cliff above the river?   </a:t>
            </a:r>
            <a:r>
              <a:rPr lang="en-CA" sz="2400" dirty="0"/>
              <a:t> </a:t>
            </a:r>
            <a:r>
              <a:rPr lang="en-CA" sz="2400" dirty="0" smtClean="0"/>
              <a:t>                                                                    </a:t>
            </a:r>
            <a:r>
              <a:rPr lang="en-CA" sz="2400" dirty="0" smtClean="0"/>
              <a:t>( </a:t>
            </a:r>
            <a:r>
              <a:rPr lang="en-CA" sz="2400" dirty="0" err="1" smtClean="0"/>
              <a:t>Ans</a:t>
            </a:r>
            <a:r>
              <a:rPr lang="en-CA" sz="2400" dirty="0" smtClean="0"/>
              <a:t>: 291 m)</a:t>
            </a:r>
            <a:endParaRPr lang="en-CA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85728"/>
            <a:ext cx="8715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CA" sz="2800" dirty="0" smtClean="0"/>
              <a:t>2.    A car travelling at 24.0 m/s [West] accelerates uniformly at 1.50 m/s</a:t>
            </a:r>
            <a:r>
              <a:rPr lang="en-CA" sz="2800" baseline="30000" dirty="0" smtClean="0"/>
              <a:t>2</a:t>
            </a:r>
            <a:r>
              <a:rPr lang="en-CA" sz="2800" dirty="0" smtClean="0"/>
              <a:t> [East] when it enters a school zone.  The car reaches a final velocity of 18.0 m/s [West].  For how long did it accelerate?     </a:t>
            </a:r>
            <a:r>
              <a:rPr lang="en-CA" sz="2800" dirty="0" smtClean="0"/>
              <a:t>(</a:t>
            </a:r>
            <a:r>
              <a:rPr lang="en-CA" sz="2800" dirty="0" err="1" smtClean="0"/>
              <a:t>Ans</a:t>
            </a:r>
            <a:r>
              <a:rPr lang="en-CA" sz="2800" dirty="0" smtClean="0"/>
              <a:t>: 4.00 </a:t>
            </a:r>
            <a:r>
              <a:rPr lang="en-CA" sz="2800" dirty="0" smtClean="0"/>
              <a:t>s)</a:t>
            </a:r>
            <a:endParaRPr lang="en-CA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71543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CA" sz="2800" dirty="0" smtClean="0"/>
              <a:t>3. A race car accelerates at 5.00 m/s</a:t>
            </a:r>
            <a:r>
              <a:rPr lang="en-CA" sz="2800" baseline="30000" dirty="0" smtClean="0"/>
              <a:t>2 </a:t>
            </a:r>
            <a:r>
              <a:rPr lang="en-CA" sz="2800" dirty="0" smtClean="0"/>
              <a:t>[Forward]. If it has a final velocity of 200.0 km/h [Forward], </a:t>
            </a:r>
            <a:r>
              <a:rPr lang="en-CA" sz="2800" dirty="0"/>
              <a:t> </a:t>
            </a:r>
            <a:r>
              <a:rPr lang="en-CA" sz="2800" dirty="0" smtClean="0"/>
              <a:t>how far has it travelled after 8.00 seconds? 	 </a:t>
            </a:r>
            <a:r>
              <a:rPr lang="en-CA" sz="2800" dirty="0" smtClean="0"/>
              <a:t>  </a:t>
            </a:r>
            <a:r>
              <a:rPr lang="en-CA" sz="2800" dirty="0" smtClean="0"/>
              <a:t>(</a:t>
            </a:r>
            <a:r>
              <a:rPr lang="en-CA" sz="2800" dirty="0" err="1" smtClean="0"/>
              <a:t>Ans</a:t>
            </a:r>
            <a:r>
              <a:rPr lang="en-CA" sz="2800" dirty="0" smtClean="0"/>
              <a:t>: 284 m) 	</a:t>
            </a:r>
            <a:r>
              <a:rPr lang="en-CA" dirty="0" smtClean="0"/>
              <a:t>			</a:t>
            </a:r>
            <a:endParaRPr lang="en-C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500042"/>
            <a:ext cx="87154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CA" sz="2400" dirty="0" smtClean="0"/>
              <a:t>4. A clown throws a juggling ball up in the air with an initial </a:t>
            </a:r>
            <a:r>
              <a:rPr lang="en-CA" sz="2400" dirty="0" err="1" smtClean="0"/>
              <a:t>velocityof</a:t>
            </a:r>
            <a:r>
              <a:rPr lang="en-CA" sz="2400" dirty="0" smtClean="0"/>
              <a:t> </a:t>
            </a:r>
            <a:r>
              <a:rPr lang="en-CA" sz="2400" dirty="0" smtClean="0"/>
              <a:t>8.00 m/s [ up].  How far up in the air will the ball rise? 	                     		</a:t>
            </a:r>
            <a:r>
              <a:rPr lang="en-CA" sz="2400" dirty="0" smtClean="0"/>
              <a:t>                                            (</a:t>
            </a:r>
            <a:r>
              <a:rPr lang="en-CA" sz="2400" dirty="0" err="1" smtClean="0"/>
              <a:t>Ans</a:t>
            </a:r>
            <a:r>
              <a:rPr lang="en-CA" sz="2400" dirty="0" smtClean="0"/>
              <a:t>: 3.27 m) 				</a:t>
            </a:r>
            <a:endParaRPr lang="en-CA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2844" y="428604"/>
            <a:ext cx="87154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CA" sz="2400" dirty="0"/>
              <a:t>5</a:t>
            </a:r>
            <a:r>
              <a:rPr lang="en-CA" sz="2400" dirty="0" smtClean="0"/>
              <a:t>. An airplane lands on a runway moving at 280.0 km/h [ East].   After travelling 200.0 m along the runway  the plane has slowed down to 30.0 km/h [East]. What time has it taken to reach this final velocity?   				(</a:t>
            </a:r>
            <a:r>
              <a:rPr lang="en-CA" sz="2400" dirty="0" err="1" smtClean="0"/>
              <a:t>Ans</a:t>
            </a:r>
            <a:r>
              <a:rPr lang="en-CA" sz="2400" dirty="0" smtClean="0"/>
              <a:t>:  4.65 seconds)				</a:t>
            </a:r>
            <a:endParaRPr lang="en-CA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714356"/>
            <a:ext cx="871543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CA" sz="2400" dirty="0" smtClean="0"/>
              <a:t>6.    A car travels east along a straight road at a constant velocity of 18.0 m/s.  After 5.0 seconds, it accelerates uniformly for 4.00 seconds.  When it reaches a velocity of 24.0 m/s, the car proceeds with uniform motion for 6.00 seconds.  Determine the car’s total displacement during the trip.             		(</a:t>
            </a:r>
            <a:r>
              <a:rPr lang="en-CA" sz="2400" dirty="0" err="1" smtClean="0"/>
              <a:t>Ans</a:t>
            </a:r>
            <a:r>
              <a:rPr lang="en-CA" sz="2400" dirty="0" smtClean="0"/>
              <a:t>: 318 m [E])</a:t>
            </a:r>
            <a:r>
              <a:rPr lang="en-CA" dirty="0" smtClean="0"/>
              <a:t>				</a:t>
            </a:r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428596" y="214290"/>
            <a:ext cx="4071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 smtClean="0"/>
              <a:t>Combo Problems!</a:t>
            </a:r>
            <a:endParaRPr lang="en-CA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88640"/>
            <a:ext cx="871543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7"/>
            </a:pPr>
            <a:r>
              <a:rPr lang="en-CA" sz="2400" dirty="0" smtClean="0"/>
              <a:t>While driving to school </a:t>
            </a:r>
            <a:r>
              <a:rPr lang="en-CA" sz="2400" dirty="0" smtClean="0"/>
              <a:t>at </a:t>
            </a:r>
            <a:r>
              <a:rPr lang="en-CA" sz="2400" dirty="0" smtClean="0"/>
              <a:t>a constant velocity of 60.0 km/h [East], Ms. Ryan sees a </a:t>
            </a:r>
            <a:r>
              <a:rPr lang="en-CA" sz="2400" dirty="0" smtClean="0"/>
              <a:t>delivery truck suddenly stop </a:t>
            </a:r>
            <a:r>
              <a:rPr lang="en-CA" sz="2400" dirty="0" smtClean="0"/>
              <a:t>up </a:t>
            </a:r>
            <a:r>
              <a:rPr lang="en-CA" sz="2400" dirty="0" smtClean="0"/>
              <a:t>ahead.  </a:t>
            </a:r>
            <a:r>
              <a:rPr lang="en-CA" sz="2400" dirty="0" smtClean="0"/>
              <a:t>It takes Ms. Ryan 200.0 ms to react and put on the brakes.  Her car accelerates uniformly at 2.5 m/s</a:t>
            </a:r>
            <a:r>
              <a:rPr lang="en-CA" sz="2400" baseline="30000" dirty="0" smtClean="0"/>
              <a:t>2</a:t>
            </a:r>
            <a:r>
              <a:rPr lang="en-CA" sz="2400" dirty="0" smtClean="0"/>
              <a:t> [West] once the brake is applied. </a:t>
            </a:r>
          </a:p>
          <a:p>
            <a:pPr marL="342900" indent="-342900"/>
            <a:r>
              <a:rPr lang="en-CA" sz="2400" dirty="0" smtClean="0"/>
              <a:t>a) Draw sketches of the velocity-time and displacement time graphs representing Ms. Ryan’s motion.    </a:t>
            </a:r>
          </a:p>
          <a:p>
            <a:pPr marL="342900" indent="-342900"/>
            <a:r>
              <a:rPr lang="en-CA" sz="2400" dirty="0" smtClean="0"/>
              <a:t>b) If the truck was 60.0 m ahead of her when she first saw it stopped, will Ms. Ryan be able to stop in time?  		</a:t>
            </a:r>
            <a:r>
              <a:rPr lang="en-CA" dirty="0" smtClean="0"/>
              <a:t>			</a:t>
            </a:r>
            <a:endParaRPr lang="en-C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434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Review: The “Famous Five” Kinematics Equations for Uniform Acceleration</dc:title>
  <dc:creator>Peel District School Board</dc:creator>
  <cp:lastModifiedBy>Ryan, Linda</cp:lastModifiedBy>
  <cp:revision>13</cp:revision>
  <cp:lastPrinted>2019-02-19T13:48:25Z</cp:lastPrinted>
  <dcterms:created xsi:type="dcterms:W3CDTF">2013-02-06T15:43:55Z</dcterms:created>
  <dcterms:modified xsi:type="dcterms:W3CDTF">2019-02-19T13:49:52Z</dcterms:modified>
</cp:coreProperties>
</file>