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5" r:id="rId8"/>
    <p:sldId id="263" r:id="rId9"/>
    <p:sldId id="266" r:id="rId10"/>
    <p:sldId id="267" r:id="rId11"/>
    <p:sldId id="268" r:id="rId12"/>
    <p:sldId id="269" r:id="rId13"/>
    <p:sldId id="264" r:id="rId14"/>
  </p:sldIdLst>
  <p:sldSz cx="9144000" cy="6858000" type="screen4x3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33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Projectile Motion  – Sep 29</a:t>
            </a:r>
            <a:br>
              <a:rPr lang="en-US" dirty="0" smtClean="0"/>
            </a:br>
            <a:r>
              <a:rPr lang="en-US" dirty="0" smtClean="0"/>
              <a:t>(Kinematics Day 13)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Agenda</a:t>
            </a:r>
          </a:p>
          <a:p>
            <a:pPr lvl="1"/>
            <a:r>
              <a:rPr lang="en-CA" dirty="0" smtClean="0"/>
              <a:t>Horizontal Launch (Grade 11 Review)</a:t>
            </a:r>
          </a:p>
          <a:p>
            <a:pPr lvl="1"/>
            <a:r>
              <a:rPr lang="en-CA" dirty="0" smtClean="0"/>
              <a:t>Angled Launch (Vectors)</a:t>
            </a:r>
          </a:p>
          <a:p>
            <a:pPr lvl="1"/>
            <a:r>
              <a:rPr lang="en-CA" dirty="0" smtClean="0"/>
              <a:t>Worksheet: Projectile Motion – Review Problems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Objectives</a:t>
            </a:r>
          </a:p>
          <a:p>
            <a:pPr lvl="1"/>
            <a:r>
              <a:rPr lang="en-CA" dirty="0" smtClean="0"/>
              <a:t>To review projectile motion with only an initial horizontal velocity.</a:t>
            </a:r>
          </a:p>
          <a:p>
            <a:pPr lvl="1"/>
            <a:r>
              <a:rPr lang="en-CA" dirty="0"/>
              <a:t>To </a:t>
            </a:r>
            <a:r>
              <a:rPr lang="en-CA" dirty="0" smtClean="0"/>
              <a:t>introduce projectile </a:t>
            </a:r>
            <a:r>
              <a:rPr lang="en-CA" dirty="0"/>
              <a:t>motion with </a:t>
            </a:r>
            <a:r>
              <a:rPr lang="en-CA" dirty="0" smtClean="0"/>
              <a:t>an angled vector launch velocity</a:t>
            </a:r>
            <a:r>
              <a:rPr lang="en-CA" dirty="0"/>
              <a:t>.</a:t>
            </a:r>
            <a:endParaRPr lang="en-CA" dirty="0" smtClean="0"/>
          </a:p>
          <a:p>
            <a:pPr lvl="1"/>
            <a:endParaRPr lang="en-CA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Upcoming</a:t>
            </a:r>
          </a:p>
          <a:p>
            <a:pPr lvl="1"/>
            <a:r>
              <a:rPr lang="en-CA" sz="2600" dirty="0" smtClean="0"/>
              <a:t>See New Unit Schedule</a:t>
            </a:r>
            <a:endParaRPr lang="en-US" sz="2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 Unit Schedule Update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 smtClean="0"/>
              <a:t>Wed. Sep 28</a:t>
            </a:r>
          </a:p>
          <a:p>
            <a:pPr lvl="1"/>
            <a:r>
              <a:rPr lang="en-US" dirty="0" smtClean="0"/>
              <a:t>Assignment / Quiz: 2D Displacement &amp; Relative Velocity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Thu. </a:t>
            </a:r>
            <a:r>
              <a:rPr lang="en-US" dirty="0"/>
              <a:t>Sep </a:t>
            </a:r>
            <a:r>
              <a:rPr lang="en-US" dirty="0" smtClean="0"/>
              <a:t>29</a:t>
            </a:r>
            <a:endParaRPr lang="en-US" dirty="0"/>
          </a:p>
          <a:p>
            <a:pPr lvl="1"/>
            <a:r>
              <a:rPr lang="en-US" dirty="0"/>
              <a:t>Projectile Motion </a:t>
            </a:r>
            <a:r>
              <a:rPr lang="en-US" dirty="0" smtClean="0"/>
              <a:t>Lesson</a:t>
            </a:r>
          </a:p>
          <a:p>
            <a:pPr lvl="1"/>
            <a:endParaRPr lang="en-US" dirty="0" smtClean="0"/>
          </a:p>
          <a:p>
            <a:r>
              <a:rPr lang="en-US" dirty="0"/>
              <a:t>Fri. Sep </a:t>
            </a:r>
            <a:r>
              <a:rPr lang="en-US" dirty="0" smtClean="0"/>
              <a:t>30 (Supply)</a:t>
            </a:r>
            <a:endParaRPr lang="en-US" dirty="0"/>
          </a:p>
          <a:p>
            <a:pPr lvl="1"/>
            <a:r>
              <a:rPr lang="en-US" dirty="0" smtClean="0"/>
              <a:t>Work Period</a:t>
            </a:r>
          </a:p>
          <a:p>
            <a:pPr lvl="2"/>
            <a:r>
              <a:rPr lang="en-CA" dirty="0" smtClean="0"/>
              <a:t>2D Quiz / Assignment DUE</a:t>
            </a:r>
          </a:p>
          <a:p>
            <a:pPr lvl="2"/>
            <a:r>
              <a:rPr lang="en-CA" dirty="0" smtClean="0"/>
              <a:t>Projectile </a:t>
            </a:r>
            <a:r>
              <a:rPr lang="en-CA" smtClean="0"/>
              <a:t>Motion Problems DUE</a:t>
            </a:r>
            <a:endParaRPr lang="en-CA" dirty="0" smtClean="0"/>
          </a:p>
          <a:p>
            <a:pPr lvl="2"/>
            <a:endParaRPr lang="en-US" dirty="0"/>
          </a:p>
          <a:p>
            <a:r>
              <a:rPr lang="en-US" dirty="0"/>
              <a:t>Mon. Oct 03</a:t>
            </a:r>
          </a:p>
          <a:p>
            <a:pPr lvl="1"/>
            <a:r>
              <a:rPr lang="en-US" dirty="0"/>
              <a:t>Projectile Motion </a:t>
            </a:r>
            <a:r>
              <a:rPr lang="en-US" dirty="0" smtClean="0"/>
              <a:t>Investigation</a:t>
            </a:r>
          </a:p>
          <a:p>
            <a:pPr lvl="1"/>
            <a:endParaRPr lang="en-US" dirty="0"/>
          </a:p>
          <a:p>
            <a:r>
              <a:rPr lang="en-US" dirty="0" smtClean="0"/>
              <a:t>Tue. Oct 04</a:t>
            </a:r>
          </a:p>
          <a:p>
            <a:pPr lvl="1"/>
            <a:r>
              <a:rPr lang="en-US" dirty="0" smtClean="0"/>
              <a:t>Centripetal Acceleration Lab</a:t>
            </a:r>
          </a:p>
          <a:p>
            <a:pPr lvl="1"/>
            <a:r>
              <a:rPr lang="en-US" b="1" dirty="0" smtClean="0"/>
              <a:t>DUE: Tue. Oct 11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Wed. Oct 05</a:t>
            </a:r>
          </a:p>
          <a:p>
            <a:pPr lvl="1"/>
            <a:r>
              <a:rPr lang="en-US" dirty="0" smtClean="0"/>
              <a:t>Review For Test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Thu. Oct 06</a:t>
            </a:r>
          </a:p>
          <a:p>
            <a:pPr lvl="1"/>
            <a:r>
              <a:rPr lang="en-US" b="1" dirty="0" smtClean="0"/>
              <a:t>Kinematics Unit Test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Horizontal Launch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800" dirty="0"/>
              <a:t>A ball is kicked with a horizontal velocity of 12.0 m/s [Forward] off the top of a cliff 35.0 m high.  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CA" sz="2800" dirty="0" smtClean="0"/>
              <a:t>Find</a:t>
            </a:r>
            <a:r>
              <a:rPr lang="en-CA" sz="2800" dirty="0"/>
              <a:t>:</a:t>
            </a:r>
            <a:endParaRPr lang="en-US" sz="2800" dirty="0"/>
          </a:p>
          <a:p>
            <a:pPr marL="971550" lvl="1" indent="-514350">
              <a:buFont typeface="+mj-lt"/>
              <a:buAutoNum type="alphaLcParenR"/>
            </a:pPr>
            <a:r>
              <a:rPr lang="en-CA" sz="2400" dirty="0"/>
              <a:t>The time for the ball to land on the ground below</a:t>
            </a:r>
            <a:r>
              <a:rPr lang="en-CA" sz="2400" dirty="0" smtClean="0"/>
              <a:t>.</a:t>
            </a:r>
            <a:endParaRPr lang="en-US" sz="2400" dirty="0"/>
          </a:p>
          <a:p>
            <a:pPr marL="971550" lvl="1" indent="-514350">
              <a:buFont typeface="+mj-lt"/>
              <a:buAutoNum type="alphaLcParenR"/>
            </a:pPr>
            <a:r>
              <a:rPr lang="en-CA" sz="2400" dirty="0"/>
              <a:t>The horizontal range. 				</a:t>
            </a:r>
            <a:endParaRPr lang="en-US" sz="2400" dirty="0"/>
          </a:p>
          <a:p>
            <a:pPr marL="971550" lvl="1" indent="-514350">
              <a:buFont typeface="+mj-lt"/>
              <a:buAutoNum type="alphaLcParenR"/>
            </a:pPr>
            <a:r>
              <a:rPr lang="en-CA" sz="2400" dirty="0"/>
              <a:t>The final velocity of the ball as it lands. </a:t>
            </a:r>
            <a:endParaRPr lang="en-CA" sz="2400" dirty="0" smtClean="0"/>
          </a:p>
          <a:p>
            <a:pPr lvl="1"/>
            <a:endParaRPr lang="en-US" sz="2400" dirty="0"/>
          </a:p>
          <a:p>
            <a:pPr lvl="1"/>
            <a:r>
              <a:rPr lang="en-CA" sz="2400" i="1" dirty="0"/>
              <a:t>(</a:t>
            </a:r>
            <a:r>
              <a:rPr lang="en-CA" sz="2400" i="1" dirty="0" err="1"/>
              <a:t>Ans</a:t>
            </a:r>
            <a:r>
              <a:rPr lang="en-CA" sz="2400" i="1" dirty="0"/>
              <a:t>: 2.67 s, 32.1 m, 28.8 m/s [65.4</a:t>
            </a:r>
            <a:r>
              <a:rPr lang="en-CA" sz="2400" i="1" dirty="0">
                <a:sym typeface="Symbol" panose="05050102010706020507" pitchFamily="18" charset="2"/>
              </a:rPr>
              <a:t></a:t>
            </a:r>
            <a:r>
              <a:rPr lang="en-CA" sz="2400" i="1" dirty="0"/>
              <a:t> below the horizontal])</a:t>
            </a:r>
            <a:endParaRPr lang="en-US" sz="2400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562600"/>
            <a:ext cx="7973687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389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Angled Launch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000" dirty="0"/>
              <a:t>A soccer player kicks a soccer ball up in the air giving it an initial velocity of 12.0 m/s [37.0</a:t>
            </a:r>
            <a:r>
              <a:rPr lang="en-CA" sz="2000" dirty="0">
                <a:sym typeface="Symbol" panose="05050102010706020507" pitchFamily="18" charset="2"/>
              </a:rPr>
              <a:t></a:t>
            </a:r>
            <a:r>
              <a:rPr lang="en-CA" sz="2000" dirty="0"/>
              <a:t> above the horizontal] on a level playing field.  Assuming that air resistance is </a:t>
            </a:r>
            <a:r>
              <a:rPr lang="en-CA" sz="2000" dirty="0" err="1"/>
              <a:t>neglible</a:t>
            </a:r>
            <a:r>
              <a:rPr lang="en-CA" sz="2000" dirty="0"/>
              <a:t>, </a:t>
            </a:r>
            <a:r>
              <a:rPr lang="en-CA" sz="2000" dirty="0" smtClean="0"/>
              <a:t/>
            </a:r>
            <a:br>
              <a:rPr lang="en-CA" sz="2000" dirty="0" smtClean="0"/>
            </a:br>
            <a:r>
              <a:rPr lang="en-CA" sz="2000" dirty="0" smtClean="0"/>
              <a:t>find</a:t>
            </a:r>
            <a:r>
              <a:rPr lang="en-CA" sz="2000" dirty="0"/>
              <a:t>:</a:t>
            </a:r>
            <a:endParaRPr lang="en-US" sz="2000" dirty="0"/>
          </a:p>
          <a:p>
            <a:pPr marL="800100" lvl="1" indent="-342900">
              <a:buFont typeface="+mj-lt"/>
              <a:buAutoNum type="alphaLcParenR"/>
            </a:pPr>
            <a:r>
              <a:rPr lang="en-CA" sz="1800" dirty="0"/>
              <a:t>The time for it to reach the peak of its flight.   		</a:t>
            </a:r>
            <a:r>
              <a:rPr lang="en-CA" sz="1800" i="1" dirty="0" smtClean="0"/>
              <a:t>(</a:t>
            </a:r>
            <a:r>
              <a:rPr lang="en-CA" sz="1800" i="1" dirty="0"/>
              <a:t>0.737s)</a:t>
            </a:r>
            <a:endParaRPr lang="en-US" sz="1800" dirty="0"/>
          </a:p>
          <a:p>
            <a:pPr marL="800100" lvl="1" indent="-342900">
              <a:buFont typeface="+mj-lt"/>
              <a:buAutoNum type="alphaLcParenR"/>
            </a:pPr>
            <a:r>
              <a:rPr lang="en-CA" sz="1800" dirty="0"/>
              <a:t>The peak height reached above the ground. 		</a:t>
            </a:r>
            <a:r>
              <a:rPr lang="en-CA" sz="1800" i="1" dirty="0" smtClean="0"/>
              <a:t>(</a:t>
            </a:r>
            <a:r>
              <a:rPr lang="en-CA" sz="1800" i="1" dirty="0"/>
              <a:t>2.66m)</a:t>
            </a:r>
            <a:endParaRPr lang="en-US" sz="1800" dirty="0"/>
          </a:p>
          <a:p>
            <a:pPr marL="800100" lvl="1" indent="-342900">
              <a:buFont typeface="+mj-lt"/>
              <a:buAutoNum type="alphaLcParenR"/>
            </a:pPr>
            <a:r>
              <a:rPr lang="en-CA" sz="1800" dirty="0"/>
              <a:t>The time to land back on the field. 			</a:t>
            </a:r>
            <a:r>
              <a:rPr lang="en-CA" sz="1800" i="1" dirty="0" smtClean="0"/>
              <a:t>(</a:t>
            </a:r>
            <a:r>
              <a:rPr lang="en-CA" sz="1800" i="1" dirty="0"/>
              <a:t>1.47s)</a:t>
            </a:r>
            <a:endParaRPr lang="en-US" sz="1800" dirty="0"/>
          </a:p>
          <a:p>
            <a:pPr marL="800100" lvl="1" indent="-342900">
              <a:buFont typeface="+mj-lt"/>
              <a:buAutoNum type="alphaLcParenR"/>
            </a:pPr>
            <a:r>
              <a:rPr lang="en-CA" sz="1800" dirty="0"/>
              <a:t>The maximum horizontal distance reached. 		</a:t>
            </a:r>
            <a:r>
              <a:rPr lang="en-CA" sz="1800" i="1" dirty="0" smtClean="0"/>
              <a:t>(</a:t>
            </a:r>
            <a:r>
              <a:rPr lang="en-CA" sz="1800" i="1" dirty="0"/>
              <a:t>14.1m)</a:t>
            </a:r>
            <a:endParaRPr lang="en-US" sz="1800" dirty="0"/>
          </a:p>
          <a:p>
            <a:pPr marL="800100" lvl="1" indent="-342900">
              <a:buFont typeface="+mj-lt"/>
              <a:buAutoNum type="alphaLcParenR"/>
            </a:pPr>
            <a:r>
              <a:rPr lang="en-CA" sz="1800" dirty="0"/>
              <a:t>The final velocity when it lands. 	</a:t>
            </a:r>
            <a:r>
              <a:rPr lang="en-CA" sz="1800" i="1" dirty="0" smtClean="0"/>
              <a:t>(</a:t>
            </a:r>
            <a:r>
              <a:rPr lang="en-CA" sz="1800" i="1" dirty="0"/>
              <a:t>12.0 m/s[37.0</a:t>
            </a:r>
            <a:r>
              <a:rPr lang="en-CA" sz="1800" i="1" dirty="0">
                <a:sym typeface="Symbol" panose="05050102010706020507" pitchFamily="18" charset="2"/>
              </a:rPr>
              <a:t></a:t>
            </a:r>
            <a:r>
              <a:rPr lang="en-CA" sz="1800" i="1" dirty="0"/>
              <a:t> below the horizontal)</a:t>
            </a:r>
            <a:endParaRPr lang="en-US" sz="1800" dirty="0"/>
          </a:p>
          <a:p>
            <a:pPr lvl="2"/>
            <a:endParaRPr lang="en-US" sz="2000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562600"/>
            <a:ext cx="7973687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390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Angled Launch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000" dirty="0"/>
              <a:t>A soccer player kicks a soccer ball up in the air giving it an initial velocity of 12.0 m/s [37.0</a:t>
            </a:r>
            <a:r>
              <a:rPr lang="en-CA" sz="2000" dirty="0">
                <a:sym typeface="Symbol" panose="05050102010706020507" pitchFamily="18" charset="2"/>
              </a:rPr>
              <a:t></a:t>
            </a:r>
            <a:r>
              <a:rPr lang="en-CA" sz="2000" dirty="0"/>
              <a:t> above the horizontal] on a level playing field.  Assuming that air resistance is </a:t>
            </a:r>
            <a:r>
              <a:rPr lang="en-CA" sz="2000" dirty="0" err="1"/>
              <a:t>neglible</a:t>
            </a:r>
            <a:r>
              <a:rPr lang="en-CA" sz="2000" dirty="0"/>
              <a:t>, </a:t>
            </a:r>
            <a:r>
              <a:rPr lang="en-CA" sz="2000" dirty="0" smtClean="0"/>
              <a:t/>
            </a:r>
            <a:br>
              <a:rPr lang="en-CA" sz="2000" dirty="0" smtClean="0"/>
            </a:br>
            <a:r>
              <a:rPr lang="en-CA" sz="2000" dirty="0" smtClean="0"/>
              <a:t>find</a:t>
            </a:r>
            <a:r>
              <a:rPr lang="en-CA" sz="2000" dirty="0"/>
              <a:t>:</a:t>
            </a:r>
            <a:endParaRPr lang="en-US" sz="2000" dirty="0"/>
          </a:p>
          <a:p>
            <a:pPr marL="800100" lvl="1" indent="-342900">
              <a:buFont typeface="+mj-lt"/>
              <a:buAutoNum type="alphaLcParenR"/>
            </a:pPr>
            <a:r>
              <a:rPr lang="en-CA" sz="1800" dirty="0"/>
              <a:t>The time for it to reach the peak of its flight.   		</a:t>
            </a:r>
            <a:r>
              <a:rPr lang="en-CA" sz="1800" i="1" dirty="0" smtClean="0"/>
              <a:t>(</a:t>
            </a:r>
            <a:r>
              <a:rPr lang="en-CA" sz="1800" i="1" dirty="0"/>
              <a:t>0.737s)</a:t>
            </a:r>
            <a:endParaRPr lang="en-US" sz="1800" dirty="0"/>
          </a:p>
          <a:p>
            <a:pPr marL="800100" lvl="1" indent="-342900">
              <a:buFont typeface="+mj-lt"/>
              <a:buAutoNum type="alphaLcParenR"/>
            </a:pPr>
            <a:r>
              <a:rPr lang="en-CA" sz="1800" dirty="0"/>
              <a:t>The peak height reached above the ground. 		</a:t>
            </a:r>
            <a:r>
              <a:rPr lang="en-CA" sz="1800" i="1" dirty="0" smtClean="0"/>
              <a:t>(</a:t>
            </a:r>
            <a:r>
              <a:rPr lang="en-CA" sz="1800" i="1" dirty="0"/>
              <a:t>2.66m)</a:t>
            </a:r>
            <a:endParaRPr lang="en-US" sz="1800" dirty="0"/>
          </a:p>
          <a:p>
            <a:pPr marL="800100" lvl="1" indent="-342900">
              <a:buFont typeface="+mj-lt"/>
              <a:buAutoNum type="alphaLcParenR"/>
            </a:pPr>
            <a:r>
              <a:rPr lang="en-CA" sz="1800" dirty="0"/>
              <a:t>The time to land back on the field. 			</a:t>
            </a:r>
            <a:r>
              <a:rPr lang="en-CA" sz="1800" i="1" dirty="0" smtClean="0"/>
              <a:t>(</a:t>
            </a:r>
            <a:r>
              <a:rPr lang="en-CA" sz="1800" i="1" dirty="0"/>
              <a:t>1.47s)</a:t>
            </a:r>
            <a:endParaRPr lang="en-US" sz="1800" dirty="0"/>
          </a:p>
          <a:p>
            <a:pPr marL="800100" lvl="1" indent="-342900">
              <a:buFont typeface="+mj-lt"/>
              <a:buAutoNum type="alphaLcParenR"/>
            </a:pPr>
            <a:r>
              <a:rPr lang="en-CA" sz="1800" dirty="0"/>
              <a:t>The maximum horizontal distance reached. 		</a:t>
            </a:r>
            <a:r>
              <a:rPr lang="en-CA" sz="1800" i="1" dirty="0" smtClean="0"/>
              <a:t>(</a:t>
            </a:r>
            <a:r>
              <a:rPr lang="en-CA" sz="1800" i="1" dirty="0"/>
              <a:t>14.1m)</a:t>
            </a:r>
            <a:endParaRPr lang="en-US" sz="1800" dirty="0"/>
          </a:p>
          <a:p>
            <a:pPr marL="800100" lvl="1" indent="-342900">
              <a:buFont typeface="+mj-lt"/>
              <a:buAutoNum type="alphaLcParenR"/>
            </a:pPr>
            <a:r>
              <a:rPr lang="en-CA" sz="1800" dirty="0"/>
              <a:t>The final velocity when it lands. 	</a:t>
            </a:r>
            <a:r>
              <a:rPr lang="en-CA" sz="1800" i="1" dirty="0" smtClean="0"/>
              <a:t>(</a:t>
            </a:r>
            <a:r>
              <a:rPr lang="en-CA" sz="1800" i="1" dirty="0"/>
              <a:t>12.0 m/s[37.0</a:t>
            </a:r>
            <a:r>
              <a:rPr lang="en-CA" sz="1800" i="1" dirty="0">
                <a:sym typeface="Symbol" panose="05050102010706020507" pitchFamily="18" charset="2"/>
              </a:rPr>
              <a:t></a:t>
            </a:r>
            <a:r>
              <a:rPr lang="en-CA" sz="1800" i="1" dirty="0"/>
              <a:t> below the horizontal)</a:t>
            </a:r>
            <a:endParaRPr lang="en-US" sz="1800" dirty="0"/>
          </a:p>
          <a:p>
            <a:pPr lvl="2"/>
            <a:endParaRPr lang="en-US" sz="2000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562600"/>
            <a:ext cx="7973687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561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Angled Launch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000" dirty="0"/>
              <a:t>A soccer </a:t>
            </a:r>
            <a:r>
              <a:rPr lang="en-CA" sz="2000" dirty="0" smtClean="0"/>
              <a:t>player at the top of a 20 m cliff  </a:t>
            </a:r>
            <a:r>
              <a:rPr lang="en-CA" sz="2000" dirty="0"/>
              <a:t>kicks a soccer ball up in the air giving it an initial velocity of 12.0 m/s [37.0</a:t>
            </a:r>
            <a:r>
              <a:rPr lang="en-CA" sz="2000" dirty="0">
                <a:sym typeface="Symbol" panose="05050102010706020507" pitchFamily="18" charset="2"/>
              </a:rPr>
              <a:t></a:t>
            </a:r>
            <a:r>
              <a:rPr lang="en-CA" sz="2000" dirty="0"/>
              <a:t> above the horizontal] on a level playing field.  Assuming that air resistance is </a:t>
            </a:r>
            <a:r>
              <a:rPr lang="en-CA" sz="2000" dirty="0" err="1"/>
              <a:t>neglible</a:t>
            </a:r>
            <a:r>
              <a:rPr lang="en-CA" sz="2000" dirty="0"/>
              <a:t>, </a:t>
            </a:r>
            <a:r>
              <a:rPr lang="en-CA" sz="2000" dirty="0" smtClean="0"/>
              <a:t/>
            </a:r>
            <a:br>
              <a:rPr lang="en-CA" sz="2000" dirty="0" smtClean="0"/>
            </a:br>
            <a:r>
              <a:rPr lang="en-CA" sz="2000" dirty="0" smtClean="0"/>
              <a:t>find</a:t>
            </a:r>
            <a:r>
              <a:rPr lang="en-CA" sz="2000" dirty="0"/>
              <a:t>:</a:t>
            </a:r>
            <a:endParaRPr lang="en-US" sz="2000" dirty="0"/>
          </a:p>
          <a:p>
            <a:pPr marL="800100" lvl="1" indent="-342900">
              <a:buFont typeface="+mj-lt"/>
              <a:buAutoNum type="alphaLcParenR"/>
            </a:pPr>
            <a:r>
              <a:rPr lang="en-CA" sz="1800" dirty="0"/>
              <a:t>The time for it to reach the peak of its flight.   		</a:t>
            </a:r>
            <a:r>
              <a:rPr lang="en-CA" sz="1800" i="1" dirty="0" smtClean="0"/>
              <a:t>(</a:t>
            </a:r>
            <a:r>
              <a:rPr lang="en-CA" sz="1800" i="1" dirty="0" smtClean="0"/>
              <a:t>0.737s</a:t>
            </a:r>
            <a:r>
              <a:rPr lang="en-CA" sz="1800" i="1" dirty="0"/>
              <a:t>)</a:t>
            </a:r>
            <a:endParaRPr lang="en-US" sz="1800" dirty="0"/>
          </a:p>
          <a:p>
            <a:pPr marL="800100" lvl="1" indent="-342900">
              <a:buFont typeface="+mj-lt"/>
              <a:buAutoNum type="alphaLcParenR"/>
            </a:pPr>
            <a:r>
              <a:rPr lang="en-CA" sz="1800" dirty="0"/>
              <a:t>The peak height reached above the </a:t>
            </a:r>
            <a:r>
              <a:rPr lang="en-CA" sz="1800" dirty="0" smtClean="0"/>
              <a:t>ground below the cliff.</a:t>
            </a:r>
            <a:r>
              <a:rPr lang="en-CA" sz="1800" dirty="0"/>
              <a:t>	</a:t>
            </a:r>
            <a:r>
              <a:rPr lang="en-CA" sz="1800" i="1" dirty="0" smtClean="0"/>
              <a:t>(22.66m</a:t>
            </a:r>
            <a:r>
              <a:rPr lang="en-CA" sz="1800" i="1" dirty="0"/>
              <a:t>)</a:t>
            </a:r>
            <a:endParaRPr lang="en-US" sz="1800" dirty="0"/>
          </a:p>
          <a:p>
            <a:pPr marL="800100" lvl="1" indent="-342900">
              <a:buFont typeface="+mj-lt"/>
              <a:buAutoNum type="alphaLcParenR"/>
            </a:pPr>
            <a:r>
              <a:rPr lang="en-CA" sz="1800" dirty="0"/>
              <a:t>The time to land </a:t>
            </a:r>
            <a:r>
              <a:rPr lang="en-CA" sz="1800" dirty="0" smtClean="0"/>
              <a:t>on </a:t>
            </a:r>
            <a:r>
              <a:rPr lang="en-CA" sz="1800" dirty="0"/>
              <a:t>the ground below the cliff. 		</a:t>
            </a:r>
            <a:r>
              <a:rPr lang="en-CA" sz="1800" i="1" dirty="0" smtClean="0"/>
              <a:t>(2.89s</a:t>
            </a:r>
            <a:r>
              <a:rPr lang="en-CA" sz="1800" i="1" dirty="0"/>
              <a:t>)</a:t>
            </a:r>
            <a:endParaRPr lang="en-US" sz="1800" dirty="0"/>
          </a:p>
          <a:p>
            <a:pPr marL="800100" lvl="1" indent="-342900">
              <a:buFont typeface="+mj-lt"/>
              <a:buAutoNum type="alphaLcParenR"/>
            </a:pPr>
            <a:r>
              <a:rPr lang="en-CA" sz="1800" dirty="0"/>
              <a:t>The maximum horizontal distance reached. 		</a:t>
            </a:r>
            <a:r>
              <a:rPr lang="en-CA" sz="1800" i="1" dirty="0" smtClean="0"/>
              <a:t>(</a:t>
            </a:r>
            <a:r>
              <a:rPr lang="en-CA" sz="1800" i="1" dirty="0" smtClean="0"/>
              <a:t>27.7m</a:t>
            </a:r>
            <a:r>
              <a:rPr lang="en-CA" sz="1800" i="1" dirty="0"/>
              <a:t>)</a:t>
            </a:r>
            <a:endParaRPr lang="en-US" sz="1800" dirty="0"/>
          </a:p>
          <a:p>
            <a:pPr marL="800100" lvl="1" indent="-342900">
              <a:buFont typeface="+mj-lt"/>
              <a:buAutoNum type="alphaLcParenR"/>
            </a:pPr>
            <a:r>
              <a:rPr lang="en-CA" sz="1800" dirty="0"/>
              <a:t>The final velocity when it lands. 	</a:t>
            </a:r>
            <a:r>
              <a:rPr lang="en-CA" sz="1800" i="1" dirty="0" smtClean="0"/>
              <a:t>(30.0 m/s[71.4</a:t>
            </a:r>
            <a:r>
              <a:rPr lang="en-CA" sz="1800" i="1" dirty="0" smtClean="0">
                <a:sym typeface="Symbol" panose="05050102010706020507" pitchFamily="18" charset="2"/>
              </a:rPr>
              <a:t></a:t>
            </a:r>
            <a:r>
              <a:rPr lang="en-CA" sz="1800" i="1" dirty="0" smtClean="0"/>
              <a:t> </a:t>
            </a:r>
            <a:r>
              <a:rPr lang="en-CA" sz="1800" i="1" dirty="0"/>
              <a:t>below the horizontal)</a:t>
            </a:r>
            <a:endParaRPr lang="en-US" sz="1800" dirty="0"/>
          </a:p>
          <a:p>
            <a:pPr lvl="2"/>
            <a:endParaRPr lang="en-US" sz="2000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562600"/>
            <a:ext cx="7973687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119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Angled Launch 2 </a:t>
            </a:r>
            <a:br>
              <a:rPr lang="en-CA" dirty="0" smtClean="0"/>
            </a:br>
            <a:r>
              <a:rPr lang="en-CA" dirty="0" smtClean="0"/>
              <a:t>(Solution Slide 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800" dirty="0"/>
              <a:t>12.0 m/s [37.0</a:t>
            </a:r>
            <a:r>
              <a:rPr lang="en-CA" sz="2800" dirty="0" smtClean="0">
                <a:sym typeface="Symbol" panose="05050102010706020507" pitchFamily="18" charset="2"/>
              </a:rPr>
              <a:t>] is the initial velocity at an angle.</a:t>
            </a:r>
            <a:r>
              <a:rPr lang="en-US" sz="2800" dirty="0" smtClean="0">
                <a:sym typeface="Symbol" panose="05050102010706020507" pitchFamily="18" charset="2"/>
              </a:rPr>
              <a:t/>
            </a:r>
            <a:br>
              <a:rPr lang="en-US" sz="2800" dirty="0" smtClean="0">
                <a:sym typeface="Symbol" panose="05050102010706020507" pitchFamily="18" charset="2"/>
              </a:rPr>
            </a:br>
            <a:r>
              <a:rPr lang="en-US" sz="2800" dirty="0" smtClean="0">
                <a:sym typeface="Symbol" panose="05050102010706020507" pitchFamily="18" charset="2"/>
              </a:rPr>
              <a:t>Find the components of the initial velocity:</a:t>
            </a:r>
          </a:p>
          <a:p>
            <a:pPr lvl="1"/>
            <a:r>
              <a:rPr lang="en-CA" sz="2400" dirty="0" smtClean="0">
                <a:sym typeface="Symbol" panose="05050102010706020507" pitchFamily="18" charset="2"/>
              </a:rPr>
              <a:t>Horizontal (X-Axis)</a:t>
            </a:r>
          </a:p>
          <a:p>
            <a:pPr lvl="2"/>
            <a:r>
              <a:rPr lang="en-CA" sz="2000" dirty="0" smtClean="0">
                <a:sym typeface="Symbol" panose="05050102010706020507" pitchFamily="18" charset="2"/>
              </a:rPr>
              <a:t>12.0 Cos(</a:t>
            </a:r>
            <a:r>
              <a:rPr lang="en-CA" sz="2000" dirty="0" smtClean="0"/>
              <a:t>37.0</a:t>
            </a:r>
            <a:r>
              <a:rPr lang="en-CA" sz="2000" dirty="0" smtClean="0">
                <a:sym typeface="Symbol" panose="05050102010706020507" pitchFamily="18" charset="2"/>
              </a:rPr>
              <a:t>) = 9.58 m/s [Right]</a:t>
            </a:r>
          </a:p>
          <a:p>
            <a:pPr lvl="1"/>
            <a:r>
              <a:rPr lang="en-CA" sz="2400" dirty="0" smtClean="0">
                <a:sym typeface="Symbol" panose="05050102010706020507" pitchFamily="18" charset="2"/>
              </a:rPr>
              <a:t>Vertical (Y-Axis)</a:t>
            </a:r>
          </a:p>
          <a:p>
            <a:pPr lvl="2"/>
            <a:r>
              <a:rPr lang="en-CA" sz="2000" dirty="0">
                <a:sym typeface="Symbol" panose="05050102010706020507" pitchFamily="18" charset="2"/>
              </a:rPr>
              <a:t>12.0 </a:t>
            </a:r>
            <a:r>
              <a:rPr lang="en-CA" sz="2000" dirty="0" smtClean="0">
                <a:sym typeface="Symbol" panose="05050102010706020507" pitchFamily="18" charset="2"/>
              </a:rPr>
              <a:t>Sin(</a:t>
            </a:r>
            <a:r>
              <a:rPr lang="en-CA" sz="2000" dirty="0" smtClean="0"/>
              <a:t>37.0</a:t>
            </a:r>
            <a:r>
              <a:rPr lang="en-CA" sz="2000" dirty="0">
                <a:sym typeface="Symbol" panose="05050102010706020507" pitchFamily="18" charset="2"/>
              </a:rPr>
              <a:t></a:t>
            </a:r>
            <a:r>
              <a:rPr lang="en-CA" sz="2000" dirty="0" smtClean="0">
                <a:sym typeface="Symbol" panose="05050102010706020507" pitchFamily="18" charset="2"/>
              </a:rPr>
              <a:t>) = 7.22 m/s [Up]</a:t>
            </a:r>
            <a:endParaRPr lang="en-CA" sz="2000" dirty="0">
              <a:sym typeface="Symbol" panose="05050102010706020507" pitchFamily="18" charset="2"/>
            </a:endParaRPr>
          </a:p>
          <a:p>
            <a:pPr marL="914400" lvl="2" indent="0">
              <a:buNone/>
            </a:pPr>
            <a:endParaRPr lang="en-CA" sz="2000" dirty="0" smtClean="0">
              <a:sym typeface="Symbol" panose="05050102010706020507" pitchFamily="18" charset="2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6104919" y="4164371"/>
            <a:ext cx="2581881" cy="1952267"/>
            <a:chOff x="2599719" y="1781533"/>
            <a:chExt cx="2581881" cy="1952267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2971800" y="2895600"/>
              <a:ext cx="2209800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>
              <a:off x="2971800" y="3733800"/>
              <a:ext cx="2209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3276600" y="2895600"/>
              <a:ext cx="0" cy="838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2971800" y="2886075"/>
              <a:ext cx="304800" cy="95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V="1">
              <a:off x="3276600" y="2667000"/>
              <a:ext cx="152400" cy="2190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3267075" y="2108717"/>
              <a:ext cx="1838325" cy="1606033"/>
            </a:xfrm>
            <a:custGeom>
              <a:avLst/>
              <a:gdLst>
                <a:gd name="connsiteX0" fmla="*/ 0 w 1838325"/>
                <a:gd name="connsiteY0" fmla="*/ 786883 h 1606033"/>
                <a:gd name="connsiteX1" fmla="*/ 781050 w 1838325"/>
                <a:gd name="connsiteY1" fmla="*/ 24883 h 1606033"/>
                <a:gd name="connsiteX2" fmla="*/ 1838325 w 1838325"/>
                <a:gd name="connsiteY2" fmla="*/ 1606033 h 1606033"/>
                <a:gd name="connsiteX3" fmla="*/ 1838325 w 1838325"/>
                <a:gd name="connsiteY3" fmla="*/ 1606033 h 1606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8325" h="1606033">
                  <a:moveTo>
                    <a:pt x="0" y="786883"/>
                  </a:moveTo>
                  <a:cubicBezTo>
                    <a:pt x="237331" y="337620"/>
                    <a:pt x="474663" y="-111642"/>
                    <a:pt x="781050" y="24883"/>
                  </a:cubicBezTo>
                  <a:cubicBezTo>
                    <a:pt x="1087437" y="161408"/>
                    <a:pt x="1838325" y="1606033"/>
                    <a:pt x="1838325" y="1606033"/>
                  </a:cubicBezTo>
                  <a:lnTo>
                    <a:pt x="1838325" y="1606033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599719" y="3136582"/>
              <a:ext cx="6864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400" dirty="0" smtClean="0"/>
                <a:t>20.0 m</a:t>
              </a:r>
              <a:endParaRPr lang="en-US" sz="14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654104" y="1781533"/>
              <a:ext cx="5321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400"/>
                <a:t>Peak</a:t>
              </a:r>
              <a:endParaRPr lang="en-US" sz="1400" dirty="0"/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 flipV="1">
              <a:off x="3920170" y="2108717"/>
              <a:ext cx="0" cy="777358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3876909" y="2405181"/>
              <a:ext cx="2792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400" dirty="0" smtClean="0"/>
                <a:t>h</a:t>
              </a:r>
              <a:endParaRPr lang="en-US" sz="1400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071466" y="2539364"/>
              <a:ext cx="3145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400" dirty="0" smtClean="0"/>
                <a:t>V</a:t>
              </a:r>
              <a:r>
                <a:rPr lang="en-CA" sz="1400" baseline="-25000" dirty="0" smtClean="0"/>
                <a:t>i</a:t>
              </a:r>
              <a:endParaRPr lang="en-US" sz="1400" baseline="-25000" dirty="0"/>
            </a:p>
          </p:txBody>
        </p:sp>
      </p:grpSp>
      <p:cxnSp>
        <p:nvCxnSpPr>
          <p:cNvPr id="17" name="Straight Arrow Connector 16"/>
          <p:cNvCxnSpPr/>
          <p:nvPr/>
        </p:nvCxnSpPr>
        <p:spPr>
          <a:xfrm>
            <a:off x="5867400" y="2667000"/>
            <a:ext cx="762000" cy="22132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8543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Angled Launch 2 </a:t>
            </a:r>
            <a:br>
              <a:rPr lang="en-CA" dirty="0" smtClean="0"/>
            </a:br>
            <a:r>
              <a:rPr lang="en-CA" dirty="0" smtClean="0"/>
              <a:t>(Solution Slide 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CA" sz="2800" b="1" dirty="0" smtClean="0"/>
              <a:t>Find The Time To Reach The Peak.</a:t>
            </a:r>
            <a:br>
              <a:rPr lang="en-CA" sz="2800" b="1" dirty="0" smtClean="0"/>
            </a:br>
            <a:r>
              <a:rPr lang="en-CA" sz="2800" dirty="0" smtClean="0"/>
              <a:t>(Solve the problem in the y-axis)</a:t>
            </a:r>
          </a:p>
          <a:p>
            <a:r>
              <a:rPr lang="en-CA" sz="1800" dirty="0" smtClean="0"/>
              <a:t>Given:</a:t>
            </a:r>
            <a:br>
              <a:rPr lang="en-CA" sz="1800" dirty="0" smtClean="0"/>
            </a:br>
            <a:r>
              <a:rPr lang="en-CA" sz="1800" dirty="0" smtClean="0"/>
              <a:t>V</a:t>
            </a:r>
            <a:r>
              <a:rPr lang="en-CA" sz="1800" baseline="-25000" dirty="0" smtClean="0"/>
              <a:t>i</a:t>
            </a:r>
            <a:r>
              <a:rPr lang="en-CA" sz="1800" dirty="0" smtClean="0"/>
              <a:t> = 7.22 m/s (initial component)</a:t>
            </a:r>
            <a:br>
              <a:rPr lang="en-CA" sz="1800" dirty="0" smtClean="0"/>
            </a:br>
            <a:r>
              <a:rPr lang="en-CA" sz="1800" dirty="0" err="1" smtClean="0"/>
              <a:t>V</a:t>
            </a:r>
            <a:r>
              <a:rPr lang="en-CA" sz="1800" baseline="-25000" dirty="0" err="1" smtClean="0"/>
              <a:t>f</a:t>
            </a:r>
            <a:r>
              <a:rPr lang="en-CA" sz="1800" dirty="0" smtClean="0"/>
              <a:t> = 0 m/s (stops at peak)</a:t>
            </a:r>
            <a:br>
              <a:rPr lang="en-CA" sz="1800" dirty="0" smtClean="0"/>
            </a:br>
            <a:r>
              <a:rPr lang="en-CA" sz="1800" dirty="0" smtClean="0"/>
              <a:t>a = -9.81 m/s</a:t>
            </a:r>
            <a:r>
              <a:rPr lang="en-CA" sz="1800" baseline="30000" dirty="0" smtClean="0"/>
              <a:t>2</a:t>
            </a:r>
            <a:r>
              <a:rPr lang="en-CA" sz="1800" dirty="0" smtClean="0"/>
              <a:t> (gravity)</a:t>
            </a:r>
            <a:br>
              <a:rPr lang="en-CA" sz="1800" dirty="0" smtClean="0"/>
            </a:br>
            <a:r>
              <a:rPr lang="en-CA" sz="1800" dirty="0" smtClean="0"/>
              <a:t>Find </a:t>
            </a:r>
            <a:r>
              <a:rPr lang="el-GR" sz="1800" dirty="0" smtClean="0"/>
              <a:t>Δ</a:t>
            </a:r>
            <a:r>
              <a:rPr lang="en-CA" sz="1800" dirty="0" smtClean="0"/>
              <a:t>t</a:t>
            </a:r>
            <a:br>
              <a:rPr lang="en-CA" sz="1800" dirty="0" smtClean="0"/>
            </a:br>
            <a:endParaRPr lang="en-CA" sz="1800" dirty="0" smtClean="0"/>
          </a:p>
          <a:p>
            <a:r>
              <a:rPr lang="en-CA" sz="1800" dirty="0" smtClean="0"/>
              <a:t>Solve:</a:t>
            </a:r>
            <a:br>
              <a:rPr lang="en-CA" sz="1800" dirty="0" smtClean="0"/>
            </a:br>
            <a:r>
              <a:rPr lang="en-CA" sz="1800" dirty="0" err="1" smtClean="0"/>
              <a:t>V</a:t>
            </a:r>
            <a:r>
              <a:rPr lang="en-CA" sz="1800" baseline="-25000" dirty="0" err="1" smtClean="0"/>
              <a:t>f</a:t>
            </a:r>
            <a:r>
              <a:rPr lang="en-CA" sz="1800" dirty="0" smtClean="0"/>
              <a:t> = V</a:t>
            </a:r>
            <a:r>
              <a:rPr lang="en-CA" sz="1800" baseline="-25000" dirty="0" smtClean="0"/>
              <a:t>i</a:t>
            </a:r>
            <a:r>
              <a:rPr lang="en-CA" sz="1800" dirty="0" smtClean="0"/>
              <a:t> + a</a:t>
            </a:r>
            <a:r>
              <a:rPr lang="el-GR" sz="1800" dirty="0" smtClean="0"/>
              <a:t>Δ</a:t>
            </a:r>
            <a:r>
              <a:rPr lang="en-CA" sz="1800" dirty="0" smtClean="0"/>
              <a:t>t</a:t>
            </a:r>
            <a:r>
              <a:rPr lang="en-CA" sz="1800" dirty="0"/>
              <a:t/>
            </a:r>
            <a:br>
              <a:rPr lang="en-CA" sz="1800" dirty="0"/>
            </a:br>
            <a:r>
              <a:rPr lang="en-CA" sz="1800" dirty="0" smtClean="0"/>
              <a:t>0 = 7.22 – 9.81</a:t>
            </a:r>
            <a:r>
              <a:rPr lang="el-GR" sz="1800" dirty="0"/>
              <a:t> Δ</a:t>
            </a:r>
            <a:r>
              <a:rPr lang="en-CA" sz="1800" dirty="0" smtClean="0"/>
              <a:t>t</a:t>
            </a:r>
            <a:br>
              <a:rPr lang="en-CA" sz="1800" dirty="0" smtClean="0"/>
            </a:br>
            <a:r>
              <a:rPr lang="el-GR" sz="1800" dirty="0"/>
              <a:t>Δ</a:t>
            </a:r>
            <a:r>
              <a:rPr lang="en-CA" sz="1800" dirty="0" smtClean="0"/>
              <a:t>t = 7.22 / 9.81</a:t>
            </a:r>
            <a:r>
              <a:rPr lang="en-CA" sz="1800" dirty="0"/>
              <a:t/>
            </a:r>
            <a:br>
              <a:rPr lang="en-CA" sz="1800" dirty="0"/>
            </a:br>
            <a:r>
              <a:rPr lang="el-GR" sz="1800" dirty="0"/>
              <a:t>Δ</a:t>
            </a:r>
            <a:r>
              <a:rPr lang="en-CA" sz="1800" dirty="0" smtClean="0"/>
              <a:t>t = 0.736 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104919" y="4164371"/>
            <a:ext cx="2581881" cy="1952267"/>
            <a:chOff x="2599719" y="1781533"/>
            <a:chExt cx="2581881" cy="1952267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2971800" y="2895600"/>
              <a:ext cx="2209800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>
              <a:off x="2971800" y="3733800"/>
              <a:ext cx="2209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3276600" y="2895600"/>
              <a:ext cx="0" cy="838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2971800" y="2886075"/>
              <a:ext cx="304800" cy="95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V="1">
              <a:off x="3276600" y="2667000"/>
              <a:ext cx="152400" cy="2190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3267075" y="2108717"/>
              <a:ext cx="1838325" cy="1606033"/>
            </a:xfrm>
            <a:custGeom>
              <a:avLst/>
              <a:gdLst>
                <a:gd name="connsiteX0" fmla="*/ 0 w 1838325"/>
                <a:gd name="connsiteY0" fmla="*/ 786883 h 1606033"/>
                <a:gd name="connsiteX1" fmla="*/ 781050 w 1838325"/>
                <a:gd name="connsiteY1" fmla="*/ 24883 h 1606033"/>
                <a:gd name="connsiteX2" fmla="*/ 1838325 w 1838325"/>
                <a:gd name="connsiteY2" fmla="*/ 1606033 h 1606033"/>
                <a:gd name="connsiteX3" fmla="*/ 1838325 w 1838325"/>
                <a:gd name="connsiteY3" fmla="*/ 1606033 h 1606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8325" h="1606033">
                  <a:moveTo>
                    <a:pt x="0" y="786883"/>
                  </a:moveTo>
                  <a:cubicBezTo>
                    <a:pt x="237331" y="337620"/>
                    <a:pt x="474663" y="-111642"/>
                    <a:pt x="781050" y="24883"/>
                  </a:cubicBezTo>
                  <a:cubicBezTo>
                    <a:pt x="1087437" y="161408"/>
                    <a:pt x="1838325" y="1606033"/>
                    <a:pt x="1838325" y="1606033"/>
                  </a:cubicBezTo>
                  <a:lnTo>
                    <a:pt x="1838325" y="1606033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599719" y="3136582"/>
              <a:ext cx="6864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400" dirty="0" smtClean="0"/>
                <a:t>20.0 m</a:t>
              </a:r>
              <a:endParaRPr lang="en-US" sz="14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654104" y="1781533"/>
              <a:ext cx="5321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400"/>
                <a:t>Peak</a:t>
              </a:r>
              <a:endParaRPr lang="en-US" sz="1400" dirty="0"/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 flipV="1">
              <a:off x="3920170" y="2108717"/>
              <a:ext cx="0" cy="777358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3876909" y="2405181"/>
              <a:ext cx="2792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400" dirty="0" smtClean="0"/>
                <a:t>h</a:t>
              </a:r>
              <a:endParaRPr lang="en-US" sz="1400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071466" y="2539364"/>
              <a:ext cx="3145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400" dirty="0" smtClean="0"/>
                <a:t>V</a:t>
              </a:r>
              <a:r>
                <a:rPr lang="en-CA" sz="1400" baseline="-25000" dirty="0" smtClean="0"/>
                <a:t>i</a:t>
              </a:r>
              <a:endParaRPr lang="en-US" sz="1400" baseline="-25000" dirty="0"/>
            </a:p>
          </p:txBody>
        </p:sp>
      </p:grpSp>
      <p:cxnSp>
        <p:nvCxnSpPr>
          <p:cNvPr id="17" name="Straight Arrow Connector 16"/>
          <p:cNvCxnSpPr/>
          <p:nvPr/>
        </p:nvCxnSpPr>
        <p:spPr>
          <a:xfrm>
            <a:off x="5867400" y="2667000"/>
            <a:ext cx="1447800" cy="14973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2184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Angled Launch 2 </a:t>
            </a:r>
            <a:br>
              <a:rPr lang="en-CA" dirty="0" smtClean="0"/>
            </a:br>
            <a:r>
              <a:rPr lang="en-CA" dirty="0" smtClean="0"/>
              <a:t>(Solution Slide 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lphaLcParenR" startAt="2"/>
            </a:pPr>
            <a:r>
              <a:rPr lang="en-CA" sz="2800" b="1" dirty="0" smtClean="0"/>
              <a:t>Find The Peak Height.</a:t>
            </a:r>
            <a:br>
              <a:rPr lang="en-CA" sz="2800" b="1" dirty="0" smtClean="0"/>
            </a:br>
            <a:r>
              <a:rPr lang="en-CA" sz="2800" dirty="0" smtClean="0"/>
              <a:t>(Solve the problem in the y-axis to find h)</a:t>
            </a:r>
            <a:br>
              <a:rPr lang="en-CA" sz="2800" dirty="0" smtClean="0"/>
            </a:br>
            <a:r>
              <a:rPr lang="en-CA" sz="2800" dirty="0" smtClean="0"/>
              <a:t>(add 20.0 m for the cliff)</a:t>
            </a:r>
          </a:p>
          <a:p>
            <a:r>
              <a:rPr lang="en-CA" sz="1800" dirty="0" smtClean="0"/>
              <a:t>Given:</a:t>
            </a:r>
            <a:br>
              <a:rPr lang="en-CA" sz="1800" dirty="0" smtClean="0"/>
            </a:br>
            <a:r>
              <a:rPr lang="en-CA" sz="1800" dirty="0" err="1" smtClean="0"/>
              <a:t>V</a:t>
            </a:r>
            <a:r>
              <a:rPr lang="en-CA" sz="1800" baseline="-25000" dirty="0" err="1" smtClean="0"/>
              <a:t>f</a:t>
            </a:r>
            <a:r>
              <a:rPr lang="en-CA" sz="1800" dirty="0" smtClean="0"/>
              <a:t> = 0 m/s (stops at peak)</a:t>
            </a:r>
            <a:br>
              <a:rPr lang="en-CA" sz="1800" dirty="0" smtClean="0"/>
            </a:br>
            <a:r>
              <a:rPr lang="en-CA" sz="1800" dirty="0" smtClean="0"/>
              <a:t>a = -9.81 m/s</a:t>
            </a:r>
            <a:r>
              <a:rPr lang="en-CA" sz="1800" baseline="30000" dirty="0" smtClean="0"/>
              <a:t>2</a:t>
            </a:r>
            <a:r>
              <a:rPr lang="en-CA" sz="1800" dirty="0" smtClean="0"/>
              <a:t> (gravity)</a:t>
            </a:r>
            <a:br>
              <a:rPr lang="en-CA" sz="1800" dirty="0" smtClean="0"/>
            </a:br>
            <a:r>
              <a:rPr lang="el-GR" sz="1800" dirty="0"/>
              <a:t>Δ</a:t>
            </a:r>
            <a:r>
              <a:rPr lang="en-CA" sz="1800" dirty="0" smtClean="0"/>
              <a:t>t = 0.736 s (from part a)</a:t>
            </a:r>
            <a:br>
              <a:rPr lang="en-CA" sz="1800" dirty="0" smtClean="0"/>
            </a:br>
            <a:r>
              <a:rPr lang="en-CA" sz="1800" dirty="0" smtClean="0"/>
              <a:t>Find </a:t>
            </a:r>
            <a:r>
              <a:rPr lang="el-GR" sz="1800" dirty="0" smtClean="0"/>
              <a:t>Δ</a:t>
            </a:r>
            <a:r>
              <a:rPr lang="en-CA" sz="1800" dirty="0" smtClean="0"/>
              <a:t>d (the value of h)</a:t>
            </a:r>
            <a:br>
              <a:rPr lang="en-CA" sz="1800" dirty="0" smtClean="0"/>
            </a:br>
            <a:endParaRPr lang="en-CA" sz="1800" dirty="0" smtClean="0"/>
          </a:p>
          <a:p>
            <a:r>
              <a:rPr lang="en-CA" sz="1800" dirty="0" smtClean="0"/>
              <a:t>Solve:</a:t>
            </a:r>
            <a:br>
              <a:rPr lang="en-CA" sz="1800" dirty="0" smtClean="0"/>
            </a:br>
            <a:r>
              <a:rPr lang="el-GR" sz="1800" dirty="0" smtClean="0"/>
              <a:t>Δ</a:t>
            </a:r>
            <a:r>
              <a:rPr lang="en-CA" sz="1800" dirty="0" smtClean="0"/>
              <a:t>d = </a:t>
            </a:r>
            <a:r>
              <a:rPr lang="en-CA" sz="1800" dirty="0" err="1" smtClean="0"/>
              <a:t>V</a:t>
            </a:r>
            <a:r>
              <a:rPr lang="en-CA" sz="1800" baseline="-25000" dirty="0" err="1" smtClean="0"/>
              <a:t>f</a:t>
            </a:r>
            <a:r>
              <a:rPr lang="el-GR" sz="1800" dirty="0" smtClean="0"/>
              <a:t>Δ</a:t>
            </a:r>
            <a:r>
              <a:rPr lang="en-CA" sz="1800" dirty="0"/>
              <a:t>t </a:t>
            </a:r>
            <a:r>
              <a:rPr lang="en-CA" sz="1800" dirty="0" smtClean="0"/>
              <a:t>– ½ a</a:t>
            </a:r>
            <a:r>
              <a:rPr lang="el-GR" sz="1800" dirty="0" smtClean="0"/>
              <a:t>Δ</a:t>
            </a:r>
            <a:r>
              <a:rPr lang="en-CA" sz="1800" dirty="0" smtClean="0"/>
              <a:t>t</a:t>
            </a:r>
            <a:r>
              <a:rPr lang="en-CA" sz="1800" baseline="30000" dirty="0" smtClean="0"/>
              <a:t>2</a:t>
            </a:r>
            <a:r>
              <a:rPr lang="en-CA" sz="1800" dirty="0"/>
              <a:t/>
            </a:r>
            <a:br>
              <a:rPr lang="en-CA" sz="1800" dirty="0"/>
            </a:br>
            <a:r>
              <a:rPr lang="el-GR" sz="1800" dirty="0"/>
              <a:t>Δ</a:t>
            </a:r>
            <a:r>
              <a:rPr lang="en-CA" sz="1800" dirty="0"/>
              <a:t>d</a:t>
            </a:r>
            <a:r>
              <a:rPr lang="en-CA" sz="1800" dirty="0" smtClean="0"/>
              <a:t> = 0  + ½(9.81)(0.736)</a:t>
            </a:r>
            <a:r>
              <a:rPr lang="en-CA" sz="1800" baseline="30000" dirty="0" smtClean="0"/>
              <a:t>2</a:t>
            </a:r>
            <a:r>
              <a:rPr lang="en-CA" sz="1800" dirty="0" smtClean="0"/>
              <a:t/>
            </a:r>
            <a:br>
              <a:rPr lang="en-CA" sz="1800" dirty="0" smtClean="0"/>
            </a:br>
            <a:r>
              <a:rPr lang="el-GR" sz="1800" dirty="0" smtClean="0"/>
              <a:t>Δ</a:t>
            </a:r>
            <a:r>
              <a:rPr lang="en-CA" sz="1800" dirty="0" smtClean="0"/>
              <a:t>d = 2.66 m</a:t>
            </a:r>
            <a:r>
              <a:rPr lang="en-CA" sz="1800" dirty="0"/>
              <a:t/>
            </a:r>
            <a:br>
              <a:rPr lang="en-CA" sz="1800" dirty="0"/>
            </a:br>
            <a:r>
              <a:rPr lang="en-CA" sz="1800" dirty="0" smtClean="0"/>
              <a:t>Add 20.0 m for cliff</a:t>
            </a:r>
            <a:r>
              <a:rPr lang="en-CA" sz="1800" dirty="0"/>
              <a:t/>
            </a:r>
            <a:br>
              <a:rPr lang="en-CA" sz="1800" dirty="0"/>
            </a:br>
            <a:r>
              <a:rPr lang="el-GR" sz="1800" dirty="0"/>
              <a:t>Δ</a:t>
            </a:r>
            <a:r>
              <a:rPr lang="en-CA" sz="1800" dirty="0"/>
              <a:t>d = </a:t>
            </a:r>
            <a:r>
              <a:rPr lang="en-CA" sz="1800" dirty="0" smtClean="0"/>
              <a:t>22.66 m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104919" y="4164371"/>
            <a:ext cx="2581881" cy="1952267"/>
            <a:chOff x="2599719" y="1781533"/>
            <a:chExt cx="2581881" cy="1952267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2971800" y="2895600"/>
              <a:ext cx="2209800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>
              <a:off x="2971800" y="3733800"/>
              <a:ext cx="2209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3276600" y="2895600"/>
              <a:ext cx="0" cy="838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2971800" y="2886075"/>
              <a:ext cx="304800" cy="95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V="1">
              <a:off x="3276600" y="2667000"/>
              <a:ext cx="152400" cy="2190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3267075" y="2108717"/>
              <a:ext cx="1838325" cy="1606033"/>
            </a:xfrm>
            <a:custGeom>
              <a:avLst/>
              <a:gdLst>
                <a:gd name="connsiteX0" fmla="*/ 0 w 1838325"/>
                <a:gd name="connsiteY0" fmla="*/ 786883 h 1606033"/>
                <a:gd name="connsiteX1" fmla="*/ 781050 w 1838325"/>
                <a:gd name="connsiteY1" fmla="*/ 24883 h 1606033"/>
                <a:gd name="connsiteX2" fmla="*/ 1838325 w 1838325"/>
                <a:gd name="connsiteY2" fmla="*/ 1606033 h 1606033"/>
                <a:gd name="connsiteX3" fmla="*/ 1838325 w 1838325"/>
                <a:gd name="connsiteY3" fmla="*/ 1606033 h 1606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8325" h="1606033">
                  <a:moveTo>
                    <a:pt x="0" y="786883"/>
                  </a:moveTo>
                  <a:cubicBezTo>
                    <a:pt x="237331" y="337620"/>
                    <a:pt x="474663" y="-111642"/>
                    <a:pt x="781050" y="24883"/>
                  </a:cubicBezTo>
                  <a:cubicBezTo>
                    <a:pt x="1087437" y="161408"/>
                    <a:pt x="1838325" y="1606033"/>
                    <a:pt x="1838325" y="1606033"/>
                  </a:cubicBezTo>
                  <a:lnTo>
                    <a:pt x="1838325" y="1606033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599719" y="3136582"/>
              <a:ext cx="6864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400" dirty="0" smtClean="0"/>
                <a:t>20.0 m</a:t>
              </a:r>
              <a:endParaRPr lang="en-US" sz="14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654104" y="1781533"/>
              <a:ext cx="5321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400"/>
                <a:t>Peak</a:t>
              </a:r>
              <a:endParaRPr lang="en-US" sz="1400" dirty="0"/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 flipV="1">
              <a:off x="3920170" y="2108717"/>
              <a:ext cx="0" cy="777358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3876909" y="2405181"/>
              <a:ext cx="2792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400" dirty="0" smtClean="0"/>
                <a:t>h</a:t>
              </a:r>
              <a:endParaRPr lang="en-US" sz="1400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071466" y="2539364"/>
              <a:ext cx="3145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400" dirty="0" smtClean="0"/>
                <a:t>V</a:t>
              </a:r>
              <a:r>
                <a:rPr lang="en-CA" sz="1400" baseline="-25000" dirty="0" smtClean="0"/>
                <a:t>i</a:t>
              </a:r>
              <a:endParaRPr lang="en-US" sz="1400" baseline="-25000" dirty="0"/>
            </a:p>
          </p:txBody>
        </p:sp>
      </p:grpSp>
      <p:cxnSp>
        <p:nvCxnSpPr>
          <p:cNvPr id="17" name="Straight Arrow Connector 16"/>
          <p:cNvCxnSpPr/>
          <p:nvPr/>
        </p:nvCxnSpPr>
        <p:spPr>
          <a:xfrm>
            <a:off x="6733921" y="2514600"/>
            <a:ext cx="626839" cy="22560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9495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Angled Launch 2 </a:t>
            </a:r>
            <a:br>
              <a:rPr lang="en-CA" dirty="0" smtClean="0"/>
            </a:br>
            <a:r>
              <a:rPr lang="en-CA" dirty="0" smtClean="0"/>
              <a:t>(Solution Slide 4)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lphaLcParenR" startAt="3"/>
            </a:pPr>
            <a:r>
              <a:rPr lang="en-CA" sz="2800" b="1" dirty="0" smtClean="0"/>
              <a:t>Find The Time To Land.</a:t>
            </a:r>
            <a:br>
              <a:rPr lang="en-CA" sz="2800" b="1" dirty="0" smtClean="0"/>
            </a:br>
            <a:r>
              <a:rPr lang="en-CA" sz="2800" dirty="0" smtClean="0"/>
              <a:t>(Solve the problem in the y-axis)</a:t>
            </a:r>
            <a:br>
              <a:rPr lang="en-CA" sz="2800" dirty="0" smtClean="0"/>
            </a:br>
            <a:r>
              <a:rPr lang="en-CA" sz="2800" dirty="0" smtClean="0"/>
              <a:t>(Find time to drop from peak height of 22.66 m)</a:t>
            </a:r>
            <a:br>
              <a:rPr lang="en-CA" sz="2800" dirty="0" smtClean="0"/>
            </a:br>
            <a:r>
              <a:rPr lang="en-CA" sz="2800" dirty="0" smtClean="0"/>
              <a:t>(Add 0.737s for the time to rise up)</a:t>
            </a:r>
          </a:p>
          <a:p>
            <a:r>
              <a:rPr lang="en-CA" sz="1800" dirty="0" smtClean="0"/>
              <a:t>Given:</a:t>
            </a:r>
            <a:br>
              <a:rPr lang="en-CA" sz="1800" dirty="0" smtClean="0"/>
            </a:br>
            <a:r>
              <a:rPr lang="en-CA" sz="1800" dirty="0" smtClean="0"/>
              <a:t>V</a:t>
            </a:r>
            <a:r>
              <a:rPr lang="en-CA" sz="1800" baseline="-25000" dirty="0" smtClean="0"/>
              <a:t>i</a:t>
            </a:r>
            <a:r>
              <a:rPr lang="en-CA" sz="1800" dirty="0" smtClean="0"/>
              <a:t> = 0 m/s (</a:t>
            </a:r>
            <a:r>
              <a:rPr lang="en-CA" sz="1800" dirty="0" err="1" smtClean="0"/>
              <a:t>stoped</a:t>
            </a:r>
            <a:r>
              <a:rPr lang="en-CA" sz="1800" dirty="0" smtClean="0"/>
              <a:t> at peak)</a:t>
            </a:r>
            <a:br>
              <a:rPr lang="en-CA" sz="1800" dirty="0" smtClean="0"/>
            </a:br>
            <a:r>
              <a:rPr lang="en-CA" sz="1800" dirty="0" smtClean="0"/>
              <a:t>a = -9.81 m/s</a:t>
            </a:r>
            <a:r>
              <a:rPr lang="en-CA" sz="1800" baseline="30000" dirty="0" smtClean="0"/>
              <a:t>2</a:t>
            </a:r>
            <a:r>
              <a:rPr lang="en-CA" sz="1800" dirty="0" smtClean="0"/>
              <a:t> (gravity)</a:t>
            </a:r>
            <a:br>
              <a:rPr lang="en-CA" sz="1800" dirty="0" smtClean="0"/>
            </a:br>
            <a:r>
              <a:rPr lang="el-GR" sz="1800" dirty="0" smtClean="0"/>
              <a:t>Δ</a:t>
            </a:r>
            <a:r>
              <a:rPr lang="en-CA" sz="1800" dirty="0" smtClean="0"/>
              <a:t>d = 22.66 m (from part b)</a:t>
            </a:r>
            <a:br>
              <a:rPr lang="en-CA" sz="1800" dirty="0" smtClean="0"/>
            </a:br>
            <a:r>
              <a:rPr lang="en-CA" sz="1800" dirty="0" smtClean="0"/>
              <a:t>Find </a:t>
            </a:r>
            <a:r>
              <a:rPr lang="el-GR" sz="1800" dirty="0" smtClean="0"/>
              <a:t>Δ</a:t>
            </a:r>
            <a:r>
              <a:rPr lang="en-CA" sz="1800" dirty="0" smtClean="0"/>
              <a:t>t</a:t>
            </a:r>
            <a:br>
              <a:rPr lang="en-CA" sz="1800" dirty="0" smtClean="0"/>
            </a:br>
            <a:endParaRPr lang="en-CA" sz="1800" dirty="0" smtClean="0"/>
          </a:p>
          <a:p>
            <a:r>
              <a:rPr lang="en-CA" sz="1800" dirty="0" smtClean="0"/>
              <a:t>Solve:</a:t>
            </a:r>
            <a:br>
              <a:rPr lang="en-CA" sz="1800" dirty="0" smtClean="0"/>
            </a:br>
            <a:r>
              <a:rPr lang="el-GR" sz="1800" dirty="0" smtClean="0"/>
              <a:t>Δ</a:t>
            </a:r>
            <a:r>
              <a:rPr lang="en-CA" sz="1800" dirty="0" smtClean="0"/>
              <a:t>d = </a:t>
            </a:r>
            <a:r>
              <a:rPr lang="en-CA" sz="1800" dirty="0" err="1" smtClean="0"/>
              <a:t>V</a:t>
            </a:r>
            <a:r>
              <a:rPr lang="en-CA" sz="1800" baseline="-25000" dirty="0" err="1" smtClean="0"/>
              <a:t>f</a:t>
            </a:r>
            <a:r>
              <a:rPr lang="el-GR" sz="1800" dirty="0" smtClean="0"/>
              <a:t>Δ</a:t>
            </a:r>
            <a:r>
              <a:rPr lang="en-CA" sz="1800" dirty="0"/>
              <a:t>t </a:t>
            </a:r>
            <a:r>
              <a:rPr lang="en-CA" sz="1800" dirty="0" smtClean="0"/>
              <a:t>– ½ a</a:t>
            </a:r>
            <a:r>
              <a:rPr lang="el-GR" sz="1800" dirty="0" smtClean="0"/>
              <a:t>Δ</a:t>
            </a:r>
            <a:r>
              <a:rPr lang="en-CA" sz="1800" dirty="0" smtClean="0"/>
              <a:t>t</a:t>
            </a:r>
            <a:r>
              <a:rPr lang="en-CA" sz="1800" baseline="30000" dirty="0" smtClean="0"/>
              <a:t>2</a:t>
            </a:r>
            <a:r>
              <a:rPr lang="en-CA" sz="1800" dirty="0"/>
              <a:t/>
            </a:r>
            <a:br>
              <a:rPr lang="en-CA" sz="1800" dirty="0"/>
            </a:br>
            <a:r>
              <a:rPr lang="en-CA" sz="1800" dirty="0" smtClean="0"/>
              <a:t>22.66 = 0  + ½(9.81)</a:t>
            </a:r>
            <a:r>
              <a:rPr lang="el-GR" sz="1800" dirty="0" smtClean="0"/>
              <a:t>Δ</a:t>
            </a:r>
            <a:r>
              <a:rPr lang="en-CA" sz="1800" dirty="0"/>
              <a:t>t</a:t>
            </a:r>
            <a:r>
              <a:rPr lang="en-CA" sz="1800" baseline="30000" dirty="0" smtClean="0"/>
              <a:t>2</a:t>
            </a:r>
            <a:r>
              <a:rPr lang="en-CA" sz="1800" dirty="0" smtClean="0"/>
              <a:t/>
            </a:r>
            <a:br>
              <a:rPr lang="en-CA" sz="1800" dirty="0" smtClean="0"/>
            </a:br>
            <a:r>
              <a:rPr lang="el-GR" sz="1800" dirty="0"/>
              <a:t>Δ</a:t>
            </a:r>
            <a:r>
              <a:rPr lang="en-CA" sz="1800" dirty="0"/>
              <a:t>t</a:t>
            </a:r>
            <a:r>
              <a:rPr lang="en-CA" sz="1800" baseline="30000" dirty="0"/>
              <a:t>2</a:t>
            </a:r>
            <a:r>
              <a:rPr lang="en-CA" sz="1800" dirty="0" smtClean="0"/>
              <a:t> = 2(22.66)/9.81</a:t>
            </a:r>
            <a:br>
              <a:rPr lang="en-CA" sz="1800" dirty="0" smtClean="0"/>
            </a:br>
            <a:r>
              <a:rPr lang="el-GR" sz="1800" dirty="0"/>
              <a:t>Δ</a:t>
            </a:r>
            <a:r>
              <a:rPr lang="en-CA" sz="1800" dirty="0" smtClean="0"/>
              <a:t>t =2.15 s</a:t>
            </a:r>
            <a:r>
              <a:rPr lang="en-CA" sz="1800" dirty="0"/>
              <a:t/>
            </a:r>
            <a:br>
              <a:rPr lang="en-CA" sz="1800" dirty="0"/>
            </a:br>
            <a:r>
              <a:rPr lang="en-CA" sz="1800" dirty="0" smtClean="0"/>
              <a:t>Add 0.737 m for rise</a:t>
            </a:r>
            <a:r>
              <a:rPr lang="en-CA" sz="1800" dirty="0"/>
              <a:t/>
            </a:r>
            <a:br>
              <a:rPr lang="en-CA" sz="1800" dirty="0"/>
            </a:br>
            <a:r>
              <a:rPr lang="el-GR" sz="1800" dirty="0" smtClean="0"/>
              <a:t>Δ</a:t>
            </a:r>
            <a:r>
              <a:rPr lang="en-CA" sz="1800" dirty="0" smtClean="0"/>
              <a:t>t </a:t>
            </a:r>
            <a:r>
              <a:rPr lang="en-CA" sz="1800" dirty="0"/>
              <a:t>= </a:t>
            </a:r>
            <a:r>
              <a:rPr lang="en-CA" sz="1800" dirty="0" smtClean="0"/>
              <a:t>2.89 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477000" y="4164371"/>
            <a:ext cx="2209800" cy="1952267"/>
            <a:chOff x="2971800" y="1781533"/>
            <a:chExt cx="2209800" cy="1952267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2971800" y="2895600"/>
              <a:ext cx="2209800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>
              <a:off x="2971800" y="3733800"/>
              <a:ext cx="2209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3276600" y="2895600"/>
              <a:ext cx="0" cy="838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2971800" y="2886075"/>
              <a:ext cx="304800" cy="95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V="1">
              <a:off x="3276600" y="2667000"/>
              <a:ext cx="152400" cy="2190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3267075" y="2108717"/>
              <a:ext cx="1838325" cy="1606033"/>
            </a:xfrm>
            <a:custGeom>
              <a:avLst/>
              <a:gdLst>
                <a:gd name="connsiteX0" fmla="*/ 0 w 1838325"/>
                <a:gd name="connsiteY0" fmla="*/ 786883 h 1606033"/>
                <a:gd name="connsiteX1" fmla="*/ 781050 w 1838325"/>
                <a:gd name="connsiteY1" fmla="*/ 24883 h 1606033"/>
                <a:gd name="connsiteX2" fmla="*/ 1838325 w 1838325"/>
                <a:gd name="connsiteY2" fmla="*/ 1606033 h 1606033"/>
                <a:gd name="connsiteX3" fmla="*/ 1838325 w 1838325"/>
                <a:gd name="connsiteY3" fmla="*/ 1606033 h 1606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8325" h="1606033">
                  <a:moveTo>
                    <a:pt x="0" y="786883"/>
                  </a:moveTo>
                  <a:cubicBezTo>
                    <a:pt x="237331" y="337620"/>
                    <a:pt x="474663" y="-111642"/>
                    <a:pt x="781050" y="24883"/>
                  </a:cubicBezTo>
                  <a:cubicBezTo>
                    <a:pt x="1087437" y="161408"/>
                    <a:pt x="1838325" y="1606033"/>
                    <a:pt x="1838325" y="1606033"/>
                  </a:cubicBezTo>
                  <a:lnTo>
                    <a:pt x="1838325" y="1606033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959412" y="3112393"/>
              <a:ext cx="9685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400" dirty="0" smtClean="0"/>
                <a:t>h + 20.0 m</a:t>
              </a:r>
              <a:endParaRPr lang="en-US" sz="14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654104" y="1781533"/>
              <a:ext cx="5321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400"/>
                <a:t>Peak</a:t>
              </a:r>
              <a:endParaRPr lang="en-US" sz="1400" dirty="0"/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 flipH="1" flipV="1">
              <a:off x="3920170" y="2108717"/>
              <a:ext cx="39242" cy="1606033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3071466" y="2539364"/>
              <a:ext cx="3145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400" dirty="0" smtClean="0"/>
                <a:t>V</a:t>
              </a:r>
              <a:r>
                <a:rPr lang="en-CA" sz="1400" baseline="-25000" dirty="0" smtClean="0"/>
                <a:t>i</a:t>
              </a:r>
              <a:endParaRPr lang="en-US" sz="1400" baseline="-25000" dirty="0"/>
            </a:p>
          </p:txBody>
        </p:sp>
      </p:grpSp>
      <p:cxnSp>
        <p:nvCxnSpPr>
          <p:cNvPr id="17" name="Straight Arrow Connector 16"/>
          <p:cNvCxnSpPr/>
          <p:nvPr/>
        </p:nvCxnSpPr>
        <p:spPr>
          <a:xfrm>
            <a:off x="7086600" y="2861193"/>
            <a:ext cx="628017" cy="26340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5856684" y="3048000"/>
            <a:ext cx="1073734" cy="1600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8209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Angled Launch 2 </a:t>
            </a:r>
            <a:br>
              <a:rPr lang="en-CA" dirty="0" smtClean="0"/>
            </a:br>
            <a:r>
              <a:rPr lang="en-CA" dirty="0" smtClean="0"/>
              <a:t>(Solution Slide 5)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lphaLcParenR" startAt="4"/>
            </a:pPr>
            <a:r>
              <a:rPr lang="en-CA" sz="2800" b="1" dirty="0" smtClean="0"/>
              <a:t>Find The Horizontal Distance.</a:t>
            </a:r>
            <a:br>
              <a:rPr lang="en-CA" sz="2800" b="1" dirty="0" smtClean="0"/>
            </a:br>
            <a:r>
              <a:rPr lang="en-CA" sz="2800" dirty="0" smtClean="0"/>
              <a:t>(Solve the problem in the x-axis)</a:t>
            </a:r>
            <a:br>
              <a:rPr lang="en-CA" sz="2800" dirty="0" smtClean="0"/>
            </a:br>
            <a:r>
              <a:rPr lang="en-CA" sz="2800" dirty="0" smtClean="0"/>
              <a:t>(V is constant in the horizontal direction)</a:t>
            </a:r>
            <a:br>
              <a:rPr lang="en-CA" sz="2800" dirty="0" smtClean="0"/>
            </a:br>
            <a:r>
              <a:rPr lang="en-CA" sz="1800" dirty="0" smtClean="0"/>
              <a:t>Given:</a:t>
            </a:r>
            <a:br>
              <a:rPr lang="en-CA" sz="1800" dirty="0" smtClean="0"/>
            </a:br>
            <a:r>
              <a:rPr lang="en-CA" sz="1800" dirty="0"/>
              <a:t>V</a:t>
            </a:r>
            <a:r>
              <a:rPr lang="en-CA" sz="1800" baseline="-25000" dirty="0"/>
              <a:t>i</a:t>
            </a:r>
            <a:r>
              <a:rPr lang="en-CA" sz="1800" dirty="0"/>
              <a:t> = </a:t>
            </a:r>
            <a:r>
              <a:rPr lang="en-CA" sz="1800" dirty="0" smtClean="0"/>
              <a:t>9.58 </a:t>
            </a:r>
            <a:r>
              <a:rPr lang="en-CA" sz="1800" dirty="0"/>
              <a:t>m/s (initial component)</a:t>
            </a:r>
            <a:br>
              <a:rPr lang="en-CA" sz="1800" dirty="0"/>
            </a:br>
            <a:r>
              <a:rPr lang="el-GR" sz="1800" dirty="0" smtClean="0"/>
              <a:t>Δ</a:t>
            </a:r>
            <a:r>
              <a:rPr lang="en-CA" sz="1800" dirty="0" smtClean="0"/>
              <a:t>t = 2.89 (from part c)</a:t>
            </a:r>
            <a:br>
              <a:rPr lang="en-CA" sz="1800" dirty="0" smtClean="0"/>
            </a:br>
            <a:r>
              <a:rPr lang="en-CA" sz="1800" dirty="0" smtClean="0"/>
              <a:t>Find </a:t>
            </a:r>
            <a:r>
              <a:rPr lang="el-GR" sz="1800" dirty="0" smtClean="0"/>
              <a:t>Δ</a:t>
            </a:r>
            <a:r>
              <a:rPr lang="en-CA" sz="1800" dirty="0" smtClean="0"/>
              <a:t>d</a:t>
            </a:r>
            <a:br>
              <a:rPr lang="en-CA" sz="1800" dirty="0" smtClean="0"/>
            </a:br>
            <a:endParaRPr lang="en-CA" sz="1800" dirty="0" smtClean="0"/>
          </a:p>
          <a:p>
            <a:r>
              <a:rPr lang="en-CA" sz="1800" dirty="0" smtClean="0"/>
              <a:t>Solve:</a:t>
            </a:r>
            <a:br>
              <a:rPr lang="en-CA" sz="1800" dirty="0" smtClean="0"/>
            </a:br>
            <a:r>
              <a:rPr lang="el-GR" sz="1800" dirty="0" smtClean="0"/>
              <a:t>Δ</a:t>
            </a:r>
            <a:r>
              <a:rPr lang="en-CA" sz="1800" dirty="0" smtClean="0"/>
              <a:t>d = V</a:t>
            </a:r>
            <a:r>
              <a:rPr lang="el-GR" sz="1800" dirty="0" smtClean="0"/>
              <a:t>Δ</a:t>
            </a:r>
            <a:r>
              <a:rPr lang="en-CA" sz="1800" dirty="0" smtClean="0"/>
              <a:t>t</a:t>
            </a:r>
            <a:br>
              <a:rPr lang="en-CA" sz="1800" dirty="0" smtClean="0"/>
            </a:br>
            <a:r>
              <a:rPr lang="el-GR" sz="1800" dirty="0" smtClean="0"/>
              <a:t>Δ</a:t>
            </a:r>
            <a:r>
              <a:rPr lang="en-CA" sz="1800" dirty="0" smtClean="0"/>
              <a:t>d = (9.58)(2.89)</a:t>
            </a:r>
            <a:r>
              <a:rPr lang="en-CA" sz="1800" dirty="0"/>
              <a:t/>
            </a:r>
            <a:br>
              <a:rPr lang="en-CA" sz="1800" dirty="0"/>
            </a:br>
            <a:r>
              <a:rPr lang="el-GR" sz="1800" dirty="0" smtClean="0"/>
              <a:t>Δ</a:t>
            </a:r>
            <a:r>
              <a:rPr lang="en-CA" sz="1800" dirty="0" smtClean="0"/>
              <a:t>d </a:t>
            </a:r>
            <a:r>
              <a:rPr lang="en-CA" sz="1800" dirty="0"/>
              <a:t>= </a:t>
            </a:r>
            <a:r>
              <a:rPr lang="en-CA" sz="1800" dirty="0" smtClean="0"/>
              <a:t>27.7 m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477000" y="4164371"/>
            <a:ext cx="2209800" cy="2107743"/>
            <a:chOff x="2971800" y="1781533"/>
            <a:chExt cx="2209800" cy="2107743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2971800" y="2895600"/>
              <a:ext cx="2209800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>
              <a:off x="2971800" y="3733800"/>
              <a:ext cx="2209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3276600" y="2895600"/>
              <a:ext cx="0" cy="838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2971800" y="2886075"/>
              <a:ext cx="304800" cy="95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V="1">
              <a:off x="3276600" y="2667000"/>
              <a:ext cx="152400" cy="2190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3267075" y="2108717"/>
              <a:ext cx="1838325" cy="1606033"/>
            </a:xfrm>
            <a:custGeom>
              <a:avLst/>
              <a:gdLst>
                <a:gd name="connsiteX0" fmla="*/ 0 w 1838325"/>
                <a:gd name="connsiteY0" fmla="*/ 786883 h 1606033"/>
                <a:gd name="connsiteX1" fmla="*/ 781050 w 1838325"/>
                <a:gd name="connsiteY1" fmla="*/ 24883 h 1606033"/>
                <a:gd name="connsiteX2" fmla="*/ 1838325 w 1838325"/>
                <a:gd name="connsiteY2" fmla="*/ 1606033 h 1606033"/>
                <a:gd name="connsiteX3" fmla="*/ 1838325 w 1838325"/>
                <a:gd name="connsiteY3" fmla="*/ 1606033 h 1606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8325" h="1606033">
                  <a:moveTo>
                    <a:pt x="0" y="786883"/>
                  </a:moveTo>
                  <a:cubicBezTo>
                    <a:pt x="237331" y="337620"/>
                    <a:pt x="474663" y="-111642"/>
                    <a:pt x="781050" y="24883"/>
                  </a:cubicBezTo>
                  <a:cubicBezTo>
                    <a:pt x="1087437" y="161408"/>
                    <a:pt x="1838325" y="1606033"/>
                    <a:pt x="1838325" y="1606033"/>
                  </a:cubicBezTo>
                  <a:lnTo>
                    <a:pt x="1838325" y="1606033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654104" y="1781533"/>
              <a:ext cx="5321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400"/>
                <a:t>Peak</a:t>
              </a:r>
              <a:endParaRPr lang="en-US" sz="1400" dirty="0"/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>
              <a:off x="3385976" y="3870267"/>
              <a:ext cx="1719424" cy="19009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3071466" y="2539364"/>
              <a:ext cx="3145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400" dirty="0" smtClean="0"/>
                <a:t>V</a:t>
              </a:r>
              <a:r>
                <a:rPr lang="en-CA" sz="1400" baseline="-25000" dirty="0" smtClean="0"/>
                <a:t>i</a:t>
              </a:r>
              <a:endParaRPr lang="en-US" sz="1400" baseline="-25000" dirty="0"/>
            </a:p>
          </p:txBody>
        </p:sp>
      </p:grpSp>
      <p:cxnSp>
        <p:nvCxnSpPr>
          <p:cNvPr id="17" name="Straight Arrow Connector 16"/>
          <p:cNvCxnSpPr/>
          <p:nvPr/>
        </p:nvCxnSpPr>
        <p:spPr>
          <a:xfrm>
            <a:off x="5732445" y="2847352"/>
            <a:ext cx="1958992" cy="33898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557362" y="6237229"/>
            <a:ext cx="380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400" dirty="0" smtClean="0"/>
              <a:t>Δ</a:t>
            </a:r>
            <a:r>
              <a:rPr lang="en-CA" sz="1400" dirty="0" smtClean="0"/>
              <a:t>d</a:t>
            </a:r>
            <a:endParaRPr lang="en-US" sz="1400" baseline="-25000" dirty="0"/>
          </a:p>
        </p:txBody>
      </p:sp>
    </p:spTree>
    <p:extLst>
      <p:ext uri="{BB962C8B-B14F-4D97-AF65-F5344CB8AC3E}">
        <p14:creationId xmlns:p14="http://schemas.microsoft.com/office/powerpoint/2010/main" val="1533418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Angled Launch 2 </a:t>
            </a:r>
            <a:br>
              <a:rPr lang="en-CA" dirty="0" smtClean="0"/>
            </a:br>
            <a:r>
              <a:rPr lang="en-CA" dirty="0" smtClean="0"/>
              <a:t>(Solution Slide 6)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lphaLcParenR" startAt="5"/>
            </a:pPr>
            <a:r>
              <a:rPr lang="en-CA" sz="2800" b="1" dirty="0" smtClean="0"/>
              <a:t>Find The Final Velocity.</a:t>
            </a:r>
            <a:br>
              <a:rPr lang="en-CA" sz="2800" b="1" dirty="0" smtClean="0"/>
            </a:br>
            <a:r>
              <a:rPr lang="en-CA" sz="2800" dirty="0" smtClean="0"/>
              <a:t>(Fins X and Y components for Final V)</a:t>
            </a:r>
            <a:r>
              <a:rPr lang="en-CA" sz="2800" dirty="0"/>
              <a:t/>
            </a:r>
            <a:br>
              <a:rPr lang="en-CA" sz="2800" dirty="0"/>
            </a:br>
            <a:r>
              <a:rPr lang="en-CA" sz="2800" dirty="0" smtClean="0"/>
              <a:t>(Use Pythagorean and Tan)</a:t>
            </a:r>
            <a:r>
              <a:rPr lang="en-CA" sz="2800" dirty="0"/>
              <a:t/>
            </a:r>
            <a:br>
              <a:rPr lang="en-CA" sz="2800" dirty="0"/>
            </a:br>
            <a:r>
              <a:rPr lang="en-CA" sz="2800" dirty="0" smtClean="0"/>
              <a:t/>
            </a:r>
            <a:br>
              <a:rPr lang="en-CA" sz="2800" dirty="0" smtClean="0"/>
            </a:br>
            <a:r>
              <a:rPr lang="en-CA" sz="1800" dirty="0" smtClean="0"/>
              <a:t>In X-Direction:</a:t>
            </a:r>
            <a:br>
              <a:rPr lang="en-CA" sz="1800" dirty="0" smtClean="0"/>
            </a:br>
            <a:r>
              <a:rPr lang="en-CA" sz="1800" dirty="0" smtClean="0"/>
              <a:t>V </a:t>
            </a:r>
            <a:r>
              <a:rPr lang="en-CA" sz="1800" dirty="0"/>
              <a:t>= </a:t>
            </a:r>
            <a:r>
              <a:rPr lang="en-CA" sz="1800" dirty="0" smtClean="0"/>
              <a:t>9.58 </a:t>
            </a:r>
            <a:r>
              <a:rPr lang="en-CA" sz="1800" dirty="0"/>
              <a:t>m/s (initial component</a:t>
            </a:r>
            <a:r>
              <a:rPr lang="en-CA" sz="1800" dirty="0" smtClean="0"/>
              <a:t>)</a:t>
            </a:r>
            <a:br>
              <a:rPr lang="en-CA" sz="1800" dirty="0" smtClean="0"/>
            </a:br>
            <a:r>
              <a:rPr lang="en-CA" sz="1800" dirty="0" smtClean="0"/>
              <a:t/>
            </a:r>
            <a:br>
              <a:rPr lang="en-CA" sz="1800" dirty="0" smtClean="0"/>
            </a:br>
            <a:r>
              <a:rPr lang="en-CA" sz="1800" dirty="0"/>
              <a:t>In </a:t>
            </a:r>
            <a:r>
              <a:rPr lang="en-CA" sz="1800" dirty="0" smtClean="0"/>
              <a:t>Y-Direction</a:t>
            </a:r>
            <a:r>
              <a:rPr lang="en-CA" sz="1800" dirty="0"/>
              <a:t>:</a:t>
            </a:r>
            <a:br>
              <a:rPr lang="en-CA" sz="1800" dirty="0"/>
            </a:br>
            <a:r>
              <a:rPr lang="en-CA" sz="1800" dirty="0" smtClean="0"/>
              <a:t>Use V = a</a:t>
            </a:r>
            <a:r>
              <a:rPr lang="el-GR" sz="1800" dirty="0" smtClean="0"/>
              <a:t>Δ</a:t>
            </a:r>
            <a:r>
              <a:rPr lang="en-CA" sz="1800" dirty="0" smtClean="0"/>
              <a:t>t = (9.81)(2.89)</a:t>
            </a:r>
            <a:r>
              <a:rPr lang="en-CA" sz="1800" dirty="0"/>
              <a:t/>
            </a:r>
            <a:br>
              <a:rPr lang="en-CA" sz="1800" dirty="0"/>
            </a:br>
            <a:r>
              <a:rPr lang="en-CA" sz="1800" dirty="0" smtClean="0"/>
              <a:t>V = 28.4 m/s</a:t>
            </a:r>
            <a:br>
              <a:rPr lang="en-CA" sz="1800" dirty="0" smtClean="0"/>
            </a:br>
            <a:r>
              <a:rPr lang="en-CA" sz="1800" dirty="0" smtClean="0"/>
              <a:t/>
            </a:r>
            <a:br>
              <a:rPr lang="en-CA" sz="1800" dirty="0" smtClean="0"/>
            </a:br>
            <a:r>
              <a:rPr lang="en-CA" sz="1800" dirty="0" smtClean="0"/>
              <a:t>Pythagorean</a:t>
            </a:r>
            <a:br>
              <a:rPr lang="en-CA" sz="1800" dirty="0" smtClean="0"/>
            </a:br>
            <a:r>
              <a:rPr lang="en-CA" sz="1800" dirty="0" smtClean="0"/>
              <a:t>c</a:t>
            </a:r>
            <a:r>
              <a:rPr lang="en-CA" sz="1800" baseline="30000" dirty="0" smtClean="0"/>
              <a:t>2</a:t>
            </a:r>
            <a:r>
              <a:rPr lang="en-CA" sz="1800" dirty="0" smtClean="0"/>
              <a:t> = (9.58)</a:t>
            </a:r>
            <a:r>
              <a:rPr lang="en-CA" sz="1800" baseline="30000" dirty="0" smtClean="0"/>
              <a:t>2</a:t>
            </a:r>
            <a:r>
              <a:rPr lang="en-CA" sz="1800" dirty="0" smtClean="0"/>
              <a:t> + (28.4)</a:t>
            </a:r>
            <a:r>
              <a:rPr lang="en-CA" sz="1800" baseline="30000" dirty="0" smtClean="0"/>
              <a:t>2</a:t>
            </a:r>
            <a:r>
              <a:rPr lang="en-CA" sz="1800" dirty="0" smtClean="0"/>
              <a:t/>
            </a:r>
            <a:br>
              <a:rPr lang="en-CA" sz="1800" dirty="0" smtClean="0"/>
            </a:br>
            <a:r>
              <a:rPr lang="en-CA" sz="1800" dirty="0" smtClean="0"/>
              <a:t>c = 30.0 m/s</a:t>
            </a:r>
            <a:br>
              <a:rPr lang="en-CA" sz="1800" dirty="0" smtClean="0"/>
            </a:br>
            <a:r>
              <a:rPr lang="en-CA" sz="1800" dirty="0" smtClean="0"/>
              <a:t/>
            </a:r>
            <a:br>
              <a:rPr lang="en-CA" sz="1800" dirty="0" smtClean="0"/>
            </a:br>
            <a:r>
              <a:rPr lang="en-CA" sz="1800" dirty="0" smtClean="0"/>
              <a:t>Angle</a:t>
            </a:r>
            <a:br>
              <a:rPr lang="en-CA" sz="1800" dirty="0" smtClean="0"/>
            </a:br>
            <a:r>
              <a:rPr lang="el-GR" sz="1800" dirty="0" smtClean="0"/>
              <a:t>θ</a:t>
            </a:r>
            <a:r>
              <a:rPr lang="en-CA" sz="1800" dirty="0" smtClean="0"/>
              <a:t> = tan</a:t>
            </a:r>
            <a:r>
              <a:rPr lang="en-CA" sz="1800" baseline="30000" dirty="0" smtClean="0"/>
              <a:t>-1</a:t>
            </a:r>
            <a:r>
              <a:rPr lang="en-CA" sz="1800" dirty="0" smtClean="0"/>
              <a:t>(28.4/9.58)</a:t>
            </a:r>
            <a:br>
              <a:rPr lang="en-CA" sz="1800" dirty="0" smtClean="0"/>
            </a:br>
            <a:r>
              <a:rPr lang="el-GR" sz="1800" dirty="0"/>
              <a:t>θ</a:t>
            </a:r>
            <a:r>
              <a:rPr lang="en-CA" sz="1800" dirty="0"/>
              <a:t> </a:t>
            </a:r>
            <a:r>
              <a:rPr lang="en-CA" sz="1800" dirty="0" smtClean="0"/>
              <a:t>= 71.4°</a:t>
            </a:r>
            <a:br>
              <a:rPr lang="en-CA" sz="1800" dirty="0" smtClean="0"/>
            </a:br>
            <a:endParaRPr lang="en-CA" sz="1800" dirty="0" smtClean="0"/>
          </a:p>
        </p:txBody>
      </p:sp>
      <p:grpSp>
        <p:nvGrpSpPr>
          <p:cNvPr id="4" name="Group 3"/>
          <p:cNvGrpSpPr/>
          <p:nvPr/>
        </p:nvGrpSpPr>
        <p:grpSpPr>
          <a:xfrm>
            <a:off x="6248400" y="1737183"/>
            <a:ext cx="2209800" cy="1952267"/>
            <a:chOff x="2971800" y="1781533"/>
            <a:chExt cx="2209800" cy="1952267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2971800" y="2895600"/>
              <a:ext cx="2209800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>
              <a:off x="2971800" y="3733800"/>
              <a:ext cx="2209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3276600" y="2895600"/>
              <a:ext cx="0" cy="838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2971800" y="2886075"/>
              <a:ext cx="304800" cy="95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V="1">
              <a:off x="3276600" y="2667000"/>
              <a:ext cx="152400" cy="2190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3267075" y="2108717"/>
              <a:ext cx="1838325" cy="1606033"/>
            </a:xfrm>
            <a:custGeom>
              <a:avLst/>
              <a:gdLst>
                <a:gd name="connsiteX0" fmla="*/ 0 w 1838325"/>
                <a:gd name="connsiteY0" fmla="*/ 786883 h 1606033"/>
                <a:gd name="connsiteX1" fmla="*/ 781050 w 1838325"/>
                <a:gd name="connsiteY1" fmla="*/ 24883 h 1606033"/>
                <a:gd name="connsiteX2" fmla="*/ 1838325 w 1838325"/>
                <a:gd name="connsiteY2" fmla="*/ 1606033 h 1606033"/>
                <a:gd name="connsiteX3" fmla="*/ 1838325 w 1838325"/>
                <a:gd name="connsiteY3" fmla="*/ 1606033 h 1606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8325" h="1606033">
                  <a:moveTo>
                    <a:pt x="0" y="786883"/>
                  </a:moveTo>
                  <a:cubicBezTo>
                    <a:pt x="237331" y="337620"/>
                    <a:pt x="474663" y="-111642"/>
                    <a:pt x="781050" y="24883"/>
                  </a:cubicBezTo>
                  <a:cubicBezTo>
                    <a:pt x="1087437" y="161408"/>
                    <a:pt x="1838325" y="1606033"/>
                    <a:pt x="1838325" y="1606033"/>
                  </a:cubicBezTo>
                  <a:lnTo>
                    <a:pt x="1838325" y="1606033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654104" y="1781533"/>
              <a:ext cx="5321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400"/>
                <a:t>Peak</a:t>
              </a:r>
              <a:endParaRPr lang="en-US" sz="1400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071466" y="2539364"/>
              <a:ext cx="3145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400" dirty="0" smtClean="0"/>
                <a:t>V</a:t>
              </a:r>
              <a:r>
                <a:rPr lang="en-CA" sz="1400" baseline="-25000" dirty="0" smtClean="0"/>
                <a:t>i</a:t>
              </a:r>
              <a:endParaRPr lang="en-US" sz="1400" baseline="-25000" dirty="0"/>
            </a:p>
          </p:txBody>
        </p:sp>
      </p:grpSp>
      <p:cxnSp>
        <p:nvCxnSpPr>
          <p:cNvPr id="17" name="Straight Arrow Connector 16"/>
          <p:cNvCxnSpPr/>
          <p:nvPr/>
        </p:nvCxnSpPr>
        <p:spPr>
          <a:xfrm flipH="1">
            <a:off x="7767484" y="4038600"/>
            <a:ext cx="538316" cy="609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58200" y="3631167"/>
            <a:ext cx="3241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 err="1" smtClean="0"/>
              <a:t>V</a:t>
            </a:r>
            <a:r>
              <a:rPr lang="en-CA" sz="1400" baseline="-25000" dirty="0" err="1"/>
              <a:t>f</a:t>
            </a:r>
            <a:endParaRPr lang="en-US" sz="1400" baseline="-25000" dirty="0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8382000" y="3689450"/>
            <a:ext cx="152400" cy="26132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7043737" y="5105400"/>
            <a:ext cx="723747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7043737" y="5105400"/>
            <a:ext cx="0" cy="1020763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7043737" y="5105400"/>
            <a:ext cx="723747" cy="941439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196770" y="4734867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 smtClean="0"/>
              <a:t>9.58</a:t>
            </a:r>
            <a:endParaRPr lang="en-US" sz="1400" baseline="-25000" dirty="0"/>
          </a:p>
        </p:txBody>
      </p:sp>
      <p:sp>
        <p:nvSpPr>
          <p:cNvPr id="34" name="TextBox 33"/>
          <p:cNvSpPr txBox="1"/>
          <p:nvPr/>
        </p:nvSpPr>
        <p:spPr>
          <a:xfrm>
            <a:off x="6480980" y="5461892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 smtClean="0"/>
              <a:t>28.4</a:t>
            </a:r>
            <a:endParaRPr lang="en-US" sz="1400" baseline="-25000" dirty="0"/>
          </a:p>
        </p:txBody>
      </p:sp>
      <p:sp>
        <p:nvSpPr>
          <p:cNvPr id="35" name="Rectangle 34"/>
          <p:cNvSpPr/>
          <p:nvPr/>
        </p:nvSpPr>
        <p:spPr>
          <a:xfrm>
            <a:off x="7674390" y="5677507"/>
            <a:ext cx="10057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 smtClean="0"/>
              <a:t>30.0 m/s</a:t>
            </a:r>
            <a:endParaRPr lang="en-US" baseline="-25000" dirty="0"/>
          </a:p>
        </p:txBody>
      </p:sp>
      <p:sp>
        <p:nvSpPr>
          <p:cNvPr id="36" name="Rectangle 35"/>
          <p:cNvSpPr/>
          <p:nvPr/>
        </p:nvSpPr>
        <p:spPr>
          <a:xfrm>
            <a:off x="7245578" y="5193268"/>
            <a:ext cx="6719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 smtClean="0"/>
              <a:t>71.4°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1667887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2599719" y="1781533"/>
            <a:ext cx="2581881" cy="1952267"/>
            <a:chOff x="2599719" y="1781533"/>
            <a:chExt cx="2581881" cy="1952267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2971800" y="2895600"/>
              <a:ext cx="2209800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2971800" y="3733800"/>
              <a:ext cx="2209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3276600" y="2895600"/>
              <a:ext cx="0" cy="838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2971800" y="2886075"/>
              <a:ext cx="304800" cy="95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flipV="1">
              <a:off x="3276600" y="2667000"/>
              <a:ext cx="152400" cy="2190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Freeform 13"/>
            <p:cNvSpPr/>
            <p:nvPr/>
          </p:nvSpPr>
          <p:spPr>
            <a:xfrm>
              <a:off x="3267075" y="2108717"/>
              <a:ext cx="1838325" cy="1606033"/>
            </a:xfrm>
            <a:custGeom>
              <a:avLst/>
              <a:gdLst>
                <a:gd name="connsiteX0" fmla="*/ 0 w 1838325"/>
                <a:gd name="connsiteY0" fmla="*/ 786883 h 1606033"/>
                <a:gd name="connsiteX1" fmla="*/ 781050 w 1838325"/>
                <a:gd name="connsiteY1" fmla="*/ 24883 h 1606033"/>
                <a:gd name="connsiteX2" fmla="*/ 1838325 w 1838325"/>
                <a:gd name="connsiteY2" fmla="*/ 1606033 h 1606033"/>
                <a:gd name="connsiteX3" fmla="*/ 1838325 w 1838325"/>
                <a:gd name="connsiteY3" fmla="*/ 1606033 h 1606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8325" h="1606033">
                  <a:moveTo>
                    <a:pt x="0" y="786883"/>
                  </a:moveTo>
                  <a:cubicBezTo>
                    <a:pt x="237331" y="337620"/>
                    <a:pt x="474663" y="-111642"/>
                    <a:pt x="781050" y="24883"/>
                  </a:cubicBezTo>
                  <a:cubicBezTo>
                    <a:pt x="1087437" y="161408"/>
                    <a:pt x="1838325" y="1606033"/>
                    <a:pt x="1838325" y="1606033"/>
                  </a:cubicBezTo>
                  <a:lnTo>
                    <a:pt x="1838325" y="1606033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599719" y="3136582"/>
              <a:ext cx="6864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400" dirty="0" smtClean="0"/>
                <a:t>20.0 m</a:t>
              </a:r>
              <a:endParaRPr lang="en-US" sz="1400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654104" y="1781533"/>
              <a:ext cx="5321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400"/>
                <a:t>Peak</a:t>
              </a:r>
              <a:endParaRPr lang="en-US" sz="1400" dirty="0"/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 flipV="1">
              <a:off x="3920170" y="2108717"/>
              <a:ext cx="0" cy="777358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3876909" y="2405181"/>
              <a:ext cx="2792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400" dirty="0" smtClean="0"/>
                <a:t>h</a:t>
              </a:r>
              <a:endParaRPr lang="en-US" sz="1400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071466" y="2539364"/>
              <a:ext cx="3145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400" dirty="0" smtClean="0"/>
                <a:t>V</a:t>
              </a:r>
              <a:r>
                <a:rPr lang="en-CA" sz="1400" baseline="-25000" dirty="0" smtClean="0"/>
                <a:t>i</a:t>
              </a:r>
              <a:endParaRPr lang="en-US" sz="1400" baseline="-25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378482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387</Words>
  <Application>Microsoft Office PowerPoint</Application>
  <PresentationFormat>On-screen Show (4:3)</PresentationFormat>
  <Paragraphs>117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Symbol</vt:lpstr>
      <vt:lpstr>Office Theme</vt:lpstr>
      <vt:lpstr>Projectile Motion  – Sep 29 (Kinematics Day 13)</vt:lpstr>
      <vt:lpstr>New Unit Schedule Update</vt:lpstr>
      <vt:lpstr>Horizontal Launch</vt:lpstr>
      <vt:lpstr>Angled Launch</vt:lpstr>
      <vt:lpstr>Angled Launch</vt:lpstr>
      <vt:lpstr>Angled Launch 2</vt:lpstr>
      <vt:lpstr>Angled Launch 2  (Solution Slide 1)</vt:lpstr>
      <vt:lpstr>Angled Launch 2  (Solution Slide 2)</vt:lpstr>
      <vt:lpstr>Angled Launch 2  (Solution Slide 3)</vt:lpstr>
      <vt:lpstr>Angled Launch 2  (Solution Slide 4)</vt:lpstr>
      <vt:lpstr>Angled Launch 2  (Solution Slide 5)</vt:lpstr>
      <vt:lpstr>Angled Launch 2  (Solution Slide 6)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Day – Sep 06</dc:title>
  <dc:creator>Greg</dc:creator>
  <cp:lastModifiedBy>Nestor, Gregory</cp:lastModifiedBy>
  <cp:revision>87</cp:revision>
  <cp:lastPrinted>2016-09-29T19:09:33Z</cp:lastPrinted>
  <dcterms:created xsi:type="dcterms:W3CDTF">2006-08-16T00:00:00Z</dcterms:created>
  <dcterms:modified xsi:type="dcterms:W3CDTF">2016-09-29T19:09:37Z</dcterms:modified>
</cp:coreProperties>
</file>