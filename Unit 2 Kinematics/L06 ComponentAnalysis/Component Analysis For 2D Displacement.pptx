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80" r:id="rId4"/>
    <p:sldId id="281" r:id="rId5"/>
    <p:sldId id="282" r:id="rId6"/>
    <p:sldId id="278" r:id="rId7"/>
    <p:sldId id="283" r:id="rId8"/>
    <p:sldId id="28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0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9F686F-6C5A-404E-9714-51BF260323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39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EABC7A-5E6D-483D-8DFB-FA93768D0C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6260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A79FBB-C00D-4D4B-A986-B3B74B62D8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214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0614FD-433B-4139-BC53-23548601F3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82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EEA45-4ECB-451D-A78A-6FBAC5899B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605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4DD6DE-C6E0-41C3-A8F2-86013C8083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777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1D8EE2-7B14-474C-A0CE-9297813C5C6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62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82DE0-8248-4ED6-9E52-D4042FFE6B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946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0A2290-6884-4EB6-B12B-09A1268EAF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516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4360B-6990-4E13-A604-1803728904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506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591654-DF94-46BF-BB88-570F934B73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742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DB5284E0-9AAC-4A54-B38B-F325614C1DF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368300" y="296863"/>
            <a:ext cx="87757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CA" altLang="en-US" sz="3600" dirty="0" smtClean="0">
                <a:solidFill>
                  <a:schemeClr val="accent2"/>
                </a:solidFill>
              </a:rPr>
              <a:t>Using Components 2D Vector Analysis</a:t>
            </a: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415925" y="1092200"/>
            <a:ext cx="8396288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 sz="3200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3200" dirty="0">
                <a:solidFill>
                  <a:schemeClr val="accent2"/>
                </a:solidFill>
              </a:rPr>
              <a:t> The Components of a Vector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3200" dirty="0">
                <a:solidFill>
                  <a:schemeClr val="accent2"/>
                </a:solidFill>
              </a:rPr>
              <a:t> Adding and Subtracting </a:t>
            </a:r>
            <a:r>
              <a:rPr lang="en-US" altLang="en-US" sz="3200" dirty="0" smtClean="0">
                <a:solidFill>
                  <a:schemeClr val="accent2"/>
                </a:solidFill>
              </a:rPr>
              <a:t>Vectors using components</a:t>
            </a:r>
            <a:endParaRPr lang="en-US" altLang="en-US" sz="3200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</a:pPr>
            <a:endParaRPr lang="en-US" altLang="en-US" sz="32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68300" y="296863"/>
            <a:ext cx="84312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600" dirty="0" smtClean="0">
                <a:solidFill>
                  <a:schemeClr val="accent2"/>
                </a:solidFill>
              </a:rPr>
              <a:t>The </a:t>
            </a:r>
            <a:r>
              <a:rPr lang="en-US" altLang="en-US" sz="3600" dirty="0">
                <a:solidFill>
                  <a:schemeClr val="accent2"/>
                </a:solidFill>
              </a:rPr>
              <a:t>Components of a Vector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450850" y="1081088"/>
            <a:ext cx="78978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Consider the diagram below: The library is 4.2 km [NW] of your location.  How will you get there?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50" y="2466083"/>
            <a:ext cx="4400550" cy="4133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4838651" y="2348060"/>
            <a:ext cx="3663315" cy="3952875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15302" y="2778948"/>
            <a:ext cx="36633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Walk 3.0 km [W] and then 3.0 km [N].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368300" y="296863"/>
            <a:ext cx="84312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600" dirty="0" err="1" smtClean="0">
                <a:solidFill>
                  <a:schemeClr val="accent2"/>
                </a:solidFill>
              </a:rPr>
              <a:t>Cartesion</a:t>
            </a:r>
            <a:r>
              <a:rPr lang="en-US" altLang="en-US" sz="3600" dirty="0" smtClean="0">
                <a:solidFill>
                  <a:schemeClr val="accent2"/>
                </a:solidFill>
              </a:rPr>
              <a:t> Components:</a:t>
            </a:r>
            <a:endParaRPr lang="en-US" altLang="en-US" sz="3600" dirty="0">
              <a:solidFill>
                <a:schemeClr val="accent2"/>
              </a:solidFill>
            </a:endParaRP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642938" y="4910374"/>
            <a:ext cx="8026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We can ____________ or _____________ any vector in a 2D plane into _______________ in each unit vector direction: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32647" y="4966963"/>
            <a:ext cx="3663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resolve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36198" y="4790659"/>
            <a:ext cx="3663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b</a:t>
            </a:r>
            <a:r>
              <a:rPr lang="en-CA" dirty="0" smtClean="0">
                <a:solidFill>
                  <a:srgbClr val="FF0000"/>
                </a:solidFill>
              </a:rPr>
              <a:t>reak down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94300" y="5313879"/>
            <a:ext cx="3663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components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68300" y="728019"/>
            <a:ext cx="8026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In a 2D plane, we can define a co-ordinate system made up of 2 orthogonal (________________) unit vectors: 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055" y="1504355"/>
            <a:ext cx="3663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perpendicular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184" y="2067399"/>
            <a:ext cx="2402205" cy="26491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0685" y="2459930"/>
            <a:ext cx="36633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 smtClean="0">
                <a:solidFill>
                  <a:srgbClr val="FF0000"/>
                </a:solidFill>
              </a:rPr>
              <a:t>Unit vector-</a:t>
            </a:r>
          </a:p>
          <a:p>
            <a:r>
              <a:rPr lang="en-CA" dirty="0" smtClean="0">
                <a:solidFill>
                  <a:srgbClr val="FF0000"/>
                </a:solidFill>
              </a:rPr>
              <a:t> Means they are 1 unit long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89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" y="2792967"/>
            <a:ext cx="4902038" cy="3905013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57175" y="109097"/>
            <a:ext cx="87528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Position vector </a:t>
            </a:r>
            <a:r>
              <a:rPr lang="en-US" altLang="en-US" dirty="0" err="1" smtClean="0">
                <a:solidFill>
                  <a:schemeClr val="accent2"/>
                </a:solidFill>
              </a:rPr>
              <a:t>Vector</a:t>
            </a:r>
            <a:r>
              <a:rPr lang="en-US" altLang="en-US" dirty="0" smtClean="0">
                <a:solidFill>
                  <a:schemeClr val="accent2"/>
                </a:solidFill>
              </a:rPr>
              <a:t> A can be written two ways:  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1392"/>
            <a:ext cx="2228850" cy="2343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3633165" y="769790"/>
            <a:ext cx="5095090" cy="1748230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59213" y="3396371"/>
            <a:ext cx="42722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Method 1:</a:t>
            </a:r>
          </a:p>
          <a:p>
            <a:r>
              <a:rPr lang="en-CA" dirty="0">
                <a:solidFill>
                  <a:srgbClr val="FF0000"/>
                </a:solidFill>
              </a:rPr>
              <a:t> </a:t>
            </a:r>
            <a:r>
              <a:rPr lang="en-CA" dirty="0" smtClean="0">
                <a:solidFill>
                  <a:srgbClr val="FF0000"/>
                </a:solidFill>
              </a:rPr>
              <a:t>magnitude [angle] </a:t>
            </a:r>
          </a:p>
          <a:p>
            <a:endParaRPr lang="en-CA" dirty="0" smtClean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022868" y="3228879"/>
            <a:ext cx="3946320" cy="3010555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3751730" y="984081"/>
                <a:ext cx="4572000" cy="136216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CA" dirty="0" smtClean="0">
                    <a:solidFill>
                      <a:srgbClr val="FF0000"/>
                    </a:solidFill>
                  </a:rPr>
                  <a:t>Method 2:</a:t>
                </a:r>
              </a:p>
              <a:p>
                <a:r>
                  <a:rPr lang="en-CA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lang="en-CA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CA" sz="4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4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endParaRPr lang="en-US" sz="4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1730" y="984081"/>
                <a:ext cx="4572000" cy="1362168"/>
              </a:xfrm>
              <a:prstGeom prst="rect">
                <a:avLst/>
              </a:prstGeom>
              <a:blipFill rotWithShape="0">
                <a:blip r:embed="rId4"/>
                <a:stretch>
                  <a:fillRect l="-2667" t="-4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290277" y="4845788"/>
                <a:ext cx="3831498" cy="576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CA" dirty="0">
                    <a:solidFill>
                      <a:srgbClr val="FF0000"/>
                    </a:solidFill>
                  </a:rPr>
                  <a:t> = 5.0 km [ E 30 </a:t>
                </a:r>
                <a:r>
                  <a:rPr lang="en-CA" baseline="30000" dirty="0">
                    <a:solidFill>
                      <a:srgbClr val="FF0000"/>
                    </a:solidFill>
                  </a:rPr>
                  <a:t>o</a:t>
                </a:r>
                <a:r>
                  <a:rPr lang="en-CA" dirty="0">
                    <a:solidFill>
                      <a:srgbClr val="FF0000"/>
                    </a:solidFill>
                  </a:rPr>
                  <a:t> N] 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277" y="4845788"/>
                <a:ext cx="3831498" cy="576761"/>
              </a:xfrm>
              <a:prstGeom prst="rect">
                <a:avLst/>
              </a:prstGeom>
              <a:blipFill rotWithShape="0">
                <a:blip r:embed="rId5"/>
                <a:stretch>
                  <a:fillRect t="-3158" r="-2389" b="-2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11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7" y="3193643"/>
            <a:ext cx="4599938" cy="3664357"/>
          </a:xfrm>
          <a:prstGeom prst="rect">
            <a:avLst/>
          </a:prstGeom>
        </p:spPr>
      </p:pic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91160" y="86617"/>
            <a:ext cx="80264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We can find the values of Ax and Ay using Trig!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5" y="1805823"/>
            <a:ext cx="2228850" cy="2343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2751455" y="699135"/>
            <a:ext cx="5889625" cy="2061184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71720" y="3372837"/>
            <a:ext cx="42722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Ax = A cos</a:t>
            </a:r>
            <a:r>
              <a:rPr lang="en-CA" dirty="0" smtClean="0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</a:p>
          <a:p>
            <a:r>
              <a:rPr lang="en-CA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CA" dirty="0" smtClean="0">
                <a:solidFill>
                  <a:srgbClr val="FF0000"/>
                </a:solidFill>
                <a:sym typeface="Symbol" panose="05050102010706020507" pitchFamily="18" charset="2"/>
              </a:rPr>
              <a:t>      = 5.0 cos 30</a:t>
            </a:r>
          </a:p>
          <a:p>
            <a:r>
              <a:rPr lang="en-CA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CA" dirty="0" smtClean="0">
                <a:solidFill>
                  <a:srgbClr val="FF0000"/>
                </a:solidFill>
                <a:sym typeface="Symbol" panose="05050102010706020507" pitchFamily="18" charset="2"/>
              </a:rPr>
              <a:t>      =4.33 km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964496" y="627834"/>
                <a:ext cx="4572000" cy="93128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sz="4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96" y="627834"/>
                <a:ext cx="4572000" cy="93128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042454" y="5059091"/>
            <a:ext cx="42722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Ay = A sin</a:t>
            </a:r>
            <a:r>
              <a:rPr lang="en-CA" dirty="0" smtClean="0">
                <a:solidFill>
                  <a:srgbClr val="FF0000"/>
                </a:solidFill>
                <a:sym typeface="Symbol" panose="05050102010706020507" pitchFamily="18" charset="2"/>
              </a:rPr>
              <a:t></a:t>
            </a:r>
          </a:p>
          <a:p>
            <a:r>
              <a:rPr lang="en-CA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CA" dirty="0" smtClean="0">
                <a:solidFill>
                  <a:srgbClr val="FF0000"/>
                </a:solidFill>
                <a:sym typeface="Symbol" panose="05050102010706020507" pitchFamily="18" charset="2"/>
              </a:rPr>
              <a:t>      = 5.0 sin 30</a:t>
            </a:r>
          </a:p>
          <a:p>
            <a:r>
              <a:rPr lang="en-CA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CA" dirty="0" smtClean="0">
                <a:solidFill>
                  <a:srgbClr val="FF0000"/>
                </a:solidFill>
                <a:sym typeface="Symbol" panose="05050102010706020507" pitchFamily="18" charset="2"/>
              </a:rPr>
              <a:t>     =2.5 km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4871720" y="3071578"/>
            <a:ext cx="4004310" cy="3353098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964496" y="1302943"/>
                <a:ext cx="5453063" cy="8535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𝟑𝟑</m:t>
                      </m:r>
                      <m:acc>
                        <m:accPr>
                          <m:chr m:val="̂"/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acc>
                        <m:accPr>
                          <m:chr m:val="̂"/>
                          <m:ctrlP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en-US" sz="4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496" y="1302943"/>
                <a:ext cx="5453063" cy="85356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500632" y="1906752"/>
                <a:ext cx="6375398" cy="8544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sz="4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acc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𝟑𝟑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]+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CA" sz="4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CA" sz="4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4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632" y="1906752"/>
                <a:ext cx="6375398" cy="85440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482090" y="996160"/>
            <a:ext cx="20344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smtClean="0">
                <a:solidFill>
                  <a:srgbClr val="FF0000"/>
                </a:solidFill>
              </a:rPr>
              <a:t>Let E= +x</a:t>
            </a:r>
          </a:p>
          <a:p>
            <a:r>
              <a:rPr lang="en-CA" dirty="0" smtClean="0">
                <a:solidFill>
                  <a:srgbClr val="FF0000"/>
                </a:solidFill>
              </a:rPr>
              <a:t>Let N= +y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54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7" y="1435819"/>
            <a:ext cx="3667125" cy="4333875"/>
          </a:xfrm>
          <a:prstGeom prst="rect">
            <a:avLst/>
          </a:prstGeom>
        </p:spPr>
      </p:pic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68300" y="32884"/>
            <a:ext cx="84312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600" dirty="0" smtClean="0">
                <a:solidFill>
                  <a:schemeClr val="accent2"/>
                </a:solidFill>
              </a:rPr>
              <a:t>The </a:t>
            </a:r>
            <a:r>
              <a:rPr lang="en-US" altLang="en-US" sz="3600" dirty="0">
                <a:solidFill>
                  <a:schemeClr val="accent2"/>
                </a:solidFill>
              </a:rPr>
              <a:t>Components of a Vector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508000" y="648890"/>
            <a:ext cx="78978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Back to the library displacement!  We can represent the displacement using components!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3766792" y="2033885"/>
            <a:ext cx="5114319" cy="3952875"/>
          </a:xfrm>
          <a:prstGeom prst="rect">
            <a:avLst/>
          </a:prstGeom>
          <a:noFill/>
          <a:ln w="952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909208" y="3518338"/>
                <a:ext cx="4908551" cy="587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acc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𝒌𝒎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𝒌𝒎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208" y="3518338"/>
                <a:ext cx="4908551" cy="58727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326087" y="2138901"/>
            <a:ext cx="4074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dirty="0">
                <a:solidFill>
                  <a:srgbClr val="FF0000"/>
                </a:solidFill>
              </a:rPr>
              <a:t>Let </a:t>
            </a:r>
            <a:r>
              <a:rPr lang="en-CA" sz="3600" dirty="0" smtClean="0">
                <a:solidFill>
                  <a:srgbClr val="FF0000"/>
                </a:solidFill>
              </a:rPr>
              <a:t>West </a:t>
            </a:r>
            <a:r>
              <a:rPr lang="en-CA" sz="3600" dirty="0">
                <a:solidFill>
                  <a:srgbClr val="FF0000"/>
                </a:solidFill>
              </a:rPr>
              <a:t>be </a:t>
            </a:r>
            <a:r>
              <a:rPr lang="en-CA" sz="3600" dirty="0" smtClean="0">
                <a:solidFill>
                  <a:srgbClr val="FF0000"/>
                </a:solidFill>
              </a:rPr>
              <a:t>+x</a:t>
            </a:r>
            <a:endParaRPr lang="en-US" sz="3600" dirty="0">
              <a:solidFill>
                <a:srgbClr val="FF0000"/>
              </a:solidFill>
            </a:endParaRPr>
          </a:p>
          <a:p>
            <a:r>
              <a:rPr lang="en-CA" sz="3600" dirty="0" smtClean="0">
                <a:solidFill>
                  <a:srgbClr val="FF0000"/>
                </a:solidFill>
                <a:latin typeface="+mn-lt"/>
              </a:rPr>
              <a:t>Let North be +y</a:t>
            </a:r>
            <a:endParaRPr lang="en-US" sz="3600" dirty="0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766792" y="4458397"/>
                <a:ext cx="5298141" cy="587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acc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𝒌𝒎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𝒌𝒎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CA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792" y="4458397"/>
                <a:ext cx="5298141" cy="58779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18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62457" y="547555"/>
            <a:ext cx="78978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Adding vectors using components!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241924" y="416859"/>
            <a:ext cx="8727141" cy="6266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796472" y="1395825"/>
                <a:ext cx="4701352" cy="6363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e>
                    </m:acc>
                    <m:r>
                      <a:rPr lang="en-CA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3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3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CA" sz="3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3600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3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acc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72" y="1395825"/>
                <a:ext cx="4701352" cy="636393"/>
              </a:xfrm>
              <a:prstGeom prst="rect">
                <a:avLst/>
              </a:prstGeom>
              <a:blipFill rotWithShape="0">
                <a:blip r:embed="rId2"/>
                <a:stretch>
                  <a:fillRect l="-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793377" y="2241927"/>
            <a:ext cx="835062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Find the x and y components for each vector: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19014" y="4696173"/>
                <a:ext cx="568238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CA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CA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CA" sz="36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014" y="4696173"/>
                <a:ext cx="5682389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403423" y="5585224"/>
                <a:ext cx="5690404" cy="604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𝑹𝒚</m:t>
                          </m:r>
                        </m:sub>
                      </m:sSub>
                      <m:r>
                        <a:rPr lang="en-CA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CA" sz="3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CA" sz="36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CA" sz="36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n-CA" sz="36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423" y="5585224"/>
                <a:ext cx="5690404" cy="60478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3"/>
          <p:cNvSpPr txBox="1">
            <a:spLocks noChangeArrowheads="1"/>
          </p:cNvSpPr>
          <p:nvPr/>
        </p:nvSpPr>
        <p:spPr bwMode="auto">
          <a:xfrm>
            <a:off x="235262" y="3852020"/>
            <a:ext cx="890873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600" dirty="0" smtClean="0">
                <a:solidFill>
                  <a:schemeClr val="accent2"/>
                </a:solidFill>
              </a:rPr>
              <a:t>Add up all of the x and y components: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922032" y="3079712"/>
                <a:ext cx="4653185" cy="6047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600" dirty="0" smtClean="0">
                    <a:solidFill>
                      <a:srgbClr val="FF0000"/>
                    </a:solidFill>
                  </a:rPr>
                  <a:t>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CA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CA" sz="3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CA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</m:sSub>
                    <m:r>
                      <a:rPr lang="en-CA" sz="3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CA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CA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CA" sz="3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US" sz="3600" dirty="0" smtClean="0"/>
                  <a:t>  </a:t>
                </a:r>
                <a:r>
                  <a:rPr lang="en-US" sz="3600" dirty="0" smtClean="0">
                    <a:solidFill>
                      <a:srgbClr val="FF0000"/>
                    </a:solidFill>
                  </a:rPr>
                  <a:t>etc.</a:t>
                </a:r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2032" y="3079712"/>
                <a:ext cx="4653185" cy="604781"/>
              </a:xfrm>
              <a:prstGeom prst="rect">
                <a:avLst/>
              </a:prstGeom>
              <a:blipFill rotWithShape="0">
                <a:blip r:embed="rId5"/>
                <a:stretch>
                  <a:fillRect l="-3141" t="-24242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76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16" y="2340893"/>
            <a:ext cx="2838345" cy="26420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auto">
          <a:xfrm>
            <a:off x="241924" y="416859"/>
            <a:ext cx="8727141" cy="6266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83100" y="675877"/>
            <a:ext cx="789781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solidFill>
                  <a:schemeClr val="accent2"/>
                </a:solidFill>
              </a:rPr>
              <a:t>Sketch the total x and y components and use Pythagorean Theorem &amp; SOHCAHTOA to write in magnitude angle form.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532031" y="2707708"/>
                <a:ext cx="4983352" cy="6708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CA" sz="3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CA" sz="3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  <m:r>
                      <a:rPr lang="en-CA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CA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3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CA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𝑹𝒙</m:t>
                            </m:r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CA" sz="3600" b="1" i="1" baseline="30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US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CA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CA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CA" sz="36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CA" sz="3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CA" sz="3600" i="1" baseline="30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CA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 smtClean="0"/>
                  <a:t> </a:t>
                </a:r>
                <a:endParaRPr lang="en-US" sz="3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031" y="2707708"/>
                <a:ext cx="4983352" cy="67088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882896" y="3863136"/>
                <a:ext cx="3298891" cy="1167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CA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CA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CA" sz="36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CA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en-CA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CA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CA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CA" sz="3600" b="1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CA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CA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CA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𝑹𝒙</m:t>
                                  </m:r>
                                  <m:r>
                                    <a:rPr lang="en-CA" sz="36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2896" y="3863136"/>
                <a:ext cx="3298891" cy="116775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64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269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Cambria Math</vt:lpstr>
      <vt:lpstr>Symbol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NIU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Sue Willis</dc:creator>
  <cp:lastModifiedBy>Ryan, Linda</cp:lastModifiedBy>
  <cp:revision>22</cp:revision>
  <dcterms:created xsi:type="dcterms:W3CDTF">2005-03-20T15:36:52Z</dcterms:created>
  <dcterms:modified xsi:type="dcterms:W3CDTF">2019-02-23T00:03:54Z</dcterms:modified>
</cp:coreProperties>
</file>