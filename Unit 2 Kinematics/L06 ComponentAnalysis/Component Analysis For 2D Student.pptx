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80" r:id="rId4"/>
    <p:sldId id="281" r:id="rId5"/>
    <p:sldId id="282" r:id="rId6"/>
    <p:sldId id="278" r:id="rId7"/>
    <p:sldId id="283" r:id="rId8"/>
    <p:sldId id="284" r:id="rId9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3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9F686F-6C5A-404E-9714-51BF260323A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2399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EABC7A-5E6D-483D-8DFB-FA93768D0C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6260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A79FBB-C00D-4D4B-A986-B3B74B62D8B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2146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0614FD-433B-4139-BC53-23548601F3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3824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DEEA45-4ECB-451D-A78A-6FBAC5899B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6054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4DD6DE-C6E0-41C3-A8F2-86013C8083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777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1D8EE2-7B14-474C-A0CE-9297813C5C6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62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82DE0-8248-4ED6-9E52-D4042FFE6B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946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0A2290-6884-4EB6-B12B-09A1268EAF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4516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64360B-6990-4E13-A604-1803728904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5063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591654-DF94-46BF-BB88-570F934B73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7427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fld id="{DB5284E0-9AAC-4A54-B38B-F325614C1DF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368300" y="296863"/>
            <a:ext cx="87757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CA" altLang="en-US" sz="3600" dirty="0" smtClean="0">
                <a:solidFill>
                  <a:schemeClr val="accent2"/>
                </a:solidFill>
              </a:rPr>
              <a:t>Using Components 2D Vector Analysis</a:t>
            </a:r>
            <a:endParaRPr lang="en-US" altLang="en-US" sz="3600" dirty="0">
              <a:solidFill>
                <a:schemeClr val="accent2"/>
              </a:solidFill>
            </a:endParaRP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415925" y="1092200"/>
            <a:ext cx="8396288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 sz="3200" dirty="0">
              <a:solidFill>
                <a:schemeClr val="accent2"/>
              </a:solidFill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3200" dirty="0">
                <a:solidFill>
                  <a:schemeClr val="accent2"/>
                </a:solidFill>
              </a:rPr>
              <a:t> The Components of a Vector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3200" dirty="0">
                <a:solidFill>
                  <a:schemeClr val="accent2"/>
                </a:solidFill>
              </a:rPr>
              <a:t> Adding and Subtracting </a:t>
            </a:r>
            <a:r>
              <a:rPr lang="en-US" altLang="en-US" sz="3200" dirty="0" smtClean="0">
                <a:solidFill>
                  <a:schemeClr val="accent2"/>
                </a:solidFill>
              </a:rPr>
              <a:t>Vectors using components</a:t>
            </a:r>
            <a:endParaRPr lang="en-US" altLang="en-US" sz="3200" dirty="0">
              <a:solidFill>
                <a:schemeClr val="accent2"/>
              </a:solidFill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altLang="en-US" sz="32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368300" y="296863"/>
            <a:ext cx="84312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600" dirty="0" smtClean="0">
                <a:solidFill>
                  <a:schemeClr val="accent2"/>
                </a:solidFill>
              </a:rPr>
              <a:t>The </a:t>
            </a:r>
            <a:r>
              <a:rPr lang="en-US" altLang="en-US" sz="3600" dirty="0">
                <a:solidFill>
                  <a:schemeClr val="accent2"/>
                </a:solidFill>
              </a:rPr>
              <a:t>Components of a Vector</a:t>
            </a:r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450850" y="1081088"/>
            <a:ext cx="789781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 smtClean="0">
                <a:solidFill>
                  <a:schemeClr val="accent2"/>
                </a:solidFill>
              </a:rPr>
              <a:t>Consider the diagram below: The library is 4.2 km [NW] of your location.  How will you get there?</a:t>
            </a:r>
            <a:endParaRPr lang="en-US" altLang="en-US" dirty="0">
              <a:solidFill>
                <a:schemeClr val="accent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" y="2322195"/>
            <a:ext cx="4400550" cy="4133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 bwMode="auto">
          <a:xfrm>
            <a:off x="5217795" y="2322195"/>
            <a:ext cx="3663315" cy="3952875"/>
          </a:xfrm>
          <a:prstGeom prst="rect">
            <a:avLst/>
          </a:prstGeom>
          <a:noFill/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368300" y="296863"/>
            <a:ext cx="84312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600" dirty="0" err="1" smtClean="0">
                <a:solidFill>
                  <a:schemeClr val="accent2"/>
                </a:solidFill>
              </a:rPr>
              <a:t>Cartesion</a:t>
            </a:r>
            <a:r>
              <a:rPr lang="en-US" altLang="en-US" sz="3600" dirty="0" smtClean="0">
                <a:solidFill>
                  <a:schemeClr val="accent2"/>
                </a:solidFill>
              </a:rPr>
              <a:t> Components:</a:t>
            </a:r>
            <a:endParaRPr lang="en-US" altLang="en-US" sz="3600" dirty="0">
              <a:solidFill>
                <a:schemeClr val="accent2"/>
              </a:solidFill>
            </a:endParaRP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642938" y="4910374"/>
            <a:ext cx="80264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 smtClean="0">
                <a:solidFill>
                  <a:schemeClr val="accent2"/>
                </a:solidFill>
              </a:rPr>
              <a:t>We can ____________ or _____________ any vector in a 2D plane into _______________ in each unit vector direction:</a:t>
            </a:r>
            <a:endParaRPr lang="en-US" altLang="en-US" dirty="0">
              <a:solidFill>
                <a:schemeClr val="accent2"/>
              </a:solidFill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368300" y="728019"/>
            <a:ext cx="80264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 smtClean="0">
                <a:solidFill>
                  <a:schemeClr val="accent2"/>
                </a:solidFill>
              </a:rPr>
              <a:t>In a 2D plane, we can define a co-ordinate system made up of 2 orthogonal (________________) unit vectors: </a:t>
            </a:r>
            <a:endParaRPr lang="en-US" altLang="en-US" dirty="0">
              <a:solidFill>
                <a:schemeClr val="accent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184" y="2067399"/>
            <a:ext cx="2402205" cy="264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892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2792967"/>
            <a:ext cx="4902038" cy="3905013"/>
          </a:xfrm>
          <a:prstGeom prst="rect">
            <a:avLst/>
          </a:prstGeom>
        </p:spPr>
      </p:pic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91160" y="86617"/>
            <a:ext cx="80264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 smtClean="0">
                <a:solidFill>
                  <a:schemeClr val="accent2"/>
                </a:solidFill>
              </a:rPr>
              <a:t>Position vector </a:t>
            </a:r>
            <a:r>
              <a:rPr lang="en-US" altLang="en-US" dirty="0" err="1" smtClean="0">
                <a:solidFill>
                  <a:schemeClr val="accent2"/>
                </a:solidFill>
              </a:rPr>
              <a:t>Vector</a:t>
            </a:r>
            <a:r>
              <a:rPr lang="en-US" altLang="en-US" dirty="0" smtClean="0">
                <a:solidFill>
                  <a:schemeClr val="accent2"/>
                </a:solidFill>
              </a:rPr>
              <a:t> A can be written two ways:  </a:t>
            </a:r>
            <a:endParaRPr lang="en-US" altLang="en-US" dirty="0">
              <a:solidFill>
                <a:schemeClr val="accent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1392"/>
            <a:ext cx="2228850" cy="23431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 bwMode="auto">
          <a:xfrm>
            <a:off x="3636882" y="719399"/>
            <a:ext cx="5095090" cy="1748230"/>
          </a:xfrm>
          <a:prstGeom prst="rect">
            <a:avLst/>
          </a:prstGeom>
          <a:noFill/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250497" y="3210517"/>
            <a:ext cx="3705387" cy="2366010"/>
          </a:xfrm>
          <a:prstGeom prst="rect">
            <a:avLst/>
          </a:prstGeom>
          <a:noFill/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116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7" y="3193643"/>
            <a:ext cx="4599938" cy="3664357"/>
          </a:xfrm>
          <a:prstGeom prst="rect">
            <a:avLst/>
          </a:prstGeom>
        </p:spPr>
      </p:pic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91160" y="86617"/>
            <a:ext cx="80264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 smtClean="0">
                <a:solidFill>
                  <a:schemeClr val="accent2"/>
                </a:solidFill>
              </a:rPr>
              <a:t>We can find the values of Ax and Ay using Trig!</a:t>
            </a:r>
            <a:endParaRPr lang="en-US" altLang="en-US" dirty="0">
              <a:solidFill>
                <a:schemeClr val="accent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5" y="1805823"/>
            <a:ext cx="2228850" cy="23431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 bwMode="auto">
          <a:xfrm>
            <a:off x="2751455" y="699135"/>
            <a:ext cx="5889625" cy="2061184"/>
          </a:xfrm>
          <a:prstGeom prst="rect">
            <a:avLst/>
          </a:prstGeom>
          <a:noFill/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964496" y="627834"/>
                <a:ext cx="4572000" cy="93128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  <m:r>
                        <a:rPr lang="en-CA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CA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en-US" sz="4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496" y="627834"/>
                <a:ext cx="4572000" cy="93128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 bwMode="auto">
          <a:xfrm>
            <a:off x="4871720" y="3071578"/>
            <a:ext cx="4004310" cy="3353098"/>
          </a:xfrm>
          <a:prstGeom prst="rect">
            <a:avLst/>
          </a:prstGeom>
          <a:noFill/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549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7" y="1435819"/>
            <a:ext cx="3667125" cy="4333875"/>
          </a:xfrm>
          <a:prstGeom prst="rect">
            <a:avLst/>
          </a:prstGeom>
        </p:spPr>
      </p:pic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368300" y="32884"/>
            <a:ext cx="84312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600" dirty="0" smtClean="0">
                <a:solidFill>
                  <a:schemeClr val="accent2"/>
                </a:solidFill>
              </a:rPr>
              <a:t>The </a:t>
            </a:r>
            <a:r>
              <a:rPr lang="en-US" altLang="en-US" sz="3600" dirty="0">
                <a:solidFill>
                  <a:schemeClr val="accent2"/>
                </a:solidFill>
              </a:rPr>
              <a:t>Components of a Vector</a:t>
            </a:r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508000" y="648890"/>
            <a:ext cx="789781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 smtClean="0">
                <a:solidFill>
                  <a:schemeClr val="accent2"/>
                </a:solidFill>
              </a:rPr>
              <a:t>Back to the library displacement!  We can represent the displacement using components!</a:t>
            </a:r>
            <a:endParaRPr lang="en-US" altLang="en-US" dirty="0">
              <a:solidFill>
                <a:schemeClr val="accent2"/>
              </a:solidFill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766792" y="2033885"/>
            <a:ext cx="5114319" cy="3952875"/>
          </a:xfrm>
          <a:prstGeom prst="rect">
            <a:avLst/>
          </a:prstGeom>
          <a:noFill/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186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562457" y="547555"/>
            <a:ext cx="78978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 smtClean="0">
                <a:solidFill>
                  <a:schemeClr val="accent2"/>
                </a:solidFill>
              </a:rPr>
              <a:t>Adding vectors using components!</a:t>
            </a:r>
            <a:endParaRPr lang="en-US" altLang="en-US" dirty="0">
              <a:solidFill>
                <a:schemeClr val="accent2"/>
              </a:solidFill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241924" y="416859"/>
            <a:ext cx="8727141" cy="6266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793377" y="2241927"/>
            <a:ext cx="835062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 smtClean="0">
                <a:solidFill>
                  <a:schemeClr val="accent2"/>
                </a:solidFill>
              </a:rPr>
              <a:t>Find the x and y components for each vector</a:t>
            </a:r>
            <a:r>
              <a:rPr lang="en-US" altLang="en-US" dirty="0" smtClean="0">
                <a:solidFill>
                  <a:schemeClr val="accent2"/>
                </a:solidFill>
              </a:rPr>
              <a:t>:</a:t>
            </a:r>
            <a:endParaRPr lang="en-US" altLang="en-US" dirty="0" smtClean="0">
              <a:solidFill>
                <a:schemeClr val="accent2"/>
              </a:solidFill>
            </a:endParaRPr>
          </a:p>
        </p:txBody>
      </p:sp>
      <p:sp>
        <p:nvSpPr>
          <p:cNvPr id="27" name="Text Box 3"/>
          <p:cNvSpPr txBox="1">
            <a:spLocks noChangeArrowheads="1"/>
          </p:cNvSpPr>
          <p:nvPr/>
        </p:nvSpPr>
        <p:spPr bwMode="auto">
          <a:xfrm>
            <a:off x="235262" y="3852020"/>
            <a:ext cx="890873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600" dirty="0" smtClean="0">
                <a:solidFill>
                  <a:schemeClr val="accent2"/>
                </a:solidFill>
              </a:rPr>
              <a:t>Add up all of the x and y components</a:t>
            </a:r>
            <a:r>
              <a:rPr lang="en-US" altLang="en-US" sz="3600" dirty="0" smtClean="0">
                <a:solidFill>
                  <a:schemeClr val="accent2"/>
                </a:solidFill>
              </a:rPr>
              <a:t>:</a:t>
            </a:r>
            <a:endParaRPr lang="en-US" altLang="en-US" sz="3600" dirty="0" smtClean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765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00" y="2319890"/>
            <a:ext cx="3610310" cy="3360660"/>
          </a:xfrm>
          <a:prstGeom prst="rect">
            <a:avLst/>
          </a:prstGeom>
        </p:spPr>
      </p:pic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483100" y="675877"/>
            <a:ext cx="789781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 smtClean="0">
                <a:solidFill>
                  <a:schemeClr val="accent2"/>
                </a:solidFill>
              </a:rPr>
              <a:t>Sketch the total x and y components and use Pythagorean Theorem &amp; SOHCAHTOA to write in magnitude angle form. 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4227010" y="2319890"/>
            <a:ext cx="4546525" cy="3952875"/>
          </a:xfrm>
          <a:prstGeom prst="rect">
            <a:avLst/>
          </a:prstGeom>
          <a:noFill/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642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</TotalTime>
  <Words>174</Words>
  <Application>Microsoft Office PowerPoint</Application>
  <PresentationFormat>On-screen Show (4:3)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Cambria Math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NIU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Sue Willis</dc:creator>
  <cp:lastModifiedBy>Ryan, Linda</cp:lastModifiedBy>
  <cp:revision>20</cp:revision>
  <cp:lastPrinted>2019-02-22T23:50:49Z</cp:lastPrinted>
  <dcterms:created xsi:type="dcterms:W3CDTF">2005-03-20T15:36:52Z</dcterms:created>
  <dcterms:modified xsi:type="dcterms:W3CDTF">2019-02-22T23:50:51Z</dcterms:modified>
</cp:coreProperties>
</file>