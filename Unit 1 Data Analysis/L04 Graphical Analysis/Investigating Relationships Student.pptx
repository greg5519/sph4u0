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0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0100" y="357166"/>
            <a:ext cx="7029472" cy="885830"/>
          </a:xfrm>
        </p:spPr>
        <p:txBody>
          <a:bodyPr/>
          <a:lstStyle/>
          <a:p>
            <a:r>
              <a:rPr lang="en-CA" dirty="0" smtClean="0"/>
              <a:t>Investigating Relationships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472" y="1285860"/>
            <a:ext cx="7929618" cy="1240231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CA" sz="2400" dirty="0" smtClean="0">
                <a:solidFill>
                  <a:srgbClr val="FF0000"/>
                </a:solidFill>
              </a:rPr>
              <a:t>There are 5 common relationships between variables. </a:t>
            </a:r>
          </a:p>
          <a:p>
            <a:pPr marL="514350" indent="-514350"/>
            <a:r>
              <a:rPr lang="en-CA" dirty="0" smtClean="0">
                <a:solidFill>
                  <a:srgbClr val="FF0000"/>
                </a:solidFill>
              </a:rPr>
              <a:t>What does the graph look like?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636912"/>
            <a:ext cx="7830839" cy="211968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04837" y="4494512"/>
            <a:ext cx="8262887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516" y="116632"/>
            <a:ext cx="8712968" cy="720080"/>
          </a:xfrm>
        </p:spPr>
        <p:txBody>
          <a:bodyPr>
            <a:normAutofit fontScale="90000"/>
          </a:bodyPr>
          <a:lstStyle/>
          <a:p>
            <a:r>
              <a:rPr lang="en-CA" sz="3100" b="1" dirty="0" smtClean="0"/>
              <a:t>Steps in determining relationships between variables</a:t>
            </a:r>
            <a:r>
              <a:rPr lang="en-CA" dirty="0" smtClean="0"/>
              <a:t>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CA" dirty="0" smtClean="0"/>
              <a:t>1. Plot the ___________ variable on the x-axis</a:t>
            </a:r>
          </a:p>
          <a:p>
            <a:pPr marL="0" indent="0">
              <a:buNone/>
            </a:pPr>
            <a:r>
              <a:rPr lang="en-CA" dirty="0" smtClean="0"/>
              <a:t>    ( _______________) axis.  Plot the __________) variable on the y-axis (  __________ ) axis. </a:t>
            </a:r>
          </a:p>
          <a:p>
            <a:pPr marL="0" indent="0">
              <a:buNone/>
            </a:pPr>
            <a:r>
              <a:rPr lang="en-CA" dirty="0" smtClean="0"/>
              <a:t>2. We describe the graph as “y versus x”.</a:t>
            </a:r>
          </a:p>
          <a:p>
            <a:pPr marL="0" indent="0">
              <a:buNone/>
            </a:pPr>
            <a:r>
              <a:rPr lang="en-CA" dirty="0" smtClean="0"/>
              <a:t>3. From the shape of the graph guess the general form of the relationship. </a:t>
            </a:r>
          </a:p>
          <a:p>
            <a:pPr marL="0" indent="0">
              <a:buNone/>
            </a:pPr>
            <a:r>
              <a:rPr lang="en-CA" dirty="0" smtClean="0"/>
              <a:t>4. Test your guess by </a:t>
            </a:r>
            <a:r>
              <a:rPr lang="en-CA" dirty="0" err="1" smtClean="0"/>
              <a:t>replotting</a:t>
            </a:r>
            <a:r>
              <a:rPr lang="en-CA" dirty="0" smtClean="0"/>
              <a:t> the graph-this is called ___________ _______________.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-447834" y="5474273"/>
            <a:ext cx="89284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smtClean="0"/>
              <a:t>   </a:t>
            </a:r>
            <a:r>
              <a:rPr lang="en-CA" sz="2800" b="1" i="1" dirty="0" smtClean="0">
                <a:solidFill>
                  <a:srgbClr val="FF0000"/>
                </a:solidFill>
              </a:rPr>
              <a:t>graphical analysis       vertical              dependent        independent         horizontal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528" y="4293096"/>
            <a:ext cx="8928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smtClean="0"/>
              <a:t>   </a:t>
            </a:r>
            <a:endParaRPr lang="en-CA" sz="2800" b="1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12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51520" y="265092"/>
            <a:ext cx="8712968" cy="5396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11200" dirty="0" smtClean="0"/>
              <a:t>5. </a:t>
            </a:r>
            <a:r>
              <a:rPr lang="en-CA" sz="10000" dirty="0" err="1" smtClean="0"/>
              <a:t>Replot</a:t>
            </a:r>
            <a:r>
              <a:rPr lang="en-CA" sz="10000" dirty="0" smtClean="0"/>
              <a:t> the graph by changing the x-axis variable!!!!. </a:t>
            </a:r>
          </a:p>
          <a:p>
            <a:endParaRPr lang="en-CA" sz="10000" dirty="0"/>
          </a:p>
          <a:p>
            <a:pPr marL="0" indent="0">
              <a:buNone/>
            </a:pPr>
            <a:r>
              <a:rPr lang="en-CA" sz="10000" dirty="0" smtClean="0"/>
              <a:t>6. For example, if you think the graph is a POWER relationship (</a:t>
            </a:r>
            <a:r>
              <a:rPr lang="en-CA" sz="10000" dirty="0" err="1" smtClean="0"/>
              <a:t>eg</a:t>
            </a:r>
            <a:r>
              <a:rPr lang="en-CA" sz="10000" dirty="0" smtClean="0"/>
              <a:t>. ________________</a:t>
            </a:r>
            <a:r>
              <a:rPr lang="en-CA" sz="10000" dirty="0" smtClean="0">
                <a:sym typeface="Symbol" panose="05050102010706020507" pitchFamily="18" charset="2"/>
              </a:rPr>
              <a:t>). </a:t>
            </a:r>
          </a:p>
          <a:p>
            <a:pPr marL="0" indent="0">
              <a:buNone/>
            </a:pPr>
            <a:endParaRPr lang="en-CA" sz="10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CA" sz="10000" dirty="0" smtClean="0">
                <a:sym typeface="Symbol" panose="05050102010706020507" pitchFamily="18" charset="2"/>
              </a:rPr>
              <a:t>Test the simplest form of the relationship by plotting a new graph with _____ on the x axis. </a:t>
            </a:r>
          </a:p>
          <a:p>
            <a:pPr marL="0" indent="0">
              <a:buNone/>
            </a:pPr>
            <a:endParaRPr lang="en-CA" sz="10000" dirty="0" smtClean="0"/>
          </a:p>
          <a:p>
            <a:pPr marL="0" indent="0">
              <a:buNone/>
            </a:pPr>
            <a:r>
              <a:rPr lang="en-CA" sz="10000" dirty="0" smtClean="0"/>
              <a:t>7. If your new graph is forms a straight line that is generally through the origin (a __________ graph) you have identified the correct relationship! </a:t>
            </a:r>
          </a:p>
          <a:p>
            <a:pPr marL="0" indent="0">
              <a:buNone/>
            </a:pPr>
            <a:endParaRPr lang="en-CA" sz="10000" dirty="0"/>
          </a:p>
          <a:p>
            <a:pPr marL="0" indent="0">
              <a:buNone/>
            </a:pPr>
            <a:r>
              <a:rPr lang="en-CA" sz="10000" dirty="0" smtClean="0"/>
              <a:t>8.</a:t>
            </a:r>
            <a:r>
              <a:rPr lang="en-CA" sz="10000" dirty="0"/>
              <a:t> Once you have a linear graph, you can find the slope (_____ )of this new graph</a:t>
            </a:r>
            <a:r>
              <a:rPr lang="en-CA" sz="10000" dirty="0" smtClean="0"/>
              <a:t>.</a:t>
            </a:r>
          </a:p>
          <a:p>
            <a:pPr marL="0" indent="0">
              <a:buNone/>
            </a:pPr>
            <a:endParaRPr lang="en-CA" sz="10000" dirty="0"/>
          </a:p>
          <a:p>
            <a:pPr marL="0" indent="0">
              <a:buNone/>
            </a:pPr>
            <a:r>
              <a:rPr lang="en-CA" sz="10000" dirty="0" smtClean="0"/>
              <a:t>9. In this case, the final relationship would be ______.  </a:t>
            </a:r>
            <a:endParaRPr lang="en-CA" sz="10000" dirty="0"/>
          </a:p>
          <a:p>
            <a:pPr marL="0" indent="0">
              <a:buNone/>
            </a:pPr>
            <a:endParaRPr lang="en-CA" sz="10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570952" y="6151473"/>
            <a:ext cx="353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FF0000"/>
                </a:solidFill>
              </a:rPr>
              <a:t>y </a:t>
            </a:r>
            <a:r>
              <a:rPr lang="en-CA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 x</a:t>
            </a:r>
            <a:r>
              <a:rPr lang="en-CA" sz="24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en-CA" sz="2400" b="1" dirty="0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CA" sz="2400" b="1" dirty="0">
                <a:solidFill>
                  <a:srgbClr val="FF0000"/>
                </a:solidFill>
              </a:rPr>
              <a:t> </a:t>
            </a:r>
            <a:r>
              <a:rPr lang="en-CA" sz="2400" b="1" dirty="0" smtClean="0">
                <a:solidFill>
                  <a:srgbClr val="FF0000"/>
                </a:solidFill>
              </a:rPr>
              <a:t> y </a:t>
            </a:r>
            <a:r>
              <a:rPr lang="en-CA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 </a:t>
            </a:r>
            <a:r>
              <a:rPr lang="en-CA" sz="24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CA" sz="2400" b="1" baseline="30000" dirty="0" smtClean="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  <a:r>
              <a:rPr lang="en-CA" sz="24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  or   </a:t>
            </a:r>
            <a:r>
              <a:rPr lang="en-CA" sz="2400" b="1" dirty="0" smtClean="0">
                <a:solidFill>
                  <a:srgbClr val="FF0000"/>
                </a:solidFill>
              </a:rPr>
              <a:t>y</a:t>
            </a:r>
            <a:r>
              <a:rPr lang="en-CA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 x</a:t>
            </a:r>
            <a:r>
              <a:rPr lang="en-CA" sz="24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4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788024" y="6099840"/>
            <a:ext cx="2761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olidFill>
                  <a:srgbClr val="FF0000"/>
                </a:solidFill>
                <a:sym typeface="Symbol" panose="05050102010706020507" pitchFamily="18" charset="2"/>
              </a:rPr>
              <a:t>linear</a:t>
            </a:r>
            <a:endParaRPr lang="en-US" sz="3600" dirty="0"/>
          </a:p>
        </p:txBody>
      </p:sp>
      <p:sp>
        <p:nvSpPr>
          <p:cNvPr id="13" name="TextBox 12"/>
          <p:cNvSpPr txBox="1"/>
          <p:nvPr/>
        </p:nvSpPr>
        <p:spPr>
          <a:xfrm>
            <a:off x="7786272" y="6033305"/>
            <a:ext cx="601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CA" sz="36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endParaRPr lang="en-US" sz="3600" dirty="0"/>
          </a:p>
        </p:txBody>
      </p:sp>
      <p:sp>
        <p:nvSpPr>
          <p:cNvPr id="17" name="TextBox 16"/>
          <p:cNvSpPr txBox="1"/>
          <p:nvPr/>
        </p:nvSpPr>
        <p:spPr>
          <a:xfrm>
            <a:off x="546448" y="6036314"/>
            <a:ext cx="601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olidFill>
                  <a:srgbClr val="FF0000"/>
                </a:solidFill>
                <a:sym typeface="Symbol" panose="05050102010706020507" pitchFamily="18" charset="2"/>
              </a:rPr>
              <a:t>m</a:t>
            </a:r>
            <a:endParaRPr lang="en-US" sz="3600" dirty="0"/>
          </a:p>
        </p:txBody>
      </p:sp>
      <p:sp>
        <p:nvSpPr>
          <p:cNvPr id="21" name="TextBox 20"/>
          <p:cNvSpPr txBox="1"/>
          <p:nvPr/>
        </p:nvSpPr>
        <p:spPr>
          <a:xfrm>
            <a:off x="6133977" y="6067768"/>
            <a:ext cx="1415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olidFill>
                  <a:srgbClr val="FF0000"/>
                </a:solidFill>
                <a:sym typeface="Symbol" panose="05050102010706020507" pitchFamily="18" charset="2"/>
              </a:rPr>
              <a:t>Y=mx</a:t>
            </a:r>
            <a:r>
              <a:rPr lang="en-CA" sz="3600" baseline="30000" dirty="0" smtClean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endParaRPr lang="en-US" sz="3600" baseline="30000" dirty="0"/>
          </a:p>
        </p:txBody>
      </p:sp>
    </p:spTree>
    <p:extLst>
      <p:ext uri="{BB962C8B-B14F-4D97-AF65-F5344CB8AC3E}">
        <p14:creationId xmlns:p14="http://schemas.microsoft.com/office/powerpoint/2010/main" val="99720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213028"/>
            <a:ext cx="80648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10. </a:t>
            </a:r>
            <a:r>
              <a:rPr lang="en-CA" sz="3200" b="1" dirty="0"/>
              <a:t>If your new graphs is not linear, then you need to </a:t>
            </a:r>
            <a:r>
              <a:rPr lang="en-CA" sz="3200" b="1" dirty="0" smtClean="0"/>
              <a:t>look at the graph to see the new trend and apply this new relationship!</a:t>
            </a:r>
            <a:endParaRPr lang="en-CA" sz="3200" b="1" dirty="0" smtClean="0"/>
          </a:p>
          <a:p>
            <a:endParaRPr lang="en-CA" sz="3200" dirty="0"/>
          </a:p>
          <a:p>
            <a:r>
              <a:rPr lang="en-CA" sz="3200" dirty="0"/>
              <a:t>11. </a:t>
            </a:r>
            <a:r>
              <a:rPr lang="en-CA" sz="3200" dirty="0" smtClean="0"/>
              <a:t>Again, once the graph is linearized, you find the slope (m) to find the full ______________relationship!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2606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277</Words>
  <Application>Microsoft Office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Symbol</vt:lpstr>
      <vt:lpstr>Office Theme</vt:lpstr>
      <vt:lpstr>Investigating Relationships</vt:lpstr>
      <vt:lpstr>Steps in determining relationships between variables. </vt:lpstr>
      <vt:lpstr>PowerPoint Presentation</vt:lpstr>
      <vt:lpstr>PowerPoint Presentation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Relationships</dc:title>
  <dc:creator>Peel District School Board</dc:creator>
  <cp:lastModifiedBy>Ryan, Linda</cp:lastModifiedBy>
  <cp:revision>28</cp:revision>
  <cp:lastPrinted>2019-09-09T13:10:38Z</cp:lastPrinted>
  <dcterms:created xsi:type="dcterms:W3CDTF">2014-02-06T14:54:23Z</dcterms:created>
  <dcterms:modified xsi:type="dcterms:W3CDTF">2019-09-09T14:19:00Z</dcterms:modified>
</cp:coreProperties>
</file>