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1080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7A2A-697A-4FE5-A874-A59453E5DF51}" type="datetimeFigureOut">
              <a:rPr lang="en-US" smtClean="0"/>
              <a:pPr/>
              <a:t>9/9/2019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DF5A-0264-4902-A273-6B5F674D2F94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7A2A-697A-4FE5-A874-A59453E5DF51}" type="datetimeFigureOut">
              <a:rPr lang="en-US" smtClean="0"/>
              <a:pPr/>
              <a:t>9/9/2019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DF5A-0264-4902-A273-6B5F674D2F94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7A2A-697A-4FE5-A874-A59453E5DF51}" type="datetimeFigureOut">
              <a:rPr lang="en-US" smtClean="0"/>
              <a:pPr/>
              <a:t>9/9/2019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DF5A-0264-4902-A273-6B5F674D2F94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7A2A-697A-4FE5-A874-A59453E5DF51}" type="datetimeFigureOut">
              <a:rPr lang="en-US" smtClean="0"/>
              <a:pPr/>
              <a:t>9/9/2019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DF5A-0264-4902-A273-6B5F674D2F94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7A2A-697A-4FE5-A874-A59453E5DF51}" type="datetimeFigureOut">
              <a:rPr lang="en-US" smtClean="0"/>
              <a:pPr/>
              <a:t>9/9/2019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DF5A-0264-4902-A273-6B5F674D2F94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7A2A-697A-4FE5-A874-A59453E5DF51}" type="datetimeFigureOut">
              <a:rPr lang="en-US" smtClean="0"/>
              <a:pPr/>
              <a:t>9/9/2019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DF5A-0264-4902-A273-6B5F674D2F94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7A2A-697A-4FE5-A874-A59453E5DF51}" type="datetimeFigureOut">
              <a:rPr lang="en-US" smtClean="0"/>
              <a:pPr/>
              <a:t>9/9/2019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DF5A-0264-4902-A273-6B5F674D2F94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7A2A-697A-4FE5-A874-A59453E5DF51}" type="datetimeFigureOut">
              <a:rPr lang="en-US" smtClean="0"/>
              <a:pPr/>
              <a:t>9/9/2019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DF5A-0264-4902-A273-6B5F674D2F94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7A2A-697A-4FE5-A874-A59453E5DF51}" type="datetimeFigureOut">
              <a:rPr lang="en-US" smtClean="0"/>
              <a:pPr/>
              <a:t>9/9/2019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DF5A-0264-4902-A273-6B5F674D2F94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7A2A-697A-4FE5-A874-A59453E5DF51}" type="datetimeFigureOut">
              <a:rPr lang="en-US" smtClean="0"/>
              <a:pPr/>
              <a:t>9/9/2019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DF5A-0264-4902-A273-6B5F674D2F94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7A2A-697A-4FE5-A874-A59453E5DF51}" type="datetimeFigureOut">
              <a:rPr lang="en-US" smtClean="0"/>
              <a:pPr/>
              <a:t>9/9/2019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DF5A-0264-4902-A273-6B5F674D2F94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127A2A-697A-4FE5-A874-A59453E5DF51}" type="datetimeFigureOut">
              <a:rPr lang="en-US" smtClean="0"/>
              <a:pPr/>
              <a:t>9/9/2019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57DF5A-0264-4902-A273-6B5F674D2F94}" type="slidenum">
              <a:rPr lang="en-CA" smtClean="0"/>
              <a:pPr/>
              <a:t>‹#›</a:t>
            </a:fld>
            <a:endParaRPr lang="en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0100" y="357166"/>
            <a:ext cx="7029472" cy="885830"/>
          </a:xfrm>
        </p:spPr>
        <p:txBody>
          <a:bodyPr/>
          <a:lstStyle/>
          <a:p>
            <a:r>
              <a:rPr lang="en-CA" dirty="0" smtClean="0"/>
              <a:t>Investigating Relationships</a:t>
            </a:r>
            <a:endParaRPr lang="en-C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472" y="1285860"/>
            <a:ext cx="7929618" cy="1240231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CA" sz="2400" dirty="0" smtClean="0">
                <a:solidFill>
                  <a:srgbClr val="FF0000"/>
                </a:solidFill>
              </a:rPr>
              <a:t>There are 5 common relationships between variables. </a:t>
            </a:r>
          </a:p>
          <a:p>
            <a:pPr marL="514350" indent="-514350"/>
            <a:r>
              <a:rPr lang="en-CA" dirty="0" smtClean="0">
                <a:solidFill>
                  <a:srgbClr val="FF0000"/>
                </a:solidFill>
              </a:rPr>
              <a:t>What does the graph look like?</a:t>
            </a:r>
            <a:endParaRPr lang="en-CA" dirty="0">
              <a:solidFill>
                <a:srgbClr val="FF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2636912"/>
            <a:ext cx="7830839" cy="211968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4884" y="4618098"/>
            <a:ext cx="14565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 dirty="0" smtClean="0">
                <a:solidFill>
                  <a:srgbClr val="FF0000"/>
                </a:solidFill>
              </a:rPr>
              <a:t>No</a:t>
            </a:r>
          </a:p>
          <a:p>
            <a:pPr algn="ctr"/>
            <a:r>
              <a:rPr lang="en-CA" b="1" dirty="0" smtClean="0">
                <a:solidFill>
                  <a:srgbClr val="FF0000"/>
                </a:solidFill>
              </a:rPr>
              <a:t>Relationship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404746" y="4811894"/>
            <a:ext cx="1456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 dirty="0" smtClean="0">
                <a:solidFill>
                  <a:srgbClr val="FF0000"/>
                </a:solidFill>
              </a:rPr>
              <a:t>Linear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036972" y="4790784"/>
            <a:ext cx="1456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 dirty="0" smtClean="0">
                <a:solidFill>
                  <a:srgbClr val="FF0000"/>
                </a:solidFill>
              </a:rPr>
              <a:t>Power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599464" y="4728919"/>
            <a:ext cx="1456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 dirty="0" smtClean="0">
                <a:solidFill>
                  <a:srgbClr val="FF0000"/>
                </a:solidFill>
              </a:rPr>
              <a:t>Root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159498" y="4811894"/>
            <a:ext cx="1456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 dirty="0" smtClean="0">
                <a:solidFill>
                  <a:srgbClr val="FF0000"/>
                </a:solidFill>
              </a:rPr>
              <a:t>Inverse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04837" y="4494512"/>
            <a:ext cx="8262887" cy="12961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516" y="116632"/>
            <a:ext cx="8712968" cy="720080"/>
          </a:xfrm>
        </p:spPr>
        <p:txBody>
          <a:bodyPr>
            <a:normAutofit fontScale="90000"/>
          </a:bodyPr>
          <a:lstStyle/>
          <a:p>
            <a:r>
              <a:rPr lang="en-CA" sz="3100" b="1" dirty="0" smtClean="0"/>
              <a:t>Steps in determining relationships between variables</a:t>
            </a:r>
            <a:r>
              <a:rPr lang="en-CA" dirty="0" smtClean="0"/>
              <a:t>.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836712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lang="en-CA" dirty="0" smtClean="0"/>
              <a:t>1. Plot the ___________ variable on the x-axis</a:t>
            </a:r>
          </a:p>
          <a:p>
            <a:pPr marL="0" indent="0">
              <a:buNone/>
            </a:pPr>
            <a:r>
              <a:rPr lang="en-CA" dirty="0" smtClean="0"/>
              <a:t>    ( _______________) axis.  Plot the __________) variable on the y-axis (  __________ ) axis. </a:t>
            </a:r>
          </a:p>
          <a:p>
            <a:pPr marL="0" indent="0">
              <a:buNone/>
            </a:pPr>
            <a:r>
              <a:rPr lang="en-CA" dirty="0" smtClean="0"/>
              <a:t>2. We describe the graph as “y versus x”.</a:t>
            </a:r>
          </a:p>
          <a:p>
            <a:pPr marL="0" indent="0">
              <a:buNone/>
            </a:pPr>
            <a:r>
              <a:rPr lang="en-CA" dirty="0" smtClean="0"/>
              <a:t>3. From the shape of the graph guess the general form of the relationship. </a:t>
            </a:r>
          </a:p>
          <a:p>
            <a:pPr marL="0" indent="0">
              <a:buNone/>
            </a:pPr>
            <a:r>
              <a:rPr lang="en-CA" dirty="0" smtClean="0"/>
              <a:t>4. Test your guess by </a:t>
            </a:r>
            <a:r>
              <a:rPr lang="en-CA" dirty="0" err="1" smtClean="0"/>
              <a:t>replotting</a:t>
            </a:r>
            <a:r>
              <a:rPr lang="en-CA" dirty="0" smtClean="0"/>
              <a:t> the graph-this is called ___________ _______________.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-447834" y="5474273"/>
            <a:ext cx="89284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 smtClean="0"/>
              <a:t>   </a:t>
            </a:r>
            <a:r>
              <a:rPr lang="en-CA" sz="2800" b="1" i="1" dirty="0" smtClean="0">
                <a:solidFill>
                  <a:srgbClr val="FF0000"/>
                </a:solidFill>
              </a:rPr>
              <a:t>graphical analysis       vertical              dependent        independent         horizontal 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3528" y="4293096"/>
            <a:ext cx="8928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 smtClean="0"/>
              <a:t>   </a:t>
            </a:r>
            <a:endParaRPr lang="en-CA" sz="2800" b="1" i="1" dirty="0" smtClean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35542" y="725114"/>
            <a:ext cx="25202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i="1" dirty="0" smtClean="0">
                <a:solidFill>
                  <a:srgbClr val="FF0000"/>
                </a:solidFill>
              </a:rPr>
              <a:t>independent</a:t>
            </a:r>
            <a:endParaRPr lang="en-US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1496128" y="1359932"/>
            <a:ext cx="25202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i="1" dirty="0" smtClean="0">
                <a:solidFill>
                  <a:srgbClr val="FF0000"/>
                </a:solidFill>
              </a:rPr>
              <a:t>horizontal</a:t>
            </a:r>
            <a:endParaRPr lang="en-US" sz="2800" dirty="0"/>
          </a:p>
        </p:txBody>
      </p:sp>
      <p:sp>
        <p:nvSpPr>
          <p:cNvPr id="9" name="TextBox 8"/>
          <p:cNvSpPr txBox="1"/>
          <p:nvPr/>
        </p:nvSpPr>
        <p:spPr>
          <a:xfrm>
            <a:off x="415284" y="1780074"/>
            <a:ext cx="25202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i="1" dirty="0" smtClean="0">
                <a:solidFill>
                  <a:srgbClr val="FF0000"/>
                </a:solidFill>
              </a:rPr>
              <a:t>dependent</a:t>
            </a:r>
            <a:endParaRPr lang="en-US" sz="2800" dirty="0"/>
          </a:p>
        </p:txBody>
      </p:sp>
      <p:sp>
        <p:nvSpPr>
          <p:cNvPr id="10" name="TextBox 9"/>
          <p:cNvSpPr txBox="1"/>
          <p:nvPr/>
        </p:nvSpPr>
        <p:spPr>
          <a:xfrm>
            <a:off x="595304" y="2247495"/>
            <a:ext cx="25202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i="1" dirty="0" smtClean="0">
                <a:solidFill>
                  <a:srgbClr val="FF0000"/>
                </a:solidFill>
              </a:rPr>
              <a:t>Vertical </a:t>
            </a:r>
            <a:endParaRPr lang="en-US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2051720" y="4699578"/>
            <a:ext cx="3528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i="1" dirty="0">
                <a:solidFill>
                  <a:srgbClr val="FF0000"/>
                </a:solidFill>
              </a:rPr>
              <a:t>g</a:t>
            </a:r>
            <a:r>
              <a:rPr lang="en-CA" sz="2800" b="1" i="1" dirty="0" smtClean="0">
                <a:solidFill>
                  <a:srgbClr val="FF0000"/>
                </a:solidFill>
              </a:rPr>
              <a:t>raphical analysis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98125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251520" y="265092"/>
            <a:ext cx="8712968" cy="5396156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CA" sz="11200" dirty="0" smtClean="0"/>
              <a:t>5. </a:t>
            </a:r>
            <a:r>
              <a:rPr lang="en-CA" sz="10000" dirty="0" err="1" smtClean="0"/>
              <a:t>Replot</a:t>
            </a:r>
            <a:r>
              <a:rPr lang="en-CA" sz="10000" dirty="0" smtClean="0"/>
              <a:t> the graph by changing the x-axis variable!!!!. </a:t>
            </a:r>
          </a:p>
          <a:p>
            <a:endParaRPr lang="en-CA" sz="10000" dirty="0"/>
          </a:p>
          <a:p>
            <a:pPr marL="0" indent="0">
              <a:buNone/>
            </a:pPr>
            <a:r>
              <a:rPr lang="en-CA" sz="10000" dirty="0" smtClean="0"/>
              <a:t>6. For example, if you think the graph is a POWER relationship (</a:t>
            </a:r>
            <a:r>
              <a:rPr lang="en-CA" sz="10000" dirty="0" err="1" smtClean="0"/>
              <a:t>eg</a:t>
            </a:r>
            <a:r>
              <a:rPr lang="en-CA" sz="10000" dirty="0" smtClean="0"/>
              <a:t>. ________________</a:t>
            </a:r>
            <a:r>
              <a:rPr lang="en-CA" sz="10000" dirty="0" smtClean="0">
                <a:sym typeface="Symbol" panose="05050102010706020507" pitchFamily="18" charset="2"/>
              </a:rPr>
              <a:t>). </a:t>
            </a:r>
          </a:p>
          <a:p>
            <a:pPr marL="0" indent="0">
              <a:buNone/>
            </a:pPr>
            <a:endParaRPr lang="en-CA" sz="100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CA" sz="10000" dirty="0" smtClean="0">
                <a:sym typeface="Symbol" panose="05050102010706020507" pitchFamily="18" charset="2"/>
              </a:rPr>
              <a:t>Test the simplest form of the relationship by plotting a new graph with _____ on the x axis. </a:t>
            </a:r>
          </a:p>
          <a:p>
            <a:pPr marL="0" indent="0">
              <a:buNone/>
            </a:pPr>
            <a:endParaRPr lang="en-CA" sz="10000" dirty="0" smtClean="0"/>
          </a:p>
          <a:p>
            <a:pPr marL="0" indent="0">
              <a:buNone/>
            </a:pPr>
            <a:r>
              <a:rPr lang="en-CA" sz="10000" dirty="0" smtClean="0"/>
              <a:t>7. If your new graph is forms a straight line that is generally through the origin (a __________ graph) you have identified the correct relationship! </a:t>
            </a:r>
          </a:p>
          <a:p>
            <a:pPr marL="0" indent="0">
              <a:buNone/>
            </a:pPr>
            <a:endParaRPr lang="en-CA" sz="10000" dirty="0"/>
          </a:p>
          <a:p>
            <a:pPr marL="0" indent="0">
              <a:buNone/>
            </a:pPr>
            <a:r>
              <a:rPr lang="en-CA" sz="10000" dirty="0" smtClean="0"/>
              <a:t>8.</a:t>
            </a:r>
            <a:r>
              <a:rPr lang="en-CA" sz="10000" dirty="0"/>
              <a:t> Once you have a linear graph, you can find the slope (_____ )of this new graph</a:t>
            </a:r>
            <a:r>
              <a:rPr lang="en-CA" sz="10000" dirty="0" smtClean="0"/>
              <a:t>.</a:t>
            </a:r>
          </a:p>
          <a:p>
            <a:pPr marL="0" indent="0">
              <a:buNone/>
            </a:pPr>
            <a:endParaRPr lang="en-CA" sz="10000" dirty="0"/>
          </a:p>
          <a:p>
            <a:pPr marL="0" indent="0">
              <a:buNone/>
            </a:pPr>
            <a:r>
              <a:rPr lang="en-CA" sz="10000" dirty="0" smtClean="0"/>
              <a:t>9. In this case, the final relationship would be ______.  </a:t>
            </a:r>
            <a:endParaRPr lang="en-CA" sz="10000" dirty="0"/>
          </a:p>
          <a:p>
            <a:pPr marL="0" indent="0">
              <a:buNone/>
            </a:pPr>
            <a:endParaRPr lang="en-CA" sz="100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1570952" y="6151473"/>
            <a:ext cx="35329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rgbClr val="FF0000"/>
                </a:solidFill>
              </a:rPr>
              <a:t>y </a:t>
            </a:r>
            <a:r>
              <a:rPr lang="en-CA" sz="2400" b="1" dirty="0">
                <a:solidFill>
                  <a:srgbClr val="FF0000"/>
                </a:solidFill>
                <a:sym typeface="Symbol" panose="05050102010706020507" pitchFamily="18" charset="2"/>
              </a:rPr>
              <a:t> x</a:t>
            </a:r>
            <a:r>
              <a:rPr lang="en-CA" sz="2400" b="1" baseline="30000" dirty="0">
                <a:solidFill>
                  <a:srgbClr val="FF0000"/>
                </a:solidFill>
                <a:sym typeface="Symbol" panose="05050102010706020507" pitchFamily="18" charset="2"/>
              </a:rPr>
              <a:t>2</a:t>
            </a:r>
            <a:r>
              <a:rPr lang="en-CA" sz="2400" b="1" dirty="0">
                <a:solidFill>
                  <a:srgbClr val="FF0000"/>
                </a:solidFill>
                <a:sym typeface="Symbol" panose="05050102010706020507" pitchFamily="18" charset="2"/>
              </a:rPr>
              <a:t>,</a:t>
            </a:r>
            <a:r>
              <a:rPr lang="en-CA" sz="2400" b="1" dirty="0">
                <a:solidFill>
                  <a:srgbClr val="FF0000"/>
                </a:solidFill>
              </a:rPr>
              <a:t> </a:t>
            </a:r>
            <a:r>
              <a:rPr lang="en-CA" sz="2400" b="1" dirty="0" smtClean="0">
                <a:solidFill>
                  <a:srgbClr val="FF0000"/>
                </a:solidFill>
              </a:rPr>
              <a:t> y </a:t>
            </a:r>
            <a:r>
              <a:rPr lang="en-CA" sz="2400" b="1" dirty="0">
                <a:solidFill>
                  <a:srgbClr val="FF0000"/>
                </a:solidFill>
                <a:sym typeface="Symbol" panose="05050102010706020507" pitchFamily="18" charset="2"/>
              </a:rPr>
              <a:t> </a:t>
            </a:r>
            <a:r>
              <a:rPr lang="en-CA" sz="2400" b="1" dirty="0" smtClean="0">
                <a:solidFill>
                  <a:srgbClr val="FF0000"/>
                </a:solidFill>
                <a:sym typeface="Symbol" panose="05050102010706020507" pitchFamily="18" charset="2"/>
              </a:rPr>
              <a:t>x</a:t>
            </a:r>
            <a:r>
              <a:rPr lang="en-CA" sz="2400" b="1" baseline="30000" dirty="0" smtClean="0">
                <a:solidFill>
                  <a:srgbClr val="FF0000"/>
                </a:solidFill>
                <a:sym typeface="Symbol" panose="05050102010706020507" pitchFamily="18" charset="2"/>
              </a:rPr>
              <a:t>3</a:t>
            </a:r>
            <a:r>
              <a:rPr lang="en-CA" sz="2400" b="1" dirty="0" smtClean="0">
                <a:solidFill>
                  <a:srgbClr val="FF0000"/>
                </a:solidFill>
                <a:sym typeface="Symbol" panose="05050102010706020507" pitchFamily="18" charset="2"/>
              </a:rPr>
              <a:t>  or   </a:t>
            </a:r>
            <a:r>
              <a:rPr lang="en-CA" sz="2400" b="1" dirty="0" smtClean="0">
                <a:solidFill>
                  <a:srgbClr val="FF0000"/>
                </a:solidFill>
              </a:rPr>
              <a:t>y</a:t>
            </a:r>
            <a:r>
              <a:rPr lang="en-CA" sz="2400" b="1" dirty="0">
                <a:solidFill>
                  <a:srgbClr val="FF0000"/>
                </a:solidFill>
                <a:sym typeface="Symbol" panose="05050102010706020507" pitchFamily="18" charset="2"/>
              </a:rPr>
              <a:t> x</a:t>
            </a:r>
            <a:r>
              <a:rPr lang="en-CA" sz="2400" b="1" baseline="30000" dirty="0">
                <a:solidFill>
                  <a:srgbClr val="FF0000"/>
                </a:solidFill>
                <a:sym typeface="Symbol" panose="05050102010706020507" pitchFamily="18" charset="2"/>
              </a:rPr>
              <a:t>4</a:t>
            </a:r>
            <a:endParaRPr lang="en-US" sz="2400" b="1" dirty="0"/>
          </a:p>
        </p:txBody>
      </p:sp>
      <p:sp>
        <p:nvSpPr>
          <p:cNvPr id="8" name="Rectangle 7"/>
          <p:cNvSpPr/>
          <p:nvPr/>
        </p:nvSpPr>
        <p:spPr>
          <a:xfrm>
            <a:off x="251520" y="1246363"/>
            <a:ext cx="263886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000" b="1" dirty="0">
                <a:solidFill>
                  <a:srgbClr val="FF0000"/>
                </a:solidFill>
              </a:rPr>
              <a:t>y </a:t>
            </a:r>
            <a:r>
              <a:rPr lang="en-CA" sz="2000" b="1" dirty="0">
                <a:solidFill>
                  <a:srgbClr val="FF0000"/>
                </a:solidFill>
                <a:sym typeface="Symbol" panose="05050102010706020507" pitchFamily="18" charset="2"/>
              </a:rPr>
              <a:t> x</a:t>
            </a:r>
            <a:r>
              <a:rPr lang="en-CA" sz="2000" b="1" baseline="30000" dirty="0">
                <a:solidFill>
                  <a:srgbClr val="FF0000"/>
                </a:solidFill>
                <a:sym typeface="Symbol" panose="05050102010706020507" pitchFamily="18" charset="2"/>
              </a:rPr>
              <a:t>2</a:t>
            </a:r>
            <a:r>
              <a:rPr lang="en-CA" sz="2000" b="1" dirty="0">
                <a:solidFill>
                  <a:srgbClr val="FF0000"/>
                </a:solidFill>
                <a:sym typeface="Symbol" panose="05050102010706020507" pitchFamily="18" charset="2"/>
              </a:rPr>
              <a:t>,</a:t>
            </a:r>
            <a:r>
              <a:rPr lang="en-CA" sz="2000" b="1" dirty="0">
                <a:solidFill>
                  <a:srgbClr val="FF0000"/>
                </a:solidFill>
              </a:rPr>
              <a:t>  y </a:t>
            </a:r>
            <a:r>
              <a:rPr lang="en-CA" sz="2000" b="1" dirty="0">
                <a:solidFill>
                  <a:srgbClr val="FF0000"/>
                </a:solidFill>
                <a:sym typeface="Symbol" panose="05050102010706020507" pitchFamily="18" charset="2"/>
              </a:rPr>
              <a:t> x</a:t>
            </a:r>
            <a:r>
              <a:rPr lang="en-CA" sz="2000" b="1" baseline="30000" dirty="0">
                <a:solidFill>
                  <a:srgbClr val="FF0000"/>
                </a:solidFill>
                <a:sym typeface="Symbol" panose="05050102010706020507" pitchFamily="18" charset="2"/>
              </a:rPr>
              <a:t>3</a:t>
            </a:r>
            <a:r>
              <a:rPr lang="en-CA" sz="2000" b="1" dirty="0">
                <a:solidFill>
                  <a:srgbClr val="FF0000"/>
                </a:solidFill>
                <a:sym typeface="Symbol" panose="05050102010706020507" pitchFamily="18" charset="2"/>
              </a:rPr>
              <a:t>  or   </a:t>
            </a:r>
            <a:r>
              <a:rPr lang="en-CA" sz="2000" b="1" dirty="0">
                <a:solidFill>
                  <a:srgbClr val="FF0000"/>
                </a:solidFill>
              </a:rPr>
              <a:t>y</a:t>
            </a:r>
            <a:r>
              <a:rPr lang="en-CA" sz="2000" b="1" dirty="0">
                <a:solidFill>
                  <a:srgbClr val="FF0000"/>
                </a:solidFill>
                <a:sym typeface="Symbol" panose="05050102010706020507" pitchFamily="18" charset="2"/>
              </a:rPr>
              <a:t> x</a:t>
            </a:r>
            <a:r>
              <a:rPr lang="en-CA" sz="2000" b="1" baseline="30000" dirty="0">
                <a:solidFill>
                  <a:srgbClr val="FF0000"/>
                </a:solidFill>
                <a:sym typeface="Symbol" panose="05050102010706020507" pitchFamily="18" charset="2"/>
              </a:rPr>
              <a:t>4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87624" y="2204864"/>
            <a:ext cx="6017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>
                <a:solidFill>
                  <a:srgbClr val="FF0000"/>
                </a:solidFill>
                <a:sym typeface="Symbol" panose="05050102010706020507" pitchFamily="18" charset="2"/>
              </a:rPr>
              <a:t>x</a:t>
            </a:r>
            <a:r>
              <a:rPr lang="en-CA" sz="3600" baseline="30000" dirty="0">
                <a:solidFill>
                  <a:srgbClr val="FF0000"/>
                </a:solidFill>
                <a:sym typeface="Symbol" panose="05050102010706020507" pitchFamily="18" charset="2"/>
              </a:rPr>
              <a:t>2</a:t>
            </a:r>
            <a:endParaRPr lang="en-US" sz="3600" dirty="0"/>
          </a:p>
        </p:txBody>
      </p:sp>
      <p:sp>
        <p:nvSpPr>
          <p:cNvPr id="11" name="TextBox 10"/>
          <p:cNvSpPr txBox="1"/>
          <p:nvPr/>
        </p:nvSpPr>
        <p:spPr>
          <a:xfrm>
            <a:off x="3187672" y="3229599"/>
            <a:ext cx="2761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 smtClean="0">
                <a:solidFill>
                  <a:srgbClr val="FF0000"/>
                </a:solidFill>
                <a:sym typeface="Symbol" panose="05050102010706020507" pitchFamily="18" charset="2"/>
              </a:rPr>
              <a:t>linear</a:t>
            </a:r>
            <a:endParaRPr lang="en-US" sz="3600" dirty="0"/>
          </a:p>
        </p:txBody>
      </p:sp>
      <p:sp>
        <p:nvSpPr>
          <p:cNvPr id="12" name="TextBox 11"/>
          <p:cNvSpPr txBox="1"/>
          <p:nvPr/>
        </p:nvSpPr>
        <p:spPr>
          <a:xfrm>
            <a:off x="4788024" y="6099840"/>
            <a:ext cx="2761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 smtClean="0">
                <a:solidFill>
                  <a:srgbClr val="FF0000"/>
                </a:solidFill>
                <a:sym typeface="Symbol" panose="05050102010706020507" pitchFamily="18" charset="2"/>
              </a:rPr>
              <a:t>linear</a:t>
            </a:r>
            <a:endParaRPr lang="en-US" sz="3600" dirty="0"/>
          </a:p>
        </p:txBody>
      </p:sp>
      <p:sp>
        <p:nvSpPr>
          <p:cNvPr id="13" name="TextBox 12"/>
          <p:cNvSpPr txBox="1"/>
          <p:nvPr/>
        </p:nvSpPr>
        <p:spPr>
          <a:xfrm>
            <a:off x="7786272" y="6033305"/>
            <a:ext cx="6017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>
                <a:solidFill>
                  <a:srgbClr val="FF0000"/>
                </a:solidFill>
                <a:sym typeface="Symbol" panose="05050102010706020507" pitchFamily="18" charset="2"/>
              </a:rPr>
              <a:t>x</a:t>
            </a:r>
            <a:r>
              <a:rPr lang="en-CA" sz="3600" baseline="30000" dirty="0">
                <a:solidFill>
                  <a:srgbClr val="FF0000"/>
                </a:solidFill>
                <a:sym typeface="Symbol" panose="05050102010706020507" pitchFamily="18" charset="2"/>
              </a:rPr>
              <a:t>2</a:t>
            </a:r>
            <a:endParaRPr lang="en-US" sz="3600" dirty="0"/>
          </a:p>
        </p:txBody>
      </p:sp>
      <p:sp>
        <p:nvSpPr>
          <p:cNvPr id="17" name="TextBox 16"/>
          <p:cNvSpPr txBox="1"/>
          <p:nvPr/>
        </p:nvSpPr>
        <p:spPr>
          <a:xfrm>
            <a:off x="546448" y="6036314"/>
            <a:ext cx="6017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 smtClean="0">
                <a:solidFill>
                  <a:srgbClr val="FF0000"/>
                </a:solidFill>
                <a:sym typeface="Symbol" panose="05050102010706020507" pitchFamily="18" charset="2"/>
              </a:rPr>
              <a:t>m</a:t>
            </a:r>
            <a:endParaRPr lang="en-US" sz="3600" dirty="0"/>
          </a:p>
        </p:txBody>
      </p:sp>
      <p:sp>
        <p:nvSpPr>
          <p:cNvPr id="18" name="TextBox 17"/>
          <p:cNvSpPr txBox="1"/>
          <p:nvPr/>
        </p:nvSpPr>
        <p:spPr>
          <a:xfrm>
            <a:off x="7740352" y="4221088"/>
            <a:ext cx="6017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 smtClean="0">
                <a:solidFill>
                  <a:srgbClr val="FF0000"/>
                </a:solidFill>
                <a:sym typeface="Symbol" panose="05050102010706020507" pitchFamily="18" charset="2"/>
              </a:rPr>
              <a:t>m</a:t>
            </a:r>
            <a:endParaRPr lang="en-US" sz="3600" dirty="0"/>
          </a:p>
        </p:txBody>
      </p:sp>
      <p:sp>
        <p:nvSpPr>
          <p:cNvPr id="19" name="TextBox 18"/>
          <p:cNvSpPr txBox="1"/>
          <p:nvPr/>
        </p:nvSpPr>
        <p:spPr>
          <a:xfrm>
            <a:off x="6213659" y="5306011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 smtClean="0">
                <a:solidFill>
                  <a:srgbClr val="FF0000"/>
                </a:solidFill>
                <a:sym typeface="Symbol" panose="05050102010706020507" pitchFamily="18" charset="2"/>
              </a:rPr>
              <a:t>Y=mx</a:t>
            </a:r>
            <a:r>
              <a:rPr lang="en-CA" sz="3600" baseline="30000" dirty="0" smtClean="0">
                <a:solidFill>
                  <a:srgbClr val="FF0000"/>
                </a:solidFill>
                <a:sym typeface="Symbol" panose="05050102010706020507" pitchFamily="18" charset="2"/>
              </a:rPr>
              <a:t>2</a:t>
            </a:r>
            <a:endParaRPr lang="en-US" sz="3600" baseline="30000" dirty="0"/>
          </a:p>
        </p:txBody>
      </p:sp>
      <p:sp>
        <p:nvSpPr>
          <p:cNvPr id="21" name="TextBox 20"/>
          <p:cNvSpPr txBox="1"/>
          <p:nvPr/>
        </p:nvSpPr>
        <p:spPr>
          <a:xfrm>
            <a:off x="6133977" y="6067768"/>
            <a:ext cx="14157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 smtClean="0">
                <a:solidFill>
                  <a:srgbClr val="FF0000"/>
                </a:solidFill>
                <a:sym typeface="Symbol" panose="05050102010706020507" pitchFamily="18" charset="2"/>
              </a:rPr>
              <a:t>Y=mx</a:t>
            </a:r>
            <a:r>
              <a:rPr lang="en-CA" sz="3600" baseline="30000" dirty="0" smtClean="0">
                <a:solidFill>
                  <a:srgbClr val="FF0000"/>
                </a:solidFill>
                <a:sym typeface="Symbol" panose="05050102010706020507" pitchFamily="18" charset="2"/>
              </a:rPr>
              <a:t>2</a:t>
            </a:r>
            <a:endParaRPr lang="en-US" sz="3600" baseline="30000" dirty="0"/>
          </a:p>
        </p:txBody>
      </p:sp>
    </p:spTree>
    <p:extLst>
      <p:ext uri="{BB962C8B-B14F-4D97-AF65-F5344CB8AC3E}">
        <p14:creationId xmlns:p14="http://schemas.microsoft.com/office/powerpoint/2010/main" val="997206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  <p:bldP spid="18" grpId="0"/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9552" y="213028"/>
            <a:ext cx="806489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/>
              <a:t>10. </a:t>
            </a:r>
            <a:r>
              <a:rPr lang="en-CA" sz="3200" b="1" dirty="0"/>
              <a:t>If your new graphs is not linear, then you need to look at the graph to see the new trend and apply this new relationship</a:t>
            </a:r>
            <a:r>
              <a:rPr lang="en-CA" sz="3200" dirty="0"/>
              <a:t>!</a:t>
            </a:r>
          </a:p>
          <a:p>
            <a:endParaRPr lang="en-CA" sz="3200" dirty="0"/>
          </a:p>
          <a:p>
            <a:r>
              <a:rPr lang="en-CA" sz="3200" dirty="0"/>
              <a:t>11. </a:t>
            </a:r>
            <a:r>
              <a:rPr lang="en-CA" sz="3200" dirty="0" smtClean="0"/>
              <a:t>Again, once the graph is linearized, you find the slope (m) to find the full ______________relationship!</a:t>
            </a:r>
            <a:endParaRPr lang="en-US" sz="3200" dirty="0"/>
          </a:p>
        </p:txBody>
      </p:sp>
      <p:sp>
        <p:nvSpPr>
          <p:cNvPr id="19" name="TextBox 18"/>
          <p:cNvSpPr txBox="1"/>
          <p:nvPr/>
        </p:nvSpPr>
        <p:spPr>
          <a:xfrm>
            <a:off x="509530" y="3072114"/>
            <a:ext cx="4680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 smtClean="0">
                <a:solidFill>
                  <a:srgbClr val="FF0000"/>
                </a:solidFill>
                <a:sym typeface="Symbol" panose="05050102010706020507" pitchFamily="18" charset="2"/>
              </a:rPr>
              <a:t>quantitative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226061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826</TotalTime>
  <Words>305</Words>
  <Application>Microsoft Office PowerPoint</Application>
  <PresentationFormat>On-screen Show (4:3)</PresentationFormat>
  <Paragraphs>47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Symbol</vt:lpstr>
      <vt:lpstr>Office Theme</vt:lpstr>
      <vt:lpstr>Investigating Relationships</vt:lpstr>
      <vt:lpstr>Steps in determining relationships between variables. </vt:lpstr>
      <vt:lpstr>PowerPoint Presentation</vt:lpstr>
      <vt:lpstr>PowerPoint Presentation</vt:lpstr>
    </vt:vector>
  </TitlesOfParts>
  <Company>Peel District School Board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Investigating Relationships</dc:title>
  <dc:creator>Peel District School Board</dc:creator>
  <cp:lastModifiedBy>Ryan, Linda</cp:lastModifiedBy>
  <cp:revision>27</cp:revision>
  <dcterms:created xsi:type="dcterms:W3CDTF">2014-02-06T14:54:23Z</dcterms:created>
  <dcterms:modified xsi:type="dcterms:W3CDTF">2019-09-09T14:18:38Z</dcterms:modified>
</cp:coreProperties>
</file>