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0"/>
  </p:handoutMasterIdLst>
  <p:sldIdLst>
    <p:sldId id="256" r:id="rId2"/>
    <p:sldId id="261" r:id="rId3"/>
    <p:sldId id="258" r:id="rId4"/>
    <p:sldId id="259" r:id="rId5"/>
    <p:sldId id="268" r:id="rId6"/>
    <p:sldId id="262" r:id="rId7"/>
    <p:sldId id="269" r:id="rId8"/>
    <p:sldId id="271" r:id="rId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00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723AABF-7E82-4ADE-9F2D-057207E9E102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3EEA2FE-CBE9-4205-94BA-7203B5877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76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042D675F-0214-4343-9E8B-32E0BA618919}" type="datetimeFigureOut">
              <a:rPr lang="en-US" smtClean="0"/>
              <a:pPr/>
              <a:t>1/31/2019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3D71EB6-3A2A-4975-90B9-FE34E30365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31640" y="404664"/>
            <a:ext cx="7406640" cy="7073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Measurement Principles </a:t>
            </a:r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547664" y="1484784"/>
            <a:ext cx="68305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If you cannot measure it, then it is not science. </a:t>
            </a:r>
            <a:br>
              <a:rPr lang="en-US" sz="3600" b="1" dirty="0"/>
            </a:br>
            <a:r>
              <a:rPr lang="en-US" sz="3600" b="1" dirty="0" smtClean="0"/>
              <a:t>—Lord Kelvin</a:t>
            </a:r>
            <a:endParaRPr lang="en-US" sz="3600" b="1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38211" y="3573016"/>
            <a:ext cx="72494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/>
              <a:t>An experiment is a question which science poses to Nature, and a measurement is the recording of Nature's answer. </a:t>
            </a:r>
            <a:br>
              <a:rPr lang="en-US" sz="3600" b="1" dirty="0"/>
            </a:br>
            <a:r>
              <a:rPr lang="en-US" sz="3600" dirty="0" smtClean="0"/>
              <a:t>— </a:t>
            </a:r>
            <a:r>
              <a:rPr lang="en-US" sz="3600" b="1" dirty="0" smtClean="0"/>
              <a:t>Max Planck</a:t>
            </a:r>
            <a:endParaRPr lang="en-US" sz="3600" b="1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857" y="1428022"/>
            <a:ext cx="7498080" cy="940966"/>
          </a:xfrm>
        </p:spPr>
        <p:txBody>
          <a:bodyPr>
            <a:normAutofit/>
          </a:bodyPr>
          <a:lstStyle/>
          <a:p>
            <a:r>
              <a:rPr lang="en-US" sz="3200" u="sng" dirty="0" smtClean="0"/>
              <a:t>Measurement Accuracy versus Precision</a:t>
            </a:r>
            <a:endParaRPr lang="en-US" sz="3200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250775" y="2166853"/>
            <a:ext cx="7483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/>
              <a:t>Accuracy</a:t>
            </a:r>
            <a:r>
              <a:rPr lang="en-US" sz="2400" dirty="0" smtClean="0"/>
              <a:t>: refers to how closely measurement agrees with the “true” value 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229567" y="2965205"/>
            <a:ext cx="74831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 smtClean="0"/>
              <a:t>Precision</a:t>
            </a:r>
            <a:r>
              <a:rPr lang="en-US" sz="2400" dirty="0" smtClean="0"/>
              <a:t> : refers to the resolution with which a measurement is made.  For multiple measurements, it can refer to the scatter in the values.  </a:t>
            </a:r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69" y="4220756"/>
            <a:ext cx="7810500" cy="1562100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043608" y="346229"/>
            <a:ext cx="7498080" cy="94096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sz="2400" u="sng" dirty="0" smtClean="0"/>
              <a:t>Measurement Error or Uncertainty:</a:t>
            </a:r>
          </a:p>
          <a:p>
            <a:r>
              <a:rPr lang="en-CA" sz="2400" dirty="0" smtClean="0"/>
              <a:t> No measurement is exact!  All measurements have some inherent ___________ or ______________. 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209036" y="5782855"/>
            <a:ext cx="1741392" cy="942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260995" y="5782856"/>
            <a:ext cx="1741392" cy="942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81482" y="5780493"/>
            <a:ext cx="1741392" cy="942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217462" y="5782855"/>
            <a:ext cx="1741392" cy="9423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6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20618"/>
            <a:ext cx="7498080" cy="888102"/>
          </a:xfrm>
        </p:spPr>
        <p:txBody>
          <a:bodyPr>
            <a:normAutofit/>
          </a:bodyPr>
          <a:lstStyle/>
          <a:p>
            <a:r>
              <a:rPr lang="en-US" sz="2800" u="sng" dirty="0" smtClean="0"/>
              <a:t>Measurement uncertainty and </a:t>
            </a:r>
            <a:r>
              <a:rPr lang="en-US" sz="2800" u="sng" dirty="0" smtClean="0"/>
              <a:t>Significant  </a:t>
            </a:r>
            <a:r>
              <a:rPr lang="en-US" sz="2800" u="sng" dirty="0" smtClean="0"/>
              <a:t>digits</a:t>
            </a:r>
            <a:endParaRPr lang="en-US" sz="28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908720"/>
            <a:ext cx="7632848" cy="5472608"/>
          </a:xfrm>
        </p:spPr>
        <p:txBody>
          <a:bodyPr>
            <a:normAutofit fontScale="32500" lnSpcReduction="20000"/>
          </a:bodyPr>
          <a:lstStyle/>
          <a:p>
            <a:pPr marL="82296" indent="0">
              <a:buNone/>
            </a:pPr>
            <a:r>
              <a:rPr lang="en-CA" sz="8000" dirty="0">
                <a:cs typeface="Symath"/>
                <a:sym typeface="Symbol" panose="05050102010706020507" pitchFamily="18" charset="2"/>
              </a:rPr>
              <a:t> </a:t>
            </a:r>
            <a:r>
              <a:rPr lang="en-US" sz="8000" dirty="0" smtClean="0"/>
              <a:t>Record </a:t>
            </a:r>
            <a:r>
              <a:rPr lang="en-US" sz="8000" dirty="0" smtClean="0"/>
              <a:t>all certain digits in a measurement plus last estimated or uncertain </a:t>
            </a:r>
            <a:r>
              <a:rPr lang="en-US" sz="8000" dirty="0" smtClean="0"/>
              <a:t>digit</a:t>
            </a:r>
          </a:p>
          <a:p>
            <a:pPr>
              <a:buNone/>
            </a:pPr>
            <a:r>
              <a:rPr lang="en-CA" sz="8000" dirty="0" smtClean="0">
                <a:cs typeface="Symath"/>
                <a:sym typeface="Symbol" panose="05050102010706020507" pitchFamily="18" charset="2"/>
              </a:rPr>
              <a:t> </a:t>
            </a:r>
            <a:r>
              <a:rPr lang="en-CA" sz="8000" dirty="0">
                <a:cs typeface="Symath"/>
                <a:sym typeface="Symbol" panose="05050102010706020507" pitchFamily="18" charset="2"/>
              </a:rPr>
              <a:t>T</a:t>
            </a:r>
            <a:r>
              <a:rPr lang="en-CA" sz="8000" dirty="0" smtClean="0">
                <a:cs typeface="Symath"/>
              </a:rPr>
              <a:t>he stated uncertainty </a:t>
            </a:r>
            <a:r>
              <a:rPr lang="en-CA" sz="8000" dirty="0">
                <a:cs typeface="Symath"/>
              </a:rPr>
              <a:t>should match the </a:t>
            </a:r>
          </a:p>
          <a:p>
            <a:pPr>
              <a:buNone/>
            </a:pPr>
            <a:r>
              <a:rPr lang="en-CA" sz="8000" dirty="0">
                <a:cs typeface="Symath"/>
              </a:rPr>
              <a:t>  </a:t>
            </a:r>
            <a:r>
              <a:rPr lang="en-CA" sz="8000" dirty="0" smtClean="0">
                <a:cs typeface="Symath"/>
              </a:rPr>
              <a:t>measurement precision</a:t>
            </a:r>
            <a:endParaRPr lang="en-US" sz="8000" dirty="0" smtClean="0"/>
          </a:p>
          <a:p>
            <a:pPr marL="82296" indent="0">
              <a:buNone/>
            </a:pPr>
            <a:endParaRPr lang="en-CA" sz="8000" dirty="0" smtClean="0">
              <a:cs typeface="Symath"/>
              <a:sym typeface="Symbol" panose="05050102010706020507" pitchFamily="18" charset="2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  <a:sym typeface="Symbol" panose="05050102010706020507" pitchFamily="18" charset="2"/>
              </a:rPr>
              <a:t>  </a:t>
            </a:r>
            <a:r>
              <a:rPr lang="en-US" sz="8000" dirty="0" smtClean="0"/>
              <a:t>A </a:t>
            </a:r>
            <a:r>
              <a:rPr lang="en-US" sz="8000" dirty="0" smtClean="0"/>
              <a:t>length of   </a:t>
            </a:r>
            <a:r>
              <a:rPr lang="en-US" sz="8000" dirty="0" smtClean="0">
                <a:cs typeface="Symath"/>
              </a:rPr>
              <a:t>10.5 cm ± 0.2 cm</a:t>
            </a:r>
            <a:endParaRPr lang="en-US" sz="8000" dirty="0" smtClean="0">
              <a:cs typeface="Symath"/>
            </a:endParaRPr>
          </a:p>
          <a:p>
            <a:pPr>
              <a:buNone/>
            </a:pPr>
            <a:r>
              <a:rPr lang="en-US" sz="8000" dirty="0" smtClean="0">
                <a:cs typeface="Symath"/>
              </a:rPr>
              <a:t>  </a:t>
            </a:r>
            <a:r>
              <a:rPr lang="en-US" sz="8000" dirty="0" smtClean="0">
                <a:cs typeface="Symath"/>
              </a:rPr>
              <a:t> </a:t>
            </a:r>
            <a:r>
              <a:rPr lang="en-CA" sz="8000" dirty="0" smtClean="0">
                <a:cs typeface="Symath"/>
              </a:rPr>
              <a:t>A </a:t>
            </a:r>
            <a:r>
              <a:rPr lang="en-CA" sz="8000" dirty="0" smtClean="0">
                <a:cs typeface="Symath"/>
              </a:rPr>
              <a:t>mass of </a:t>
            </a:r>
            <a:r>
              <a:rPr lang="en-CA" sz="8000" dirty="0" smtClean="0">
                <a:cs typeface="Symath"/>
              </a:rPr>
              <a:t>    26.7 g </a:t>
            </a:r>
            <a:r>
              <a:rPr lang="en-US" sz="8000" dirty="0">
                <a:cs typeface="Symath"/>
              </a:rPr>
              <a:t>± </a:t>
            </a:r>
            <a:r>
              <a:rPr lang="en-US" sz="8000" dirty="0" smtClean="0">
                <a:cs typeface="Symath"/>
              </a:rPr>
              <a:t>0.1 g</a:t>
            </a:r>
            <a:endParaRPr lang="en-US" sz="8000" dirty="0">
              <a:cs typeface="Symath"/>
            </a:endParaRPr>
          </a:p>
          <a:p>
            <a:pPr>
              <a:buNone/>
            </a:pPr>
            <a:r>
              <a:rPr lang="en-CA" sz="8000" dirty="0" smtClean="0">
                <a:cs typeface="Symath"/>
              </a:rPr>
              <a:t>   A temperature of 24.5 </a:t>
            </a:r>
            <a:r>
              <a:rPr lang="en-CA" sz="8000" dirty="0" smtClean="0">
                <a:cs typeface="Symath"/>
                <a:sym typeface="Symbol" panose="05050102010706020507" pitchFamily="18" charset="2"/>
              </a:rPr>
              <a:t>C </a:t>
            </a:r>
            <a:r>
              <a:rPr lang="en-US" sz="8000" dirty="0" smtClean="0">
                <a:cs typeface="Symath"/>
              </a:rPr>
              <a:t>± ______</a:t>
            </a:r>
            <a:r>
              <a:rPr lang="en-CA" sz="8000" dirty="0" smtClean="0">
                <a:cs typeface="Symath"/>
                <a:sym typeface="Symbol" panose="05050102010706020507" pitchFamily="18" charset="2"/>
              </a:rPr>
              <a:t>  </a:t>
            </a:r>
            <a:r>
              <a:rPr lang="en-CA" sz="8000" dirty="0" smtClean="0">
                <a:cs typeface="Symath"/>
              </a:rPr>
              <a:t> </a:t>
            </a:r>
            <a:endParaRPr lang="en-US" sz="8000" dirty="0">
              <a:cs typeface="Symath"/>
            </a:endParaRPr>
          </a:p>
          <a:p>
            <a:pPr>
              <a:buNone/>
            </a:pPr>
            <a:endParaRPr lang="en-US" sz="8000" dirty="0" smtClean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Why is this not a good way to record a length?</a:t>
            </a:r>
          </a:p>
          <a:p>
            <a:pPr marL="82296" indent="0">
              <a:buNone/>
            </a:pPr>
            <a:endParaRPr lang="en-CA" sz="8000" dirty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        21 cm   </a:t>
            </a:r>
            <a:r>
              <a:rPr lang="en-US" sz="8000" dirty="0">
                <a:cs typeface="Symath"/>
              </a:rPr>
              <a:t>± 0.2 </a:t>
            </a:r>
            <a:r>
              <a:rPr lang="en-US" sz="8000" dirty="0" smtClean="0">
                <a:cs typeface="Symath"/>
              </a:rPr>
              <a:t>cm</a:t>
            </a:r>
          </a:p>
          <a:p>
            <a:pPr marL="82296" indent="0">
              <a:buNone/>
            </a:pPr>
            <a:endParaRPr lang="en-CA" sz="8000" dirty="0">
              <a:cs typeface="Symath"/>
            </a:endParaRPr>
          </a:p>
          <a:p>
            <a:pPr marL="82296" indent="0">
              <a:buNone/>
            </a:pPr>
            <a:r>
              <a:rPr lang="en-CA" sz="8000" dirty="0" smtClean="0">
                <a:cs typeface="Symath"/>
              </a:rPr>
              <a:t>Answer: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616" y="188640"/>
            <a:ext cx="7848872" cy="4104456"/>
          </a:xfrm>
        </p:spPr>
        <p:txBody>
          <a:bodyPr>
            <a:normAutofit fontScale="25000" lnSpcReduction="20000"/>
          </a:bodyPr>
          <a:lstStyle/>
          <a:p>
            <a:r>
              <a:rPr lang="en-US" sz="11200" b="1" u="sng" dirty="0" smtClean="0"/>
              <a:t>Significant Digits: </a:t>
            </a:r>
          </a:p>
          <a:p>
            <a:endParaRPr lang="en-US" sz="5900" b="1" u="sng" dirty="0" smtClean="0"/>
          </a:p>
          <a:p>
            <a:r>
              <a:rPr lang="en-US" sz="8600" b="1" dirty="0" smtClean="0"/>
              <a:t>All digits in a measured number are significant EXCEPT:</a:t>
            </a:r>
          </a:p>
          <a:p>
            <a:endParaRPr lang="en-US" sz="3200" dirty="0" smtClean="0"/>
          </a:p>
          <a:p>
            <a:r>
              <a:rPr lang="en-US" sz="8600" b="1" i="1" dirty="0" smtClean="0">
                <a:latin typeface="Calibri"/>
                <a:cs typeface="Calibri"/>
              </a:rPr>
              <a:t>●</a:t>
            </a:r>
            <a:r>
              <a:rPr lang="en-US" sz="8600" b="1" i="1" dirty="0" smtClean="0"/>
              <a:t>leading zeros for decimal numbers (as they are placeholders)</a:t>
            </a:r>
            <a:endParaRPr lang="en-US" sz="8600" dirty="0" smtClean="0"/>
          </a:p>
          <a:p>
            <a:r>
              <a:rPr lang="en-US" sz="8600" b="1" i="1" dirty="0" smtClean="0"/>
              <a:t>    </a:t>
            </a:r>
          </a:p>
          <a:p>
            <a:r>
              <a:rPr lang="en-US" sz="8600" b="1" i="1" dirty="0" smtClean="0">
                <a:latin typeface="Calibri"/>
                <a:cs typeface="Calibri"/>
              </a:rPr>
              <a:t>●</a:t>
            </a:r>
            <a:r>
              <a:rPr lang="en-US" sz="8600" b="1" i="1" dirty="0" smtClean="0"/>
              <a:t>trailing zeros for whole numbers (as they are placeholders)</a:t>
            </a:r>
          </a:p>
          <a:p>
            <a:endParaRPr lang="en-US" sz="4000" dirty="0"/>
          </a:p>
          <a:p>
            <a:r>
              <a:rPr lang="en-US" sz="11200" b="1" dirty="0" smtClean="0"/>
              <a:t>Counted Values are considered EXACT (infinite significant digits)</a:t>
            </a:r>
          </a:p>
          <a:p>
            <a:endParaRPr lang="en-US" sz="11200" b="1" dirty="0" smtClean="0"/>
          </a:p>
          <a:p>
            <a:r>
              <a:rPr lang="en-US" sz="6200" dirty="0" smtClean="0"/>
              <a:t> </a:t>
            </a:r>
            <a:r>
              <a:rPr lang="en-US" sz="11200" u="sng" dirty="0" smtClean="0"/>
              <a:t>Examples:</a:t>
            </a:r>
            <a:endParaRPr lang="en-US" sz="6200" dirty="0" smtClean="0"/>
          </a:p>
          <a:p>
            <a:r>
              <a:rPr lang="en-US" sz="6200" dirty="0" smtClean="0"/>
              <a:t>		</a:t>
            </a:r>
          </a:p>
          <a:p>
            <a:r>
              <a:rPr lang="en-US" dirty="0" smtClean="0"/>
              <a:t>		</a:t>
            </a:r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15816" y="352743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16.05 kg : 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9034" y="4202744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170 m  : 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7908" y="4878058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60.000 mL : 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8405" y="5510794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30 students: 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7908" y="6037580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1.0025 g: ________________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128" y="311160"/>
            <a:ext cx="7848872" cy="2109728"/>
          </a:xfrm>
        </p:spPr>
        <p:txBody>
          <a:bodyPr>
            <a:normAutofit/>
          </a:bodyPr>
          <a:lstStyle/>
          <a:p>
            <a:r>
              <a:rPr lang="en-US" sz="4800" dirty="0" smtClean="0"/>
              <a:t>Practice: How many sig digs?</a:t>
            </a:r>
            <a:endParaRPr lang="en-US" sz="4800" dirty="0"/>
          </a:p>
        </p:txBody>
      </p:sp>
      <p:sp>
        <p:nvSpPr>
          <p:cNvPr id="4" name="TextBox 3"/>
          <p:cNvSpPr txBox="1"/>
          <p:nvPr/>
        </p:nvSpPr>
        <p:spPr>
          <a:xfrm>
            <a:off x="1653176" y="1268741"/>
            <a:ext cx="69798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25.00 </a:t>
            </a:r>
            <a:r>
              <a:rPr lang="en-US" sz="4000" b="1" dirty="0"/>
              <a:t>c</a:t>
            </a:r>
            <a:r>
              <a:rPr lang="en-US" sz="4000" b="1" dirty="0" smtClean="0"/>
              <a:t>m </a:t>
            </a:r>
            <a:r>
              <a:rPr lang="en-US" sz="4000" b="1" dirty="0" smtClean="0"/>
              <a:t>: 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34900" y="2069078"/>
            <a:ext cx="750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0.00350 g </a:t>
            </a:r>
            <a:r>
              <a:rPr lang="en-US" sz="3600" b="1" dirty="0" smtClean="0"/>
              <a:t>m  : 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746" y="2921649"/>
            <a:ext cx="7689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Conversion: 100 cm = 1 m: _______</a:t>
            </a:r>
            <a:endParaRPr lang="en-US" sz="3600" b="1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1657790" y="3885172"/>
            <a:ext cx="6658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150 L : </a:t>
            </a:r>
            <a:r>
              <a:rPr lang="en-US" sz="3600" b="1" dirty="0" smtClean="0"/>
              <a:t>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8533" y="4848695"/>
            <a:ext cx="7602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1.370 x 10 </a:t>
            </a:r>
            <a:r>
              <a:rPr lang="en-US" sz="3600" b="1" baseline="30000" dirty="0" smtClean="0"/>
              <a:t>3</a:t>
            </a:r>
            <a:r>
              <a:rPr lang="en-US" sz="3600" b="1" dirty="0" smtClean="0"/>
              <a:t> kg : </a:t>
            </a:r>
            <a:r>
              <a:rPr lang="en-US" sz="3600" b="1" dirty="0" smtClean="0"/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98099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660" y="0"/>
            <a:ext cx="7498080" cy="1143000"/>
          </a:xfrm>
        </p:spPr>
        <p:txBody>
          <a:bodyPr/>
          <a:lstStyle/>
          <a:p>
            <a:r>
              <a:rPr lang="en-CA" dirty="0" smtClean="0"/>
              <a:t>Weakest Link Rules: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5660" y="836712"/>
            <a:ext cx="7498080" cy="4224536"/>
          </a:xfrm>
        </p:spPr>
        <p:txBody>
          <a:bodyPr/>
          <a:lstStyle/>
          <a:p>
            <a:r>
              <a:rPr lang="en-CA" dirty="0" smtClean="0"/>
              <a:t>When </a:t>
            </a:r>
            <a:r>
              <a:rPr lang="en-CA" b="1" u="sng" dirty="0" smtClean="0"/>
              <a:t>multiplying/dividing </a:t>
            </a:r>
            <a:r>
              <a:rPr lang="en-CA" dirty="0" smtClean="0"/>
              <a:t>numbers keep the LOWEST number of Significant </a:t>
            </a:r>
            <a:r>
              <a:rPr lang="en-CA" dirty="0" smtClean="0"/>
              <a:t>Digits</a:t>
            </a:r>
            <a:endParaRPr lang="en-CA" dirty="0"/>
          </a:p>
          <a:p>
            <a:r>
              <a:rPr lang="en-CA" dirty="0" err="1" smtClean="0"/>
              <a:t>Eg</a:t>
            </a:r>
            <a:r>
              <a:rPr lang="en-CA" dirty="0" smtClean="0"/>
              <a:t>.  2.4 cm  x 1.563 cm = 3.7512 cm</a:t>
            </a:r>
            <a:r>
              <a:rPr lang="en-CA" baseline="30000" dirty="0" smtClean="0"/>
              <a:t>2</a:t>
            </a:r>
            <a:endParaRPr lang="en-US" baseline="30000" dirty="0"/>
          </a:p>
        </p:txBody>
      </p:sp>
      <p:sp>
        <p:nvSpPr>
          <p:cNvPr id="4" name="TextBox 3"/>
          <p:cNvSpPr txBox="1"/>
          <p:nvPr/>
        </p:nvSpPr>
        <p:spPr>
          <a:xfrm>
            <a:off x="5940152" y="3068960"/>
            <a:ext cx="3203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____________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30926" y="3718030"/>
            <a:ext cx="7498080" cy="4224536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CA" dirty="0" smtClean="0"/>
              <a:t>When </a:t>
            </a:r>
            <a:r>
              <a:rPr lang="en-CA" b="1" u="sng" dirty="0" smtClean="0"/>
              <a:t>adding/subtracting</a:t>
            </a:r>
            <a:r>
              <a:rPr lang="en-CA" dirty="0" smtClean="0"/>
              <a:t> numbers keep the LOWEST number of decimal </a:t>
            </a:r>
            <a:r>
              <a:rPr lang="en-CA" dirty="0" smtClean="0"/>
              <a:t>places</a:t>
            </a:r>
            <a:endParaRPr lang="en-CA" dirty="0" smtClean="0"/>
          </a:p>
          <a:p>
            <a:r>
              <a:rPr lang="en-CA" dirty="0" err="1" smtClean="0"/>
              <a:t>Eg</a:t>
            </a:r>
            <a:r>
              <a:rPr lang="en-CA" dirty="0" smtClean="0"/>
              <a:t>.  1.25 m + 3.865 m + 12 m= 17.115 m </a:t>
            </a:r>
            <a:endParaRPr lang="en-CA" baseline="30000" dirty="0" smtClean="0"/>
          </a:p>
          <a:p>
            <a:pPr marL="82296" indent="0">
              <a:buFont typeface="Wingdings 2"/>
              <a:buNone/>
            </a:pPr>
            <a:endParaRPr lang="en-US" baseline="30000" dirty="0"/>
          </a:p>
        </p:txBody>
      </p:sp>
      <p:sp>
        <p:nvSpPr>
          <p:cNvPr id="6" name="TextBox 5"/>
          <p:cNvSpPr txBox="1"/>
          <p:nvPr/>
        </p:nvSpPr>
        <p:spPr>
          <a:xfrm>
            <a:off x="5968858" y="5978687"/>
            <a:ext cx="3203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____________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39752" y="3084925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Should be rounded to: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35456" y="5950278"/>
            <a:ext cx="3733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 smtClean="0">
                <a:solidFill>
                  <a:srgbClr val="FF0000"/>
                </a:solidFill>
              </a:rPr>
              <a:t>Should be rounded to: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6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Conversions:  Cancel units!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>
              <a:buAutoNum type="arabicParenR"/>
            </a:pPr>
            <a:r>
              <a:rPr lang="en-CA" dirty="0" smtClean="0"/>
              <a:t>25.6 </a:t>
            </a:r>
            <a:r>
              <a:rPr lang="en-CA" dirty="0" err="1" smtClean="0"/>
              <a:t>Gg</a:t>
            </a:r>
            <a:r>
              <a:rPr lang="en-CA" dirty="0" smtClean="0"/>
              <a:t> = ?  Kg</a:t>
            </a:r>
          </a:p>
          <a:p>
            <a:pPr marL="596646" indent="-514350">
              <a:buAutoNum type="arabicParenR"/>
            </a:pPr>
            <a:endParaRPr lang="en-CA" dirty="0"/>
          </a:p>
          <a:p>
            <a:pPr marL="596646" indent="-514350">
              <a:buAutoNum type="arabicParenR"/>
            </a:pPr>
            <a:endParaRPr lang="en-CA" dirty="0" smtClean="0"/>
          </a:p>
          <a:p>
            <a:pPr marL="596646" indent="-514350">
              <a:buAutoNum type="arabicParenR"/>
            </a:pPr>
            <a:endParaRPr lang="en-CA" dirty="0"/>
          </a:p>
          <a:p>
            <a:pPr marL="596646" indent="-514350">
              <a:buAutoNum type="arabicParenR"/>
            </a:pPr>
            <a:r>
              <a:rPr lang="en-CA" dirty="0" smtClean="0"/>
              <a:t>0.0035 cm</a:t>
            </a:r>
            <a:r>
              <a:rPr lang="en-CA" baseline="30000" dirty="0" smtClean="0"/>
              <a:t>2</a:t>
            </a:r>
            <a:r>
              <a:rPr lang="en-CA" dirty="0" smtClean="0"/>
              <a:t> =  ? mm</a:t>
            </a:r>
            <a:r>
              <a:rPr lang="en-CA" baseline="30000" dirty="0" smtClean="0"/>
              <a:t>2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904220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Conversions:  Cancel units!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CA" dirty="0" smtClean="0"/>
              <a:t>3)     75.0 km/h =   ? m/s</a:t>
            </a:r>
          </a:p>
          <a:p>
            <a:pPr marL="596646" indent="-514350">
              <a:buAutoNum type="arabicParenR"/>
            </a:pPr>
            <a:endParaRPr lang="en-CA" dirty="0"/>
          </a:p>
          <a:p>
            <a:pPr marL="596646" indent="-514350">
              <a:buAutoNum type="arabicParenR"/>
            </a:pPr>
            <a:endParaRPr lang="en-CA" dirty="0" smtClean="0"/>
          </a:p>
          <a:p>
            <a:pPr marL="82296" indent="0">
              <a:buNone/>
            </a:pPr>
            <a:endParaRPr lang="en-CA" dirty="0" smtClean="0"/>
          </a:p>
          <a:p>
            <a:pPr marL="82296" indent="0">
              <a:buNone/>
            </a:pPr>
            <a:r>
              <a:rPr lang="en-CA" dirty="0" smtClean="0"/>
              <a:t>4)  1.3 years =   ? seconds</a:t>
            </a: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41802972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553</TotalTime>
  <Words>373</Words>
  <Application>Microsoft Office PowerPoint</Application>
  <PresentationFormat>On-screen Show (4:3)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Gill Sans MT</vt:lpstr>
      <vt:lpstr>Symath</vt:lpstr>
      <vt:lpstr>Symbol</vt:lpstr>
      <vt:lpstr>Verdana</vt:lpstr>
      <vt:lpstr>Wingdings 2</vt:lpstr>
      <vt:lpstr>Solstice</vt:lpstr>
      <vt:lpstr>Measurement Principles Recap</vt:lpstr>
      <vt:lpstr>Measurement Accuracy versus Precision</vt:lpstr>
      <vt:lpstr>Measurement uncertainty and Significant  digits</vt:lpstr>
      <vt:lpstr> </vt:lpstr>
      <vt:lpstr> </vt:lpstr>
      <vt:lpstr>Weakest Link Rules:</vt:lpstr>
      <vt:lpstr>Conversions:  Cancel units!</vt:lpstr>
      <vt:lpstr>Conversions:  Cancel units!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Principles</dc:title>
  <dc:creator>PeelUser</dc:creator>
  <cp:lastModifiedBy>Ryan, Linda</cp:lastModifiedBy>
  <cp:revision>30</cp:revision>
  <cp:lastPrinted>2019-02-01T00:15:24Z</cp:lastPrinted>
  <dcterms:created xsi:type="dcterms:W3CDTF">2010-09-08T15:03:02Z</dcterms:created>
  <dcterms:modified xsi:type="dcterms:W3CDTF">2019-02-01T01:39:49Z</dcterms:modified>
</cp:coreProperties>
</file>