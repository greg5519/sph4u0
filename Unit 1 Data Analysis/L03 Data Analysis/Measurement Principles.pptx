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handoutMasterIdLst>
    <p:handoutMasterId r:id="rId11"/>
  </p:handoutMasterIdLst>
  <p:sldIdLst>
    <p:sldId id="256" r:id="rId2"/>
    <p:sldId id="261" r:id="rId3"/>
    <p:sldId id="269" r:id="rId4"/>
    <p:sldId id="267" r:id="rId5"/>
    <p:sldId id="259" r:id="rId6"/>
    <p:sldId id="262" r:id="rId7"/>
    <p:sldId id="265" r:id="rId8"/>
    <p:sldId id="266" r:id="rId9"/>
    <p:sldId id="263" r:id="rId10"/>
  </p:sldIdLst>
  <p:sldSz cx="9144000" cy="6858000" type="screen4x3"/>
  <p:notesSz cx="7010400" cy="9296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106" d="100"/>
          <a:sy n="106" d="100"/>
        </p:scale>
        <p:origin x="1158" y="10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970938" y="0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r">
              <a:defRPr sz="1200"/>
            </a:lvl1pPr>
          </a:lstStyle>
          <a:p>
            <a:fld id="{A723AABF-7E82-4ADE-9F2D-057207E9E102}" type="datetimeFigureOut">
              <a:rPr lang="en-US" smtClean="0"/>
              <a:pPr/>
              <a:t>2/4/2019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829967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970938" y="8829967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r">
              <a:defRPr sz="1200"/>
            </a:lvl1pPr>
          </a:lstStyle>
          <a:p>
            <a:fld id="{73EEA2FE-CBE9-4205-94BA-7203B58777F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037689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3"/>
          <p:cNvSpPr>
            <a:spLocks noGrp="1"/>
          </p:cNvSpPr>
          <p:nvPr>
            <p:ph type="ctrTitle"/>
          </p:nvPr>
        </p:nvSpPr>
        <p:spPr>
          <a:xfrm>
            <a:off x="1432560" y="359898"/>
            <a:ext cx="7406640" cy="1472184"/>
          </a:xfrm>
        </p:spPr>
        <p:txBody>
          <a:bodyPr anchor="b"/>
          <a:lstStyle>
            <a:lvl1pPr algn="l">
              <a:defRPr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22" name="Subtitle 21"/>
          <p:cNvSpPr>
            <a:spLocks noGrp="1"/>
          </p:cNvSpPr>
          <p:nvPr>
            <p:ph type="subTitle" idx="1"/>
          </p:nvPr>
        </p:nvSpPr>
        <p:spPr>
          <a:xfrm>
            <a:off x="1432560" y="1850064"/>
            <a:ext cx="7406640" cy="1752600"/>
          </a:xfrm>
        </p:spPr>
        <p:txBody>
          <a:bodyPr tIns="0"/>
          <a:lstStyle>
            <a:lvl1pPr marL="27432" indent="0" algn="l">
              <a:buNone/>
              <a:defRPr sz="2600">
                <a:solidFill>
                  <a:schemeClr val="tx2">
                    <a:shade val="30000"/>
                    <a:satMod val="150000"/>
                  </a:schemeClr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  <a:extLst/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042D675F-0214-4343-9E8B-32E0BA618919}" type="datetimeFigureOut">
              <a:rPr lang="en-US" smtClean="0"/>
              <a:pPr/>
              <a:t>2/4/2019</a:t>
            </a:fld>
            <a:endParaRPr lang="en-US"/>
          </a:p>
        </p:txBody>
      </p:sp>
      <p:sp>
        <p:nvSpPr>
          <p:cNvPr id="20" name="Footer Placeholder 19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73D71EB6-3A2A-4975-90B9-FE34E303659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Oval 7"/>
          <p:cNvSpPr/>
          <p:nvPr/>
        </p:nvSpPr>
        <p:spPr>
          <a:xfrm>
            <a:off x="921433" y="1413802"/>
            <a:ext cx="210312" cy="210312"/>
          </a:xfrm>
          <a:prstGeom prst="ellipse">
            <a:avLst/>
          </a:prstGeom>
          <a:gradFill rotWithShape="1">
            <a:gsLst>
              <a:gs pos="0">
                <a:schemeClr val="accent1">
                  <a:tint val="20000"/>
                  <a:satMod val="450000"/>
                  <a:alpha val="95000"/>
                </a:schemeClr>
              </a:gs>
              <a:gs pos="50000">
                <a:schemeClr val="accent1">
                  <a:tint val="38000"/>
                  <a:satMod val="250000"/>
                  <a:alpha val="90000"/>
                </a:schemeClr>
              </a:gs>
              <a:gs pos="95000">
                <a:schemeClr val="accent1">
                  <a:tint val="75000"/>
                  <a:satMod val="255000"/>
                  <a:alpha val="88000"/>
                </a:schemeClr>
              </a:gs>
              <a:gs pos="100000">
                <a:schemeClr val="accent1">
                  <a:tint val="100000"/>
                  <a:shade val="90000"/>
                  <a:satMod val="255000"/>
                  <a:alpha val="85000"/>
                </a:schemeClr>
              </a:gs>
            </a:gsLst>
            <a:path path="circle">
              <a:fillToRect l="25000" t="12500" r="75000" b="87500"/>
            </a:path>
          </a:gradFill>
          <a:ln w="2000" cap="rnd" cmpd="sng" algn="ctr">
            <a:solidFill>
              <a:schemeClr val="accent1">
                <a:shade val="90000"/>
                <a:satMod val="110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9" name="Oval 8"/>
          <p:cNvSpPr/>
          <p:nvPr/>
        </p:nvSpPr>
        <p:spPr>
          <a:xfrm>
            <a:off x="1157176" y="1345016"/>
            <a:ext cx="64008" cy="64008"/>
          </a:xfrm>
          <a:prstGeom prst="ellipse">
            <a:avLst/>
          </a:prstGeom>
          <a:noFill/>
          <a:ln w="12700" cap="rnd" cmpd="sng" algn="ctr">
            <a:solidFill>
              <a:schemeClr val="accent1">
                <a:shade val="75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042D675F-0214-4343-9E8B-32E0BA618919}" type="datetimeFigureOut">
              <a:rPr lang="en-US" smtClean="0"/>
              <a:pPr/>
              <a:t>2/4/2019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73D71EB6-3A2A-4975-90B9-FE34E303659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282890" y="-54"/>
            <a:ext cx="6858000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8392" y="2600325"/>
            <a:ext cx="6400800" cy="2286000"/>
          </a:xfrm>
        </p:spPr>
        <p:txBody>
          <a:bodyPr anchor="t"/>
          <a:lstStyle>
            <a:lvl1pPr algn="l">
              <a:lnSpc>
                <a:spcPts val="4500"/>
              </a:lnSpc>
              <a:buNone/>
              <a:defRPr sz="4000" b="1" cap="all"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78392" y="1066800"/>
            <a:ext cx="6400800" cy="1509712"/>
          </a:xfrm>
        </p:spPr>
        <p:txBody>
          <a:bodyPr anchor="b"/>
          <a:lstStyle>
            <a:lvl1pPr marL="18288" indent="0">
              <a:lnSpc>
                <a:spcPts val="2300"/>
              </a:lnSpc>
              <a:spcBef>
                <a:spcPts val="0"/>
              </a:spcBef>
              <a:buNone/>
              <a:defRPr sz="2000">
                <a:solidFill>
                  <a:schemeClr val="tx2">
                    <a:shade val="30000"/>
                    <a:satMod val="150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042D675F-0214-4343-9E8B-32E0BA618919}" type="datetimeFigureOut">
              <a:rPr lang="en-US" smtClean="0"/>
              <a:pPr/>
              <a:t>2/4/2019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73D71EB6-3A2A-4975-90B9-FE34E303659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Rectangle 9"/>
          <p:cNvSpPr/>
          <p:nvPr/>
        </p:nvSpPr>
        <p:spPr bwMode="invGray">
          <a:xfrm>
            <a:off x="2286000" y="0"/>
            <a:ext cx="76200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>
            <a:outerShdw blurRad="38550" dist="38000" dir="10800000" algn="tl" rotWithShape="0">
              <a:schemeClr val="bg2">
                <a:shade val="20000"/>
                <a:satMod val="110000"/>
                <a:alpha val="2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8" name="Oval 7"/>
          <p:cNvSpPr/>
          <p:nvPr/>
        </p:nvSpPr>
        <p:spPr>
          <a:xfrm>
            <a:off x="2172321" y="2814656"/>
            <a:ext cx="210312" cy="210312"/>
          </a:xfrm>
          <a:prstGeom prst="ellipse">
            <a:avLst/>
          </a:prstGeom>
          <a:gradFill rotWithShape="1">
            <a:gsLst>
              <a:gs pos="0">
                <a:schemeClr val="accent1">
                  <a:tint val="20000"/>
                  <a:satMod val="450000"/>
                  <a:alpha val="95000"/>
                </a:schemeClr>
              </a:gs>
              <a:gs pos="50000">
                <a:schemeClr val="accent1">
                  <a:tint val="38000"/>
                  <a:satMod val="250000"/>
                  <a:alpha val="90000"/>
                </a:schemeClr>
              </a:gs>
              <a:gs pos="95000">
                <a:schemeClr val="accent1">
                  <a:tint val="75000"/>
                  <a:satMod val="255000"/>
                  <a:alpha val="88000"/>
                </a:schemeClr>
              </a:gs>
              <a:gs pos="100000">
                <a:schemeClr val="accent1">
                  <a:tint val="100000"/>
                  <a:shade val="90000"/>
                  <a:satMod val="255000"/>
                  <a:alpha val="85000"/>
                </a:schemeClr>
              </a:gs>
            </a:gsLst>
            <a:path path="circle">
              <a:fillToRect l="25000" t="12500" r="75000" b="87500"/>
            </a:path>
          </a:gradFill>
          <a:ln w="2000" cap="rnd" cmpd="sng" algn="ctr">
            <a:solidFill>
              <a:schemeClr val="accent1">
                <a:shade val="90000"/>
                <a:satMod val="110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9" name="Oval 8"/>
          <p:cNvSpPr/>
          <p:nvPr/>
        </p:nvSpPr>
        <p:spPr>
          <a:xfrm>
            <a:off x="2408064" y="2745870"/>
            <a:ext cx="64008" cy="64008"/>
          </a:xfrm>
          <a:prstGeom prst="ellipse">
            <a:avLst/>
          </a:prstGeom>
          <a:noFill/>
          <a:ln w="12700" cap="rnd" cmpd="sng" algn="ctr">
            <a:solidFill>
              <a:schemeClr val="accent1">
                <a:shade val="75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35608" y="274320"/>
            <a:ext cx="7498080" cy="1143000"/>
          </a:xfrm>
        </p:spPr>
        <p:txBody>
          <a:bodyPr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35608" y="1524000"/>
            <a:ext cx="3657600" cy="466344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276088" y="1524000"/>
            <a:ext cx="3657600" cy="466344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042D675F-0214-4343-9E8B-32E0BA618919}" type="datetimeFigureOut">
              <a:rPr lang="en-US" smtClean="0"/>
              <a:pPr/>
              <a:t>2/4/2019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73D71EB6-3A2A-4975-90B9-FE34E303659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160336"/>
            <a:ext cx="8229600" cy="1143000"/>
          </a:xfrm>
        </p:spPr>
        <p:txBody>
          <a:bodyPr anchor="ctr"/>
          <a:lstStyle>
            <a:lvl1pPr algn="ctr">
              <a:defRPr sz="4500" b="1" cap="none" baseline="0"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328278"/>
            <a:ext cx="4023360" cy="640080"/>
          </a:xfrm>
          <a:solidFill>
            <a:schemeClr val="bg1"/>
          </a:solidFill>
          <a:ln w="10795">
            <a:solidFill>
              <a:schemeClr val="bg1"/>
            </a:solidFill>
            <a:miter lim="800000"/>
          </a:ln>
        </p:spPr>
        <p:txBody>
          <a:bodyPr anchor="ctr"/>
          <a:lstStyle>
            <a:lvl1pPr marL="64008" indent="0" algn="l">
              <a:lnSpc>
                <a:spcPct val="100000"/>
              </a:lnSpc>
              <a:spcBef>
                <a:spcPts val="100"/>
              </a:spcBef>
              <a:buNone/>
              <a:defRPr sz="1900" b="0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63440" y="328278"/>
            <a:ext cx="4023360" cy="640080"/>
          </a:xfrm>
          <a:solidFill>
            <a:schemeClr val="bg1"/>
          </a:solidFill>
          <a:ln w="10795">
            <a:solidFill>
              <a:schemeClr val="bg1"/>
            </a:solidFill>
            <a:miter lim="800000"/>
          </a:ln>
        </p:spPr>
        <p:txBody>
          <a:bodyPr anchor="ctr"/>
          <a:lstStyle>
            <a:lvl1pPr marL="64008" indent="0" algn="l">
              <a:lnSpc>
                <a:spcPct val="100000"/>
              </a:lnSpc>
              <a:spcBef>
                <a:spcPts val="100"/>
              </a:spcBef>
              <a:buNone/>
              <a:defRPr sz="1900" b="0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969336"/>
            <a:ext cx="4023360" cy="4114800"/>
          </a:xfrm>
          <a:ln w="10795">
            <a:solidFill>
              <a:schemeClr val="bg1"/>
            </a:solidFill>
            <a:prstDash val="dash"/>
            <a:miter lim="800000"/>
          </a:ln>
        </p:spPr>
        <p:txBody>
          <a:bodyPr/>
          <a:lstStyle>
            <a:lvl1pPr marL="393192" indent="-274320">
              <a:lnSpc>
                <a:spcPct val="100000"/>
              </a:lnSpc>
              <a:spcBef>
                <a:spcPts val="700"/>
              </a:spcBef>
              <a:defRPr sz="2400"/>
            </a:lvl1pPr>
            <a:lvl2pPr>
              <a:lnSpc>
                <a:spcPct val="100000"/>
              </a:lnSpc>
              <a:spcBef>
                <a:spcPts val="700"/>
              </a:spcBef>
              <a:defRPr sz="2000"/>
            </a:lvl2pPr>
            <a:lvl3pPr>
              <a:lnSpc>
                <a:spcPct val="100000"/>
              </a:lnSpc>
              <a:spcBef>
                <a:spcPts val="700"/>
              </a:spcBef>
              <a:defRPr sz="1800"/>
            </a:lvl3pPr>
            <a:lvl4pPr>
              <a:lnSpc>
                <a:spcPct val="100000"/>
              </a:lnSpc>
              <a:spcBef>
                <a:spcPts val="700"/>
              </a:spcBef>
              <a:defRPr sz="1600"/>
            </a:lvl4pPr>
            <a:lvl5pPr>
              <a:lnSpc>
                <a:spcPct val="100000"/>
              </a:lnSpc>
              <a:spcBef>
                <a:spcPts val="700"/>
              </a:spcBef>
              <a:defRPr sz="16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63440" y="969336"/>
            <a:ext cx="4023360" cy="4114800"/>
          </a:xfrm>
          <a:ln w="10795">
            <a:solidFill>
              <a:schemeClr val="bg1"/>
            </a:solidFill>
            <a:prstDash val="dash"/>
            <a:miter lim="800000"/>
          </a:ln>
        </p:spPr>
        <p:txBody>
          <a:bodyPr/>
          <a:lstStyle>
            <a:lvl1pPr marL="393192" indent="-274320">
              <a:lnSpc>
                <a:spcPct val="100000"/>
              </a:lnSpc>
              <a:spcBef>
                <a:spcPts val="700"/>
              </a:spcBef>
              <a:defRPr sz="2400"/>
            </a:lvl1pPr>
            <a:lvl2pPr>
              <a:lnSpc>
                <a:spcPct val="100000"/>
              </a:lnSpc>
              <a:spcBef>
                <a:spcPts val="700"/>
              </a:spcBef>
              <a:defRPr sz="2000"/>
            </a:lvl2pPr>
            <a:lvl3pPr>
              <a:lnSpc>
                <a:spcPct val="100000"/>
              </a:lnSpc>
              <a:spcBef>
                <a:spcPts val="700"/>
              </a:spcBef>
              <a:defRPr sz="1800"/>
            </a:lvl3pPr>
            <a:lvl4pPr>
              <a:lnSpc>
                <a:spcPct val="100000"/>
              </a:lnSpc>
              <a:spcBef>
                <a:spcPts val="700"/>
              </a:spcBef>
              <a:defRPr sz="1600"/>
            </a:lvl4pPr>
            <a:lvl5pPr>
              <a:lnSpc>
                <a:spcPct val="100000"/>
              </a:lnSpc>
              <a:spcBef>
                <a:spcPts val="700"/>
              </a:spcBef>
              <a:defRPr sz="16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042D675F-0214-4343-9E8B-32E0BA618919}" type="datetimeFigureOut">
              <a:rPr lang="en-US" smtClean="0"/>
              <a:pPr/>
              <a:t>2/4/2019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73D71EB6-3A2A-4975-90B9-FE34E303659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35608" y="274320"/>
            <a:ext cx="7498080" cy="1143000"/>
          </a:xfrm>
        </p:spPr>
        <p:txBody>
          <a:bodyPr anchor="ctr"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042D675F-0214-4343-9E8B-32E0BA618919}" type="datetimeFigureOut">
              <a:rPr lang="en-US" smtClean="0"/>
              <a:pPr/>
              <a:t>2/4/2019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73D71EB6-3A2A-4975-90B9-FE34E303659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1014984" y="0"/>
            <a:ext cx="8129016" cy="6858000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042D675F-0214-4343-9E8B-32E0BA618919}" type="datetimeFigureOut">
              <a:rPr lang="en-US" smtClean="0"/>
              <a:pPr/>
              <a:t>2/4/2019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73D71EB6-3A2A-4975-90B9-FE34E303659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Rectangle 5"/>
          <p:cNvSpPr/>
          <p:nvPr/>
        </p:nvSpPr>
        <p:spPr bwMode="invGray">
          <a:xfrm>
            <a:off x="1014984" y="-54"/>
            <a:ext cx="73152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>
            <a:outerShdw blurRad="38550" dist="38000" dir="10800000" algn="tl" rotWithShape="0">
              <a:schemeClr val="bg2">
                <a:shade val="20000"/>
                <a:satMod val="110000"/>
                <a:alpha val="2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16778"/>
            <a:ext cx="3810000" cy="1162050"/>
          </a:xfrm>
          <a:ln>
            <a:noFill/>
          </a:ln>
        </p:spPr>
        <p:txBody>
          <a:bodyPr anchor="b"/>
          <a:lstStyle>
            <a:lvl1pPr algn="l">
              <a:lnSpc>
                <a:spcPts val="2000"/>
              </a:lnSpc>
              <a:buNone/>
              <a:defRPr sz="2200" b="1" cap="all" baseline="0"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457200" y="1406964"/>
            <a:ext cx="3810000" cy="698500"/>
          </a:xfrm>
        </p:spPr>
        <p:txBody>
          <a:bodyPr/>
          <a:lstStyle>
            <a:lvl1pPr marL="45720" indent="0">
              <a:lnSpc>
                <a:spcPct val="100000"/>
              </a:lnSpc>
              <a:spcBef>
                <a:spcPts val="0"/>
              </a:spcBef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457200" y="2133600"/>
            <a:ext cx="8153400" cy="399256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042D675F-0214-4343-9E8B-32E0BA618919}" type="datetimeFigureOut">
              <a:rPr lang="en-US" smtClean="0"/>
              <a:pPr/>
              <a:t>2/4/2019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73D71EB6-3A2A-4975-90B9-FE34E303659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86896" y="1066800"/>
            <a:ext cx="2743200" cy="1981200"/>
          </a:xfrm>
        </p:spPr>
        <p:txBody>
          <a:bodyPr anchor="b">
            <a:noAutofit/>
          </a:bodyPr>
          <a:lstStyle>
            <a:lvl1pPr algn="l">
              <a:buNone/>
              <a:defRPr sz="2100" b="1">
                <a:effectLst/>
              </a:defRPr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042D675F-0214-4343-9E8B-32E0BA618919}" type="datetimeFigureOut">
              <a:rPr lang="en-US" smtClean="0"/>
              <a:pPr/>
              <a:t>2/4/2019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73D71EB6-3A2A-4975-90B9-FE34E303659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762000" y="1066800"/>
            <a:ext cx="4572000" cy="4572000"/>
          </a:xfrm>
          <a:prstGeom prst="rect">
            <a:avLst/>
          </a:prstGeom>
          <a:solidFill>
            <a:srgbClr val="FFFFFF"/>
          </a:solidFill>
          <a:ln w="88900" cap="sq">
            <a:solidFill>
              <a:srgbClr val="FFFFFF"/>
            </a:solidFill>
            <a:miter lim="800000"/>
          </a:ln>
          <a:effectLst>
            <a:outerShdw blurRad="55500" dist="18500" dir="5400000" algn="tl" rotWithShape="0">
              <a:srgbClr val="000000">
                <a:alpha val="3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 contourW="635">
            <a:bevelT w="25400" h="19050"/>
            <a:contourClr>
              <a:srgbClr val="969696"/>
            </a:contourClr>
          </a:sp3d>
        </p:spPr>
        <p:txBody>
          <a:bodyPr lIns="91440" tIns="274320" rtlCol="0" anchor="t">
            <a:normAutofit/>
          </a:bodyPr>
          <a:lstStyle>
            <a:extLst/>
          </a:lstStyle>
          <a:p>
            <a:pPr marL="0" indent="-283464" algn="l" rtl="0" eaLnBrk="1" latinLnBrk="0" hangingPunct="1">
              <a:lnSpc>
                <a:spcPts val="3000"/>
              </a:lnSpc>
              <a:spcBef>
                <a:spcPts val="600"/>
              </a:spcBef>
              <a:buClr>
                <a:schemeClr val="accent1"/>
              </a:buClr>
              <a:buSzPct val="80000"/>
              <a:buFont typeface="Wingdings 2"/>
              <a:buNone/>
            </a:pPr>
            <a:endParaRPr kumimoji="0" lang="en-US" sz="3200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838200" y="1143003"/>
            <a:ext cx="4419600" cy="3514531"/>
          </a:xfrm>
          <a:prstGeom prst="roundRect">
            <a:avLst>
              <a:gd name="adj" fmla="val 783"/>
            </a:avLst>
          </a:prstGeom>
          <a:solidFill>
            <a:schemeClr val="bg2"/>
          </a:solidFill>
          <a:ln w="127000">
            <a:noFill/>
            <a:miter lim="800000"/>
          </a:ln>
          <a:effectLst/>
        </p:spPr>
        <p:txBody>
          <a:bodyPr lIns="91440" tIns="274320" anchor="t"/>
          <a:lstStyle>
            <a:lvl1pPr indent="0">
              <a:buNone/>
              <a:defRPr sz="3200"/>
            </a:lvl1pPr>
            <a:extLst/>
          </a:lstStyle>
          <a:p>
            <a:pPr marL="0" algn="l" eaLnBrk="1" latinLnBrk="0" hangingPunct="1"/>
            <a:r>
              <a:rPr kumimoji="0" lang="en-US" smtClean="0"/>
              <a:t>Click icon to add picture</a:t>
            </a:r>
            <a:endParaRPr kumimoji="0" lang="en-US" dirty="0"/>
          </a:p>
        </p:txBody>
      </p:sp>
      <p:sp>
        <p:nvSpPr>
          <p:cNvPr id="9" name="Flowchart: Process 8"/>
          <p:cNvSpPr/>
          <p:nvPr/>
        </p:nvSpPr>
        <p:spPr>
          <a:xfrm rot="19468671">
            <a:off x="396725" y="954341"/>
            <a:ext cx="685800" cy="204310"/>
          </a:xfrm>
          <a:prstGeom prst="flowChartProcess">
            <a:avLst/>
          </a:prstGeom>
          <a:solidFill>
            <a:srgbClr val="FBFBFB">
              <a:alpha val="45098"/>
            </a:srgbClr>
          </a:solidFill>
          <a:ln w="6350" cap="rnd" cmpd="sng" algn="ctr">
            <a:solidFill>
              <a:srgbClr val="FFFFFF">
                <a:alpha val="100000"/>
              </a:srgbClr>
            </a:solidFill>
            <a:prstDash val="solid"/>
          </a:ln>
          <a:effectLst>
            <a:outerShdw blurRad="25400" dist="25400" dir="3300000" sx="96000" sy="96000" algn="tl" rotWithShape="0">
              <a:schemeClr val="bg2">
                <a:shade val="90000"/>
                <a:satMod val="200000"/>
                <a:alpha val="40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10" name="Flowchart: Process 9"/>
          <p:cNvSpPr/>
          <p:nvPr/>
        </p:nvSpPr>
        <p:spPr>
          <a:xfrm rot="2103354" flipH="1">
            <a:off x="5003667" y="936786"/>
            <a:ext cx="649224" cy="204310"/>
          </a:xfrm>
          <a:prstGeom prst="flowChartProcess">
            <a:avLst/>
          </a:prstGeom>
          <a:solidFill>
            <a:srgbClr val="FBFBFB">
              <a:alpha val="45098"/>
            </a:srgbClr>
          </a:solidFill>
          <a:ln w="6350" cap="rnd" cmpd="sng" algn="ctr">
            <a:solidFill>
              <a:srgbClr val="FFFFFF">
                <a:alpha val="100000"/>
              </a:srgbClr>
            </a:solidFill>
            <a:prstDash val="solid"/>
          </a:ln>
          <a:effectLst>
            <a:outerShdw blurRad="25400" dist="25400" dir="3300000" sx="96000" sy="96000" algn="tl" rotWithShape="0">
              <a:schemeClr val="bg2">
                <a:alpha val="20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8200" y="4800600"/>
            <a:ext cx="4419600" cy="762000"/>
          </a:xfrm>
        </p:spPr>
        <p:txBody>
          <a:bodyPr anchor="ctr"/>
          <a:lstStyle>
            <a:lvl1pPr marL="0" indent="0" algn="l">
              <a:lnSpc>
                <a:spcPts val="1600"/>
              </a:lnSpc>
              <a:spcBef>
                <a:spcPts val="0"/>
              </a:spcBef>
              <a:buNone/>
              <a:defRPr sz="1400">
                <a:solidFill>
                  <a:srgbClr val="777777"/>
                </a:solidFill>
              </a:defRPr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042D675F-0214-4343-9E8B-32E0BA618919}" type="datetimeFigureOut">
              <a:rPr lang="en-US" smtClean="0"/>
              <a:pPr/>
              <a:t>2/4/2019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73D71EB6-3A2A-4975-90B9-FE34E303659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58000" y="274639"/>
            <a:ext cx="1828800" cy="5851525"/>
          </a:xfrm>
        </p:spPr>
        <p:txBody>
          <a:bodyPr vert="eaVert"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3000" y="274640"/>
            <a:ext cx="5562600" cy="5851525"/>
          </a:xfrm>
        </p:spPr>
        <p:txBody>
          <a:bodyPr vert="eaVert"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042D675F-0214-4343-9E8B-32E0BA618919}" type="datetimeFigureOut">
              <a:rPr lang="en-US" smtClean="0"/>
              <a:pPr/>
              <a:t>2/4/2019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73D71EB6-3A2A-4975-90B9-FE34E303659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e 6"/>
          <p:cNvSpPr/>
          <p:nvPr/>
        </p:nvSpPr>
        <p:spPr>
          <a:xfrm>
            <a:off x="-815927" y="-815922"/>
            <a:ext cx="1638887" cy="1638887"/>
          </a:xfrm>
          <a:prstGeom prst="pie">
            <a:avLst>
              <a:gd name="adj1" fmla="val 0"/>
              <a:gd name="adj2" fmla="val 5402120"/>
            </a:avLst>
          </a:prstGeom>
          <a:solidFill>
            <a:schemeClr val="bg2">
              <a:tint val="18000"/>
              <a:satMod val="220000"/>
              <a:alpha val="33000"/>
            </a:schemeClr>
          </a:solidFill>
          <a:ln w="3175" cap="rnd" cmpd="sng" algn="ctr">
            <a:solidFill>
              <a:schemeClr val="bg2">
                <a:shade val="70000"/>
                <a:satMod val="200000"/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8" name="Oval 7"/>
          <p:cNvSpPr/>
          <p:nvPr/>
        </p:nvSpPr>
        <p:spPr>
          <a:xfrm>
            <a:off x="168816" y="21102"/>
            <a:ext cx="1702191" cy="1702191"/>
          </a:xfrm>
          <a:prstGeom prst="ellipse">
            <a:avLst/>
          </a:prstGeom>
          <a:noFill/>
          <a:ln w="27305" cap="rnd" cmpd="sng" algn="ctr">
            <a:solidFill>
              <a:schemeClr val="bg2">
                <a:tint val="45000"/>
                <a:satMod val="325000"/>
                <a:alpha val="100000"/>
              </a:schemeClr>
            </a:solidFill>
            <a:prstDash val="solid"/>
          </a:ln>
          <a:effectLst>
            <a:outerShdw blurRad="25400" dist="25400" dir="5400000" algn="tl" rotWithShape="0">
              <a:schemeClr val="bg2">
                <a:shade val="50000"/>
                <a:satMod val="150000"/>
                <a:alpha val="8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11" name="Donut 10"/>
          <p:cNvSpPr/>
          <p:nvPr/>
        </p:nvSpPr>
        <p:spPr>
          <a:xfrm rot="2315675">
            <a:off x="182881" y="1055077"/>
            <a:ext cx="1125717" cy="1102624"/>
          </a:xfrm>
          <a:prstGeom prst="donut">
            <a:avLst>
              <a:gd name="adj" fmla="val 11833"/>
            </a:avLst>
          </a:prstGeom>
          <a:gradFill rotWithShape="1">
            <a:gsLst>
              <a:gs pos="0">
                <a:schemeClr val="bg2">
                  <a:tint val="10000"/>
                  <a:shade val="99000"/>
                  <a:satMod val="355000"/>
                  <a:alpha val="70000"/>
                </a:schemeClr>
              </a:gs>
              <a:gs pos="70000">
                <a:schemeClr val="bg2">
                  <a:tint val="6000"/>
                  <a:shade val="100000"/>
                  <a:satMod val="400000"/>
                  <a:alpha val="55000"/>
                </a:schemeClr>
              </a:gs>
              <a:gs pos="100000">
                <a:schemeClr val="bg2">
                  <a:tint val="100000"/>
                  <a:shade val="75000"/>
                  <a:satMod val="370000"/>
                  <a:alpha val="60000"/>
                </a:schemeClr>
              </a:gs>
            </a:gsLst>
            <a:path path="circle">
              <a:fillToRect l="-407500" t="-50000" r="507500" b="150000"/>
            </a:path>
          </a:gradFill>
          <a:ln w="7350" cap="rnd" cmpd="sng" algn="ctr">
            <a:solidFill>
              <a:schemeClr val="bg2">
                <a:shade val="60000"/>
                <a:satMod val="220000"/>
                <a:alpha val="100000"/>
              </a:schemeClr>
            </a:solidFill>
            <a:prstDash val="solid"/>
          </a:ln>
          <a:effectLst>
            <a:outerShdw blurRad="12700" dist="15000" dir="4500000" algn="tl" rotWithShape="0">
              <a:schemeClr val="bg2">
                <a:shade val="10000"/>
                <a:satMod val="200000"/>
                <a:alpha val="3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12" name="Rectangle 11"/>
          <p:cNvSpPr/>
          <p:nvPr/>
        </p:nvSpPr>
        <p:spPr>
          <a:xfrm>
            <a:off x="1012873" y="-54"/>
            <a:ext cx="8131127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5" name="Title Placeholder 4"/>
          <p:cNvSpPr>
            <a:spLocks noGrp="1"/>
          </p:cNvSpPr>
          <p:nvPr>
            <p:ph type="title"/>
          </p:nvPr>
        </p:nvSpPr>
        <p:spPr>
          <a:xfrm>
            <a:off x="1435608" y="274638"/>
            <a:ext cx="7498080" cy="1143000"/>
          </a:xfrm>
          <a:prstGeom prst="rect">
            <a:avLst/>
          </a:prstGeom>
        </p:spPr>
        <p:txBody>
          <a:bodyPr anchor="ctr">
            <a:normAutofit/>
          </a:bodyPr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9" name="Text Placeholder 8"/>
          <p:cNvSpPr>
            <a:spLocks noGrp="1"/>
          </p:cNvSpPr>
          <p:nvPr>
            <p:ph type="body" idx="1"/>
          </p:nvPr>
        </p:nvSpPr>
        <p:spPr>
          <a:xfrm>
            <a:off x="1435608" y="1447800"/>
            <a:ext cx="7498080" cy="4800600"/>
          </a:xfrm>
          <a:prstGeom prst="rect">
            <a:avLst/>
          </a:prstGeom>
        </p:spPr>
        <p:txBody>
          <a:bodyPr>
            <a:normAutofit/>
          </a:bodyPr>
          <a:lstStyle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24" name="Date Placeholder 23"/>
          <p:cNvSpPr>
            <a:spLocks noGrp="1"/>
          </p:cNvSpPr>
          <p:nvPr>
            <p:ph type="dt" sz="half" idx="2"/>
          </p:nvPr>
        </p:nvSpPr>
        <p:spPr>
          <a:xfrm>
            <a:off x="3581400" y="6305550"/>
            <a:ext cx="2133600" cy="476250"/>
          </a:xfrm>
          <a:prstGeom prst="rect">
            <a:avLst/>
          </a:prstGeom>
        </p:spPr>
        <p:txBody>
          <a:bodyPr anchor="b"/>
          <a:lstStyle>
            <a:lvl1pPr algn="r" eaLnBrk="1" latinLnBrk="0" hangingPunct="1">
              <a:defRPr kumimoji="0" sz="1200">
                <a:solidFill>
                  <a:schemeClr val="bg2">
                    <a:shade val="50000"/>
                    <a:satMod val="200000"/>
                  </a:schemeClr>
                </a:solidFill>
              </a:defRPr>
            </a:lvl1pPr>
            <a:extLst/>
          </a:lstStyle>
          <a:p>
            <a:fld id="{042D675F-0214-4343-9E8B-32E0BA618919}" type="datetimeFigureOut">
              <a:rPr lang="en-US" smtClean="0"/>
              <a:pPr/>
              <a:t>2/4/2019</a:t>
            </a:fld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3"/>
          </p:nvPr>
        </p:nvSpPr>
        <p:spPr>
          <a:xfrm>
            <a:off x="5715000" y="6305550"/>
            <a:ext cx="2895600" cy="476250"/>
          </a:xfrm>
          <a:prstGeom prst="rect">
            <a:avLst/>
          </a:prstGeom>
        </p:spPr>
        <p:txBody>
          <a:bodyPr anchor="b"/>
          <a:lstStyle>
            <a:lvl1pPr eaLnBrk="1" latinLnBrk="0" hangingPunct="1">
              <a:defRPr kumimoji="0" sz="1200">
                <a:solidFill>
                  <a:schemeClr val="bg2">
                    <a:shade val="50000"/>
                    <a:satMod val="200000"/>
                  </a:schemeClr>
                </a:solidFill>
                <a:effectLst/>
              </a:defRPr>
            </a:lvl1pPr>
            <a:extLst/>
          </a:lstStyle>
          <a:p>
            <a:endParaRPr lang="en-US"/>
          </a:p>
        </p:txBody>
      </p:sp>
      <p:sp>
        <p:nvSpPr>
          <p:cNvPr id="22" name="Slide Number Placeholder 21"/>
          <p:cNvSpPr>
            <a:spLocks noGrp="1"/>
          </p:cNvSpPr>
          <p:nvPr>
            <p:ph type="sldNum" sz="quarter" idx="4"/>
          </p:nvPr>
        </p:nvSpPr>
        <p:spPr>
          <a:xfrm>
            <a:off x="8613648" y="6305550"/>
            <a:ext cx="457200" cy="476250"/>
          </a:xfrm>
          <a:prstGeom prst="rect">
            <a:avLst/>
          </a:prstGeom>
        </p:spPr>
        <p:txBody>
          <a:bodyPr anchor="b"/>
          <a:lstStyle>
            <a:lvl1pPr algn="ctr" eaLnBrk="1" latinLnBrk="0" hangingPunct="1">
              <a:defRPr kumimoji="0" sz="1200">
                <a:solidFill>
                  <a:schemeClr val="bg2">
                    <a:shade val="50000"/>
                    <a:satMod val="200000"/>
                  </a:schemeClr>
                </a:solidFill>
                <a:effectLst/>
              </a:defRPr>
            </a:lvl1pPr>
            <a:extLst/>
          </a:lstStyle>
          <a:p>
            <a:fld id="{73D71EB6-3A2A-4975-90B9-FE34E303659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5" name="Rectangle 14"/>
          <p:cNvSpPr/>
          <p:nvPr/>
        </p:nvSpPr>
        <p:spPr bwMode="invGray">
          <a:xfrm>
            <a:off x="1014984" y="-54"/>
            <a:ext cx="73152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>
            <a:outerShdw blurRad="38550" dist="38000" dir="10800000" algn="tl" rotWithShape="0">
              <a:schemeClr val="bg2">
                <a:shade val="20000"/>
                <a:satMod val="110000"/>
                <a:alpha val="2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rtl="0" eaLnBrk="1" latinLnBrk="0" hangingPunct="1">
        <a:spcBef>
          <a:spcPct val="0"/>
        </a:spcBef>
        <a:buNone/>
        <a:defRPr kumimoji="0" sz="4300" kern="1200">
          <a:solidFill>
            <a:schemeClr val="tx2">
              <a:satMod val="130000"/>
            </a:schemeClr>
          </a:solidFill>
          <a:effectLst>
            <a:outerShdw blurRad="50000" dist="30000" dir="5400000" algn="tl" rotWithShape="0">
              <a:srgbClr val="000000">
                <a:alpha val="30000"/>
              </a:srgbClr>
            </a:outerShdw>
          </a:effectLst>
          <a:latin typeface="+mj-lt"/>
          <a:ea typeface="+mj-ea"/>
          <a:cs typeface="+mj-cs"/>
        </a:defRPr>
      </a:lvl1pPr>
      <a:extLst/>
    </p:titleStyle>
    <p:bodyStyle>
      <a:lvl1pPr marL="365760" indent="-283464" algn="l" rtl="0" eaLnBrk="1" latinLnBrk="0" hangingPunct="1">
        <a:lnSpc>
          <a:spcPct val="100000"/>
        </a:lnSpc>
        <a:spcBef>
          <a:spcPts val="600"/>
        </a:spcBef>
        <a:buClr>
          <a:schemeClr val="accent1"/>
        </a:buClr>
        <a:buSzPct val="80000"/>
        <a:buFont typeface="Wingdings 2"/>
        <a:buChar char=""/>
        <a:defRPr kumimoji="0"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37744" algn="l" rtl="0" eaLnBrk="1" latinLnBrk="0" hangingPunct="1">
        <a:lnSpc>
          <a:spcPct val="100000"/>
        </a:lnSpc>
        <a:spcBef>
          <a:spcPts val="550"/>
        </a:spcBef>
        <a:buClr>
          <a:schemeClr val="accent1"/>
        </a:buClr>
        <a:buFont typeface="Verdana"/>
        <a:buChar char="◦"/>
        <a:defRPr kumimoji="0"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886968" indent="-228600" algn="l" rtl="0" eaLnBrk="1" latinLnBrk="0" hangingPunct="1">
        <a:lnSpc>
          <a:spcPct val="100000"/>
        </a:lnSpc>
        <a:spcBef>
          <a:spcPct val="20000"/>
        </a:spcBef>
        <a:buClr>
          <a:schemeClr val="accent2"/>
        </a:buClr>
        <a:buFont typeface="Wingdings 2"/>
        <a:buChar char="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173736" algn="l" rtl="0" eaLnBrk="1" latinLnBrk="0" hangingPunct="1">
        <a:lnSpc>
          <a:spcPct val="100000"/>
        </a:lnSpc>
        <a:spcBef>
          <a:spcPct val="20000"/>
        </a:spcBef>
        <a:buClr>
          <a:schemeClr val="accent3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298448" indent="-182880" algn="l" rtl="0" eaLnBrk="1" latinLnBrk="0" hangingPunct="1">
        <a:lnSpc>
          <a:spcPct val="100000"/>
        </a:lnSpc>
        <a:spcBef>
          <a:spcPct val="20000"/>
        </a:spcBef>
        <a:buClr>
          <a:schemeClr val="accent4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508760" indent="-182880" algn="l" rtl="0" eaLnBrk="1" latinLnBrk="0" hangingPunct="1">
        <a:lnSpc>
          <a:spcPct val="100000"/>
        </a:lnSpc>
        <a:spcBef>
          <a:spcPct val="20000"/>
        </a:spcBef>
        <a:buClr>
          <a:schemeClr val="accent5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1719072" indent="-182880" algn="l" rtl="0" eaLnBrk="1" latinLnBrk="0" hangingPunct="1">
        <a:lnSpc>
          <a:spcPct val="100000"/>
        </a:lnSpc>
        <a:spcBef>
          <a:spcPct val="20000"/>
        </a:spcBef>
        <a:buClr>
          <a:schemeClr val="accent6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1920240" indent="-182880" algn="l" rtl="0" eaLnBrk="1" latinLnBrk="0" hangingPunct="1">
        <a:lnSpc>
          <a:spcPct val="100000"/>
        </a:lnSpc>
        <a:spcBef>
          <a:spcPct val="20000"/>
        </a:spcBef>
        <a:buClr>
          <a:schemeClr val="accent6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2130552" indent="-182880" algn="l" rtl="0" eaLnBrk="1" latinLnBrk="0" hangingPunct="1">
        <a:lnSpc>
          <a:spcPct val="100000"/>
        </a:lnSpc>
        <a:spcBef>
          <a:spcPct val="20000"/>
        </a:spcBef>
        <a:buClr>
          <a:schemeClr val="accent6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ctrTitle"/>
          </p:nvPr>
        </p:nvSpPr>
        <p:spPr>
          <a:xfrm>
            <a:off x="1331640" y="404664"/>
            <a:ext cx="7406640" cy="707338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Measurement Principles Recap</a:t>
            </a:r>
            <a:endParaRPr lang="en-US" dirty="0"/>
          </a:p>
        </p:txBody>
      </p:sp>
      <p:sp>
        <p:nvSpPr>
          <p:cNvPr id="2" name="Rectangle 1"/>
          <p:cNvSpPr/>
          <p:nvPr/>
        </p:nvSpPr>
        <p:spPr>
          <a:xfrm>
            <a:off x="1547664" y="1484784"/>
            <a:ext cx="6830576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600" b="1" dirty="0"/>
              <a:t>If you cannot measure it, then it is not science. </a:t>
            </a:r>
            <a:br>
              <a:rPr lang="en-US" sz="3600" b="1" dirty="0"/>
            </a:br>
            <a:r>
              <a:rPr lang="en-US" sz="3600" b="1" dirty="0" smtClean="0"/>
              <a:t>—Lord Kelvin</a:t>
            </a:r>
            <a:endParaRPr lang="en-US" sz="3600" b="1" dirty="0">
              <a:effectLst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1338211" y="3573016"/>
            <a:ext cx="7249481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600" b="1" dirty="0"/>
              <a:t>An experiment is a question which science poses to Nature, and a measurement is the recording of Nature's answer. </a:t>
            </a:r>
            <a:br>
              <a:rPr lang="en-US" sz="3600" b="1" dirty="0"/>
            </a:br>
            <a:r>
              <a:rPr lang="en-US" sz="3600" dirty="0" smtClean="0"/>
              <a:t>— </a:t>
            </a:r>
            <a:r>
              <a:rPr lang="en-US" sz="3600" b="1" dirty="0" smtClean="0"/>
              <a:t>Max Planck</a:t>
            </a:r>
            <a:endParaRPr lang="en-US" sz="3600" b="1" dirty="0">
              <a:effectLst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26089" y="1449284"/>
            <a:ext cx="7498080" cy="940966"/>
          </a:xfrm>
        </p:spPr>
        <p:txBody>
          <a:bodyPr>
            <a:normAutofit/>
          </a:bodyPr>
          <a:lstStyle/>
          <a:p>
            <a:r>
              <a:rPr lang="en-US" sz="3200" u="sng" dirty="0" smtClean="0"/>
              <a:t>Measurement Accuracy versus Precision</a:t>
            </a:r>
            <a:endParaRPr lang="en-US" sz="3200" u="sng" dirty="0"/>
          </a:p>
        </p:txBody>
      </p:sp>
      <p:sp>
        <p:nvSpPr>
          <p:cNvPr id="3" name="TextBox 2"/>
          <p:cNvSpPr txBox="1"/>
          <p:nvPr/>
        </p:nvSpPr>
        <p:spPr>
          <a:xfrm>
            <a:off x="1251662" y="2136840"/>
            <a:ext cx="748311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/>
              <a:t>Accuracy: refers to how closely measurement agrees with the “true” value </a:t>
            </a:r>
            <a:endParaRPr lang="en-US" sz="2400" dirty="0"/>
          </a:p>
        </p:txBody>
      </p:sp>
      <p:sp>
        <p:nvSpPr>
          <p:cNvPr id="5" name="TextBox 4"/>
          <p:cNvSpPr txBox="1"/>
          <p:nvPr/>
        </p:nvSpPr>
        <p:spPr>
          <a:xfrm>
            <a:off x="1251662" y="2967837"/>
            <a:ext cx="748311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/>
              <a:t>Precision : refers to the resolution with which a measurement is </a:t>
            </a:r>
            <a:r>
              <a:rPr lang="en-US" sz="2400" dirty="0"/>
              <a:t>made. For multiple measurements, it can refer to the scatter in the values.  </a:t>
            </a:r>
          </a:p>
          <a:p>
            <a:endParaRPr lang="en-US" sz="2400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6089" y="4221088"/>
            <a:ext cx="7810500" cy="1562100"/>
          </a:xfrm>
          <a:prstGeom prst="rect">
            <a:avLst/>
          </a:prstGeom>
        </p:spPr>
      </p:pic>
      <p:sp>
        <p:nvSpPr>
          <p:cNvPr id="8" name="Title 1"/>
          <p:cNvSpPr txBox="1">
            <a:spLocks/>
          </p:cNvSpPr>
          <p:nvPr/>
        </p:nvSpPr>
        <p:spPr>
          <a:xfrm>
            <a:off x="1043608" y="346229"/>
            <a:ext cx="7498080" cy="940966"/>
          </a:xfrm>
          <a:prstGeom prst="rect">
            <a:avLst/>
          </a:prstGeom>
        </p:spPr>
        <p:txBody>
          <a:bodyPr anchor="ctr">
            <a:noAutofit/>
          </a:bodyPr>
          <a:lstStyle>
            <a:lvl1pPr algn="l" rtl="0" eaLnBrk="1" latinLnBrk="0" hangingPunct="1">
              <a:spcBef>
                <a:spcPct val="0"/>
              </a:spcBef>
              <a:buNone/>
              <a:defRPr kumimoji="0" sz="4300" kern="1200">
                <a:solidFill>
                  <a:schemeClr val="tx2">
                    <a:satMod val="130000"/>
                  </a:schemeClr>
                </a:solidFill>
                <a:effectLst>
                  <a:outerShdw blurRad="50000" dist="30000" dir="5400000" algn="tl" rotWithShape="0">
                    <a:srgbClr val="000000">
                      <a:alpha val="30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  <a:extLst/>
          </a:lstStyle>
          <a:p>
            <a:r>
              <a:rPr lang="en-US" sz="2400" u="sng" dirty="0" smtClean="0"/>
              <a:t>Measurement Error or Uncertainty:</a:t>
            </a:r>
          </a:p>
          <a:p>
            <a:r>
              <a:rPr lang="en-CA" sz="2400" dirty="0" smtClean="0"/>
              <a:t> No measurement is exact!  All measurements have some inherent </a:t>
            </a:r>
            <a:r>
              <a:rPr lang="en-CA" sz="2400" b="1" dirty="0" smtClean="0">
                <a:solidFill>
                  <a:srgbClr val="FF0000"/>
                </a:solidFill>
              </a:rPr>
              <a:t>error or uncertainty</a:t>
            </a:r>
            <a:r>
              <a:rPr lang="en-CA" sz="2400" dirty="0" smtClean="0"/>
              <a:t>. </a:t>
            </a:r>
            <a:endParaRPr lang="en-US" sz="2400" dirty="0"/>
          </a:p>
        </p:txBody>
      </p:sp>
      <p:sp>
        <p:nvSpPr>
          <p:cNvPr id="4" name="TextBox 3"/>
          <p:cNvSpPr txBox="1"/>
          <p:nvPr/>
        </p:nvSpPr>
        <p:spPr>
          <a:xfrm>
            <a:off x="1403648" y="5805264"/>
            <a:ext cx="14401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b="1" dirty="0" smtClean="0">
                <a:solidFill>
                  <a:srgbClr val="FF0000"/>
                </a:solidFill>
              </a:rPr>
              <a:t>Accurate &amp;</a:t>
            </a:r>
          </a:p>
          <a:p>
            <a:r>
              <a:rPr lang="en-CA" b="1" dirty="0" smtClean="0">
                <a:solidFill>
                  <a:srgbClr val="FF0000"/>
                </a:solidFill>
              </a:rPr>
              <a:t>precise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3707904" y="5877272"/>
            <a:ext cx="14401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b="1" dirty="0" smtClean="0">
                <a:solidFill>
                  <a:srgbClr val="FF0000"/>
                </a:solidFill>
              </a:rPr>
              <a:t>Accurate, </a:t>
            </a:r>
          </a:p>
          <a:p>
            <a:r>
              <a:rPr lang="en-CA" b="1" dirty="0" smtClean="0">
                <a:solidFill>
                  <a:srgbClr val="FF0000"/>
                </a:solidFill>
              </a:rPr>
              <a:t>Not precise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508104" y="5877271"/>
            <a:ext cx="172819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b="1" dirty="0" smtClean="0">
                <a:solidFill>
                  <a:srgbClr val="FF0000"/>
                </a:solidFill>
              </a:rPr>
              <a:t>Precise but, </a:t>
            </a:r>
          </a:p>
          <a:p>
            <a:r>
              <a:rPr lang="en-CA" b="1" dirty="0" smtClean="0">
                <a:solidFill>
                  <a:srgbClr val="FF0000"/>
                </a:solidFill>
              </a:rPr>
              <a:t>Not accurate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7308304" y="5842992"/>
            <a:ext cx="172819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b="1" dirty="0" smtClean="0">
                <a:solidFill>
                  <a:srgbClr val="FF0000"/>
                </a:solidFill>
              </a:rPr>
              <a:t>Not accurate,</a:t>
            </a:r>
          </a:p>
          <a:p>
            <a:r>
              <a:rPr lang="en-CA" b="1" dirty="0" smtClean="0">
                <a:solidFill>
                  <a:srgbClr val="FF0000"/>
                </a:solidFill>
              </a:rPr>
              <a:t>Not precise</a:t>
            </a:r>
            <a:endParaRPr lang="en-US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355679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22392" y="116632"/>
            <a:ext cx="7498080" cy="796950"/>
          </a:xfrm>
        </p:spPr>
        <p:txBody>
          <a:bodyPr>
            <a:normAutofit fontScale="90000"/>
          </a:bodyPr>
          <a:lstStyle/>
          <a:p>
            <a:r>
              <a:rPr lang="en-CA" u="sng" dirty="0" smtClean="0"/>
              <a:t>Converting Units: Multiply method</a:t>
            </a:r>
            <a:endParaRPr lang="en-US" u="sng" dirty="0"/>
          </a:p>
        </p:txBody>
      </p:sp>
      <p:sp>
        <p:nvSpPr>
          <p:cNvPr id="4" name="TextBox 3"/>
          <p:cNvSpPr txBox="1"/>
          <p:nvPr/>
        </p:nvSpPr>
        <p:spPr>
          <a:xfrm>
            <a:off x="971600" y="1079158"/>
            <a:ext cx="280831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2800" dirty="0" smtClean="0"/>
              <a:t>25  </a:t>
            </a:r>
            <a:r>
              <a:rPr lang="en-CA" sz="2800" dirty="0" err="1" smtClean="0"/>
              <a:t>Gg</a:t>
            </a:r>
            <a:r>
              <a:rPr lang="en-CA" sz="2800" dirty="0" smtClean="0"/>
              <a:t> =   ?  kg</a:t>
            </a:r>
            <a:endParaRPr lang="en-US" sz="2800" dirty="0"/>
          </a:p>
        </p:txBody>
      </p:sp>
      <p:sp>
        <p:nvSpPr>
          <p:cNvPr id="5" name="TextBox 4"/>
          <p:cNvSpPr txBox="1"/>
          <p:nvPr/>
        </p:nvSpPr>
        <p:spPr>
          <a:xfrm>
            <a:off x="997862" y="3933056"/>
            <a:ext cx="280831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2800" dirty="0" smtClean="0"/>
              <a:t>75 km/h = ? m/s</a:t>
            </a:r>
            <a:endParaRPr lang="en-US" sz="2800" dirty="0"/>
          </a:p>
        </p:txBody>
      </p:sp>
      <p:sp>
        <p:nvSpPr>
          <p:cNvPr id="6" name="TextBox 5"/>
          <p:cNvSpPr txBox="1"/>
          <p:nvPr/>
        </p:nvSpPr>
        <p:spPr>
          <a:xfrm>
            <a:off x="5292080" y="1125280"/>
            <a:ext cx="345638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2800" dirty="0" smtClean="0"/>
              <a:t>0.00086 cm </a:t>
            </a:r>
            <a:r>
              <a:rPr lang="en-CA" sz="2800" baseline="30000" dirty="0" smtClean="0"/>
              <a:t>2</a:t>
            </a:r>
            <a:r>
              <a:rPr lang="en-CA" sz="2800" dirty="0" smtClean="0"/>
              <a:t> = ? mm</a:t>
            </a:r>
            <a:r>
              <a:rPr lang="en-CA" sz="2800" baseline="30000" dirty="0" smtClean="0"/>
              <a:t>2</a:t>
            </a:r>
            <a:endParaRPr lang="en-US" sz="2800" baseline="30000" dirty="0"/>
          </a:p>
        </p:txBody>
      </p:sp>
      <p:sp>
        <p:nvSpPr>
          <p:cNvPr id="8" name="TextBox 7"/>
          <p:cNvSpPr txBox="1"/>
          <p:nvPr/>
        </p:nvSpPr>
        <p:spPr>
          <a:xfrm>
            <a:off x="4788024" y="3933056"/>
            <a:ext cx="424847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2800" dirty="0" smtClean="0"/>
              <a:t>1.4 years =   ? seconds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29595026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Measurement uncertainty and </a:t>
            </a:r>
            <a:br>
              <a:rPr lang="en-US" dirty="0" smtClean="0"/>
            </a:br>
            <a:r>
              <a:rPr lang="en-US" dirty="0" smtClean="0"/>
              <a:t>Significant  digits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Record all certain digits in a measurement plus last estimated or uncertain digit</a:t>
            </a:r>
          </a:p>
          <a:p>
            <a:pPr marL="82296" indent="0">
              <a:buNone/>
            </a:pPr>
            <a:endParaRPr lang="en-US" sz="1000" dirty="0" smtClean="0"/>
          </a:p>
          <a:p>
            <a:r>
              <a:rPr lang="en-US" dirty="0" smtClean="0"/>
              <a:t>Example 1:   A length of   </a:t>
            </a:r>
            <a:r>
              <a:rPr lang="en-US" dirty="0" smtClean="0">
                <a:solidFill>
                  <a:srgbClr val="FF0000"/>
                </a:solidFill>
                <a:cs typeface="Symath"/>
              </a:rPr>
              <a:t>10.2 ± 0.1 cm</a:t>
            </a:r>
          </a:p>
          <a:p>
            <a:pPr>
              <a:buNone/>
            </a:pPr>
            <a:r>
              <a:rPr lang="en-US" sz="2400" dirty="0" smtClean="0">
                <a:cs typeface="Symath"/>
              </a:rPr>
              <a:t>                 -state measurement error (uncertainty)</a:t>
            </a:r>
          </a:p>
          <a:p>
            <a:pPr>
              <a:buNone/>
            </a:pPr>
            <a:r>
              <a:rPr lang="en-US" sz="2400" dirty="0">
                <a:cs typeface="Symath"/>
              </a:rPr>
              <a:t> </a:t>
            </a:r>
            <a:r>
              <a:rPr lang="en-US" sz="2400" dirty="0" smtClean="0">
                <a:cs typeface="Symath"/>
              </a:rPr>
              <a:t>               </a:t>
            </a:r>
            <a:r>
              <a:rPr lang="en-CA" dirty="0" smtClean="0">
                <a:cs typeface="Symath"/>
              </a:rPr>
              <a:t>- </a:t>
            </a:r>
            <a:r>
              <a:rPr lang="en-CA" sz="2400" dirty="0" smtClean="0">
                <a:cs typeface="Symath"/>
              </a:rPr>
              <a:t>the uncertainty should match the </a:t>
            </a:r>
          </a:p>
          <a:p>
            <a:pPr>
              <a:buNone/>
            </a:pPr>
            <a:r>
              <a:rPr lang="en-CA" sz="2400" dirty="0">
                <a:cs typeface="Symath"/>
              </a:rPr>
              <a:t> </a:t>
            </a:r>
            <a:r>
              <a:rPr lang="en-CA" sz="2400" dirty="0" smtClean="0">
                <a:cs typeface="Symath"/>
              </a:rPr>
              <a:t>                        measurement precision</a:t>
            </a:r>
          </a:p>
          <a:p>
            <a:pPr>
              <a:buNone/>
            </a:pPr>
            <a:r>
              <a:rPr lang="en-CA" dirty="0" smtClean="0">
                <a:cs typeface="Symath"/>
              </a:rPr>
              <a:t>Example 2:  A mass of </a:t>
            </a:r>
            <a:r>
              <a:rPr lang="en-CA" dirty="0" smtClean="0">
                <a:solidFill>
                  <a:srgbClr val="FF0000"/>
                </a:solidFill>
                <a:cs typeface="Symath"/>
              </a:rPr>
              <a:t>15.05 g </a:t>
            </a:r>
            <a:r>
              <a:rPr lang="en-US" dirty="0" smtClean="0">
                <a:solidFill>
                  <a:srgbClr val="FF0000"/>
                </a:solidFill>
                <a:cs typeface="Symath"/>
              </a:rPr>
              <a:t>± 0.02 g</a:t>
            </a:r>
          </a:p>
          <a:p>
            <a:r>
              <a:rPr lang="en-US" dirty="0" smtClean="0">
                <a:cs typeface="Symath"/>
              </a:rPr>
              <a:t> </a:t>
            </a:r>
            <a:r>
              <a:rPr lang="en-US" sz="2400" dirty="0" smtClean="0">
                <a:cs typeface="Symath"/>
              </a:rPr>
              <a:t>All of the digits in these measurements are significant!</a:t>
            </a:r>
          </a:p>
          <a:p>
            <a:endParaRPr lang="en-US" dirty="0" smtClean="0">
              <a:cs typeface="Symath"/>
            </a:endParaRPr>
          </a:p>
          <a:p>
            <a:endParaRPr lang="en-US" dirty="0" smtClean="0">
              <a:cs typeface="Symath"/>
            </a:endParaRPr>
          </a:p>
          <a:p>
            <a:endParaRPr lang="en-US" dirty="0" smtClean="0">
              <a:cs typeface="Symath"/>
            </a:endParaRPr>
          </a:p>
          <a:p>
            <a:endParaRPr lang="en-US" dirty="0"/>
          </a:p>
        </p:txBody>
      </p:sp>
      <p:cxnSp>
        <p:nvCxnSpPr>
          <p:cNvPr id="5" name="Straight Arrow Connector 4"/>
          <p:cNvCxnSpPr/>
          <p:nvPr/>
        </p:nvCxnSpPr>
        <p:spPr>
          <a:xfrm rot="5400000" flipH="1" flipV="1">
            <a:off x="7380882" y="3212406"/>
            <a:ext cx="285752" cy="142876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672645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/>
            </a:r>
            <a:br>
              <a:rPr lang="en-US" dirty="0" smtClean="0"/>
            </a:b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15616" y="188640"/>
            <a:ext cx="7848872" cy="4104456"/>
          </a:xfrm>
        </p:spPr>
        <p:txBody>
          <a:bodyPr>
            <a:normAutofit fontScale="25000" lnSpcReduction="20000"/>
          </a:bodyPr>
          <a:lstStyle/>
          <a:p>
            <a:r>
              <a:rPr lang="en-US" sz="11200" b="1" u="sng" dirty="0" smtClean="0"/>
              <a:t>Significant Digits: </a:t>
            </a:r>
          </a:p>
          <a:p>
            <a:endParaRPr lang="en-US" sz="5900" b="1" u="sng" dirty="0" smtClean="0"/>
          </a:p>
          <a:p>
            <a:r>
              <a:rPr lang="en-US" sz="8600" b="1" dirty="0" smtClean="0"/>
              <a:t>All digits in a measured number are significant EXCEPT:</a:t>
            </a:r>
          </a:p>
          <a:p>
            <a:endParaRPr lang="en-US" sz="3200" dirty="0" smtClean="0"/>
          </a:p>
          <a:p>
            <a:r>
              <a:rPr lang="en-US" sz="8600" b="1" i="1" dirty="0" smtClean="0">
                <a:latin typeface="Calibri"/>
                <a:cs typeface="Calibri"/>
              </a:rPr>
              <a:t>●</a:t>
            </a:r>
            <a:r>
              <a:rPr lang="en-US" sz="8600" b="1" i="1" dirty="0" smtClean="0"/>
              <a:t>leading zeros for decimal numbers (as they are placeholders)</a:t>
            </a:r>
            <a:endParaRPr lang="en-US" sz="8600" dirty="0" smtClean="0"/>
          </a:p>
          <a:p>
            <a:r>
              <a:rPr lang="en-US" sz="8600" b="1" i="1" dirty="0" smtClean="0"/>
              <a:t>    </a:t>
            </a:r>
          </a:p>
          <a:p>
            <a:r>
              <a:rPr lang="en-US" sz="8600" b="1" i="1" dirty="0" smtClean="0">
                <a:latin typeface="Calibri"/>
                <a:cs typeface="Calibri"/>
              </a:rPr>
              <a:t>●</a:t>
            </a:r>
            <a:r>
              <a:rPr lang="en-US" sz="8600" b="1" i="1" dirty="0" smtClean="0"/>
              <a:t>trailing zeros for whole numbers (as they are placeholders)</a:t>
            </a:r>
          </a:p>
          <a:p>
            <a:endParaRPr lang="en-US" sz="4000" dirty="0"/>
          </a:p>
          <a:p>
            <a:r>
              <a:rPr lang="en-US" sz="11200" b="1" dirty="0" smtClean="0"/>
              <a:t>Counted Values are considered EXACT (infinite significant digits)</a:t>
            </a:r>
          </a:p>
          <a:p>
            <a:endParaRPr lang="en-US" sz="11200" b="1" dirty="0" smtClean="0"/>
          </a:p>
          <a:p>
            <a:r>
              <a:rPr lang="en-US" sz="6200" dirty="0" smtClean="0"/>
              <a:t> </a:t>
            </a:r>
            <a:r>
              <a:rPr lang="en-US" sz="11200" u="sng" dirty="0" smtClean="0"/>
              <a:t>Examples:</a:t>
            </a:r>
            <a:endParaRPr lang="en-US" sz="6200" dirty="0" smtClean="0"/>
          </a:p>
          <a:p>
            <a:r>
              <a:rPr lang="en-US" sz="6200" dirty="0" smtClean="0"/>
              <a:t>		</a:t>
            </a:r>
          </a:p>
          <a:p>
            <a:r>
              <a:rPr lang="en-US" dirty="0" smtClean="0"/>
              <a:t>		</a:t>
            </a:r>
          </a:p>
          <a:p>
            <a:r>
              <a:rPr lang="en-US" dirty="0" smtClean="0"/>
              <a:t> </a:t>
            </a:r>
          </a:p>
          <a:p>
            <a:endParaRPr lang="en-US" dirty="0" smtClean="0"/>
          </a:p>
          <a:p>
            <a:endParaRPr lang="en-US" dirty="0" smtClean="0"/>
          </a:p>
          <a:p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2915816" y="3527430"/>
            <a:ext cx="532859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 smtClean="0"/>
              <a:t>16.05 kg : ________________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915816" y="4050650"/>
            <a:ext cx="532859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 smtClean="0"/>
              <a:t>0.0255 s  : ________________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900806" y="4573870"/>
            <a:ext cx="532859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 smtClean="0"/>
              <a:t>170 m  : ________________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059832" y="5097090"/>
            <a:ext cx="532859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 smtClean="0"/>
              <a:t>60.000 mL : ________________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979034" y="5620310"/>
            <a:ext cx="532859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 smtClean="0"/>
              <a:t>30 students: ________________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01245" y="6143530"/>
            <a:ext cx="532859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 smtClean="0"/>
              <a:t>1.0025 g: ________________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71428" y="3406815"/>
            <a:ext cx="373302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2800" dirty="0" smtClean="0">
                <a:solidFill>
                  <a:srgbClr val="FF0000"/>
                </a:solidFill>
              </a:rPr>
              <a:t>4 </a:t>
            </a:r>
            <a:r>
              <a:rPr lang="en-CA" sz="2800" dirty="0" err="1" smtClean="0">
                <a:solidFill>
                  <a:srgbClr val="FF0000"/>
                </a:solidFill>
              </a:rPr>
              <a:t>sd</a:t>
            </a:r>
            <a:endParaRPr lang="en-US" sz="2800" dirty="0">
              <a:solidFill>
                <a:srgbClr val="FF0000"/>
              </a:solidFill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4902666" y="4031486"/>
            <a:ext cx="373302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2800" dirty="0" smtClean="0">
                <a:solidFill>
                  <a:srgbClr val="FF0000"/>
                </a:solidFill>
              </a:rPr>
              <a:t>3 </a:t>
            </a:r>
            <a:r>
              <a:rPr lang="en-CA" sz="2800" dirty="0" err="1" smtClean="0">
                <a:solidFill>
                  <a:srgbClr val="FF0000"/>
                </a:solidFill>
              </a:rPr>
              <a:t>sd</a:t>
            </a:r>
            <a:endParaRPr lang="en-US" sz="2800" dirty="0">
              <a:solidFill>
                <a:srgbClr val="FF0000"/>
              </a:solidFill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5040052" y="4545857"/>
            <a:ext cx="373302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2800" dirty="0" smtClean="0">
                <a:solidFill>
                  <a:srgbClr val="FF0000"/>
                </a:solidFill>
              </a:rPr>
              <a:t>2 </a:t>
            </a:r>
            <a:r>
              <a:rPr lang="en-CA" sz="2800" dirty="0" err="1" smtClean="0">
                <a:solidFill>
                  <a:srgbClr val="FF0000"/>
                </a:solidFill>
              </a:rPr>
              <a:t>sd</a:t>
            </a:r>
            <a:endParaRPr lang="en-US" sz="2800" dirty="0">
              <a:solidFill>
                <a:srgbClr val="FF0000"/>
              </a:solidFill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5233497" y="5060228"/>
            <a:ext cx="373302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2800" dirty="0" smtClean="0">
                <a:solidFill>
                  <a:srgbClr val="FF0000"/>
                </a:solidFill>
              </a:rPr>
              <a:t>5 </a:t>
            </a:r>
            <a:r>
              <a:rPr lang="en-CA" sz="2800" dirty="0" err="1" smtClean="0">
                <a:solidFill>
                  <a:srgbClr val="FF0000"/>
                </a:solidFill>
              </a:rPr>
              <a:t>sd</a:t>
            </a:r>
            <a:endParaRPr lang="en-US" sz="2800" dirty="0">
              <a:solidFill>
                <a:srgbClr val="FF0000"/>
              </a:solidFill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5364088" y="5606219"/>
            <a:ext cx="373302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2800" dirty="0" smtClean="0">
                <a:solidFill>
                  <a:srgbClr val="FF0000"/>
                </a:solidFill>
              </a:rPr>
              <a:t>Infinite! (A count)</a:t>
            </a:r>
            <a:endParaRPr lang="en-US" sz="2800" dirty="0">
              <a:solidFill>
                <a:srgbClr val="FF0000"/>
              </a:solidFill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4902666" y="6097819"/>
            <a:ext cx="373302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2800" dirty="0" smtClean="0">
                <a:solidFill>
                  <a:srgbClr val="FF0000"/>
                </a:solidFill>
              </a:rPr>
              <a:t>5 </a:t>
            </a:r>
            <a:r>
              <a:rPr lang="en-CA" sz="2800" dirty="0" err="1" smtClean="0">
                <a:solidFill>
                  <a:srgbClr val="FF0000"/>
                </a:solidFill>
              </a:rPr>
              <a:t>sd</a:t>
            </a:r>
            <a:endParaRPr lang="en-US" sz="2800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9" grpId="0"/>
      <p:bldP spid="20" grpId="0"/>
      <p:bldP spid="21" grpId="0"/>
      <p:bldP spid="22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65660" y="0"/>
            <a:ext cx="7498080" cy="1143000"/>
          </a:xfrm>
        </p:spPr>
        <p:txBody>
          <a:bodyPr/>
          <a:lstStyle/>
          <a:p>
            <a:r>
              <a:rPr lang="en-CA" dirty="0" smtClean="0"/>
              <a:t>Weakest Link Rules: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65660" y="836712"/>
            <a:ext cx="7498080" cy="4224536"/>
          </a:xfrm>
        </p:spPr>
        <p:txBody>
          <a:bodyPr/>
          <a:lstStyle/>
          <a:p>
            <a:r>
              <a:rPr lang="en-CA" dirty="0" smtClean="0"/>
              <a:t>When multiplying/dividing numbers keep the LOWEST number of Significant Digits</a:t>
            </a:r>
          </a:p>
          <a:p>
            <a:endParaRPr lang="en-CA" dirty="0"/>
          </a:p>
          <a:p>
            <a:r>
              <a:rPr lang="en-CA" dirty="0" err="1" smtClean="0"/>
              <a:t>Eg</a:t>
            </a:r>
            <a:r>
              <a:rPr lang="en-CA" dirty="0" smtClean="0"/>
              <a:t>.  2.4 cm  x 1.563 cm = 3.7512 cm</a:t>
            </a:r>
            <a:r>
              <a:rPr lang="en-CA" baseline="30000" dirty="0" smtClean="0"/>
              <a:t>2</a:t>
            </a:r>
            <a:endParaRPr lang="en-US" baseline="30000" dirty="0"/>
          </a:p>
        </p:txBody>
      </p:sp>
      <p:sp>
        <p:nvSpPr>
          <p:cNvPr id="4" name="TextBox 3"/>
          <p:cNvSpPr txBox="1"/>
          <p:nvPr/>
        </p:nvSpPr>
        <p:spPr>
          <a:xfrm>
            <a:off x="5940152" y="3068960"/>
            <a:ext cx="320384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2800" dirty="0" smtClean="0">
                <a:solidFill>
                  <a:srgbClr val="FF0000"/>
                </a:solidFill>
              </a:rPr>
              <a:t>3.8 cm</a:t>
            </a:r>
            <a:r>
              <a:rPr lang="en-CA" sz="2800" baseline="30000" dirty="0" smtClean="0">
                <a:solidFill>
                  <a:srgbClr val="FF0000"/>
                </a:solidFill>
              </a:rPr>
              <a:t>2</a:t>
            </a:r>
            <a:r>
              <a:rPr lang="en-CA" sz="2800" dirty="0" smtClean="0">
                <a:solidFill>
                  <a:srgbClr val="FF0000"/>
                </a:solidFill>
              </a:rPr>
              <a:t> to 2 sig digs</a:t>
            </a:r>
            <a:endParaRPr lang="en-US" sz="2800" dirty="0">
              <a:solidFill>
                <a:srgbClr val="FF0000"/>
              </a:solidFill>
            </a:endParaRPr>
          </a:p>
        </p:txBody>
      </p:sp>
      <p:sp>
        <p:nvSpPr>
          <p:cNvPr id="5" name="Content Placeholder 2"/>
          <p:cNvSpPr txBox="1">
            <a:spLocks/>
          </p:cNvSpPr>
          <p:nvPr/>
        </p:nvSpPr>
        <p:spPr>
          <a:xfrm>
            <a:off x="1430926" y="3718030"/>
            <a:ext cx="7498080" cy="4224536"/>
          </a:xfrm>
          <a:prstGeom prst="rect">
            <a:avLst/>
          </a:prstGeom>
        </p:spPr>
        <p:txBody>
          <a:bodyPr>
            <a:normAutofit/>
          </a:bodyPr>
          <a:lstStyle>
            <a:lvl1pPr marL="365760" indent="-283464" algn="l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accent1"/>
              </a:buClr>
              <a:buSzPct val="80000"/>
              <a:buFont typeface="Wingdings 2"/>
              <a:buChar char=""/>
              <a:defRPr kumimoji="0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40080" indent="-237744" algn="l" rtl="0" eaLnBrk="1" latinLnBrk="0" hangingPunct="1">
              <a:lnSpc>
                <a:spcPct val="100000"/>
              </a:lnSpc>
              <a:spcBef>
                <a:spcPts val="550"/>
              </a:spcBef>
              <a:buClr>
                <a:schemeClr val="accent1"/>
              </a:buClr>
              <a:buFont typeface="Verdana"/>
              <a:buChar char="◦"/>
              <a:defRPr kumimoji="0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86968" indent="-228600" algn="l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2"/>
              </a:buClr>
              <a:buFont typeface="Wingdings 2"/>
              <a:buChar char=""/>
              <a:defRPr kumimoji="0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7280" indent="-173736" algn="l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3"/>
              </a:buClr>
              <a:buFont typeface="Wingdings 2"/>
              <a:buChar char="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98448" indent="-182880" algn="l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4"/>
              </a:buClr>
              <a:buFont typeface="Wingdings 2"/>
              <a:buChar char="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08760" indent="-182880" algn="l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5"/>
              </a:buClr>
              <a:buFont typeface="Wingdings 2"/>
              <a:buChar char="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719072" indent="-182880" algn="l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6"/>
              </a:buClr>
              <a:buFont typeface="Wingdings 2"/>
              <a:buChar char="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920240" indent="-182880" algn="l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6"/>
              </a:buClr>
              <a:buFont typeface="Wingdings 2"/>
              <a:buChar char="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130552" indent="-182880" algn="l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6"/>
              </a:buClr>
              <a:buFont typeface="Wingdings 2"/>
              <a:buChar char="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  <a:extLst/>
          </a:lstStyle>
          <a:p>
            <a:r>
              <a:rPr lang="en-CA" dirty="0" smtClean="0"/>
              <a:t>When adding/subtracting numbers keep the LOWEST number of decimal places</a:t>
            </a:r>
          </a:p>
          <a:p>
            <a:endParaRPr lang="en-CA" dirty="0" smtClean="0"/>
          </a:p>
          <a:p>
            <a:r>
              <a:rPr lang="en-CA" dirty="0" err="1" smtClean="0"/>
              <a:t>Eg</a:t>
            </a:r>
            <a:r>
              <a:rPr lang="en-CA" dirty="0" smtClean="0"/>
              <a:t>.  1.25 m + 3.865 m + 12 m= 17.115 m </a:t>
            </a:r>
            <a:endParaRPr lang="en-CA" baseline="30000" dirty="0" smtClean="0"/>
          </a:p>
          <a:p>
            <a:pPr marL="82296" indent="0">
              <a:buFont typeface="Wingdings 2"/>
              <a:buNone/>
            </a:pPr>
            <a:endParaRPr lang="en-US" baseline="30000" dirty="0"/>
          </a:p>
        </p:txBody>
      </p:sp>
      <p:sp>
        <p:nvSpPr>
          <p:cNvPr id="6" name="TextBox 5"/>
          <p:cNvSpPr txBox="1"/>
          <p:nvPr/>
        </p:nvSpPr>
        <p:spPr>
          <a:xfrm>
            <a:off x="5958698" y="5978687"/>
            <a:ext cx="320384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2800" dirty="0" smtClean="0">
                <a:solidFill>
                  <a:srgbClr val="FF0000"/>
                </a:solidFill>
              </a:rPr>
              <a:t>17 m to 0 </a:t>
            </a:r>
            <a:r>
              <a:rPr lang="en-CA" sz="2800" dirty="0" err="1" smtClean="0">
                <a:solidFill>
                  <a:srgbClr val="FF0000"/>
                </a:solidFill>
              </a:rPr>
              <a:t>dp</a:t>
            </a:r>
            <a:endParaRPr lang="en-US" sz="2800" dirty="0">
              <a:solidFill>
                <a:srgbClr val="FF0000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2411760" y="3131885"/>
            <a:ext cx="373302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2800" dirty="0" smtClean="0">
                <a:solidFill>
                  <a:srgbClr val="FF0000"/>
                </a:solidFill>
              </a:rPr>
              <a:t>Should be rounded to:</a:t>
            </a:r>
            <a:endParaRPr lang="en-US" sz="2800" dirty="0">
              <a:solidFill>
                <a:srgbClr val="FF0000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2555776" y="5950278"/>
            <a:ext cx="373302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2800" dirty="0" smtClean="0">
                <a:solidFill>
                  <a:srgbClr val="FF0000"/>
                </a:solidFill>
              </a:rPr>
              <a:t>Should be rounded to:</a:t>
            </a:r>
            <a:endParaRPr lang="en-US" sz="28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337639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6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CA" i="1" dirty="0" smtClean="0"/>
              <a:t>New Concept</a:t>
            </a:r>
            <a:r>
              <a:rPr lang="en-CA" dirty="0" smtClean="0"/>
              <a:t>: Absolute and Relative Uncertainty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CA" dirty="0" smtClean="0">
                <a:solidFill>
                  <a:srgbClr val="FF0000"/>
                </a:solidFill>
              </a:rPr>
              <a:t>Absolute error </a:t>
            </a:r>
            <a:r>
              <a:rPr lang="en-CA" dirty="0" smtClean="0"/>
              <a:t>is expressed in the units as the measurement</a:t>
            </a:r>
          </a:p>
          <a:p>
            <a:r>
              <a:rPr lang="en-CA" dirty="0"/>
              <a:t> </a:t>
            </a:r>
            <a:r>
              <a:rPr lang="en-CA" dirty="0" smtClean="0"/>
              <a:t>     E.g.   16.5 cm   ±  0.2 cm</a:t>
            </a:r>
          </a:p>
          <a:p>
            <a:r>
              <a:rPr lang="en-CA" dirty="0"/>
              <a:t> </a:t>
            </a:r>
            <a:r>
              <a:rPr lang="en-CA" dirty="0" smtClean="0"/>
              <a:t>             1.265 kg ± 0.005 kg</a:t>
            </a:r>
          </a:p>
          <a:p>
            <a:endParaRPr lang="en-CA" dirty="0"/>
          </a:p>
          <a:p>
            <a:r>
              <a:rPr lang="en-CA" dirty="0" smtClean="0">
                <a:solidFill>
                  <a:srgbClr val="FF0000"/>
                </a:solidFill>
              </a:rPr>
              <a:t>Relative or Percent </a:t>
            </a:r>
            <a:r>
              <a:rPr lang="en-CA" dirty="0">
                <a:solidFill>
                  <a:srgbClr val="FF0000"/>
                </a:solidFill>
              </a:rPr>
              <a:t>error </a:t>
            </a:r>
            <a:r>
              <a:rPr lang="en-CA" dirty="0"/>
              <a:t>is expressed </a:t>
            </a:r>
            <a:r>
              <a:rPr lang="en-CA" dirty="0" smtClean="0"/>
              <a:t>as a percentage of the given measurement</a:t>
            </a:r>
            <a:endParaRPr lang="en-CA" dirty="0"/>
          </a:p>
          <a:p>
            <a:r>
              <a:rPr lang="en-CA" dirty="0"/>
              <a:t>      E.g.   </a:t>
            </a:r>
            <a:r>
              <a:rPr lang="en-CA" dirty="0" smtClean="0"/>
              <a:t>3.8 kg    </a:t>
            </a:r>
            <a:r>
              <a:rPr lang="en-CA" dirty="0"/>
              <a:t>±  </a:t>
            </a:r>
            <a:r>
              <a:rPr lang="en-CA" dirty="0" smtClean="0"/>
              <a:t>2.0 %</a:t>
            </a:r>
            <a:endParaRPr lang="en-CA" dirty="0"/>
          </a:p>
          <a:p>
            <a:r>
              <a:rPr lang="en-CA" dirty="0"/>
              <a:t>              </a:t>
            </a:r>
            <a:r>
              <a:rPr lang="en-CA" dirty="0" smtClean="0"/>
              <a:t>5.6 m     ±  5.0 </a:t>
            </a:r>
            <a:r>
              <a:rPr lang="en-CA" dirty="0"/>
              <a:t>%</a:t>
            </a:r>
          </a:p>
          <a:p>
            <a:endParaRPr lang="en-CA" dirty="0"/>
          </a:p>
          <a:p>
            <a:endParaRPr lang="en-CA" dirty="0" smtClean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836613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CA" dirty="0" smtClean="0"/>
              <a:t>Converting between Absolute and Relative Uncertainty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20292" y="1556792"/>
            <a:ext cx="7498080" cy="4800600"/>
          </a:xfrm>
        </p:spPr>
        <p:txBody>
          <a:bodyPr/>
          <a:lstStyle/>
          <a:p>
            <a:pPr marL="82296" indent="0">
              <a:buNone/>
            </a:pPr>
            <a:r>
              <a:rPr lang="en-CA" dirty="0" smtClean="0"/>
              <a:t>Convert to relative uncertainty: </a:t>
            </a:r>
          </a:p>
          <a:p>
            <a:pPr marL="82296" indent="0">
              <a:buNone/>
            </a:pPr>
            <a:endParaRPr lang="en-CA" dirty="0"/>
          </a:p>
          <a:p>
            <a:pPr marL="82296" indent="0">
              <a:buNone/>
            </a:pPr>
            <a:r>
              <a:rPr lang="en-CA" dirty="0" smtClean="0"/>
              <a:t>8.4 kg </a:t>
            </a:r>
            <a:r>
              <a:rPr lang="en-CA" dirty="0"/>
              <a:t>± </a:t>
            </a:r>
            <a:r>
              <a:rPr lang="en-CA" dirty="0" smtClean="0"/>
              <a:t>0.5 kg      </a:t>
            </a:r>
            <a:endParaRPr lang="en-CA" dirty="0"/>
          </a:p>
          <a:p>
            <a:pPr marL="82296" indent="0">
              <a:buNone/>
            </a:pPr>
            <a:endParaRPr lang="en-CA" dirty="0" smtClean="0"/>
          </a:p>
          <a:p>
            <a:pPr marL="82296" indent="0">
              <a:buNone/>
            </a:pPr>
            <a:r>
              <a:rPr lang="en-CA" dirty="0" smtClean="0"/>
              <a:t>Convert </a:t>
            </a:r>
            <a:r>
              <a:rPr lang="en-CA" dirty="0"/>
              <a:t>to </a:t>
            </a:r>
            <a:r>
              <a:rPr lang="en-CA" dirty="0" smtClean="0"/>
              <a:t>absolute </a:t>
            </a:r>
            <a:r>
              <a:rPr lang="en-CA" dirty="0"/>
              <a:t>uncertainty: </a:t>
            </a:r>
          </a:p>
          <a:p>
            <a:pPr marL="82296" indent="0">
              <a:buNone/>
            </a:pPr>
            <a:endParaRPr lang="en-CA" dirty="0"/>
          </a:p>
          <a:p>
            <a:pPr marL="82296" indent="0">
              <a:buNone/>
            </a:pPr>
            <a:r>
              <a:rPr lang="en-CA" dirty="0" smtClean="0"/>
              <a:t>12.6 m </a:t>
            </a:r>
            <a:r>
              <a:rPr lang="en-CA" dirty="0"/>
              <a:t>±</a:t>
            </a:r>
            <a:r>
              <a:rPr lang="en-CA" dirty="0" smtClean="0"/>
              <a:t> 4%</a:t>
            </a:r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5076056" y="2780928"/>
            <a:ext cx="3350341" cy="95410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CA" sz="2800" dirty="0" smtClean="0">
                <a:solidFill>
                  <a:srgbClr val="FF0000"/>
                </a:solidFill>
              </a:rPr>
              <a:t>Answer:  8.4 kg ± 6% </a:t>
            </a:r>
          </a:p>
          <a:p>
            <a:r>
              <a:rPr lang="en-CA" sz="2800" dirty="0" smtClean="0">
                <a:solidFill>
                  <a:srgbClr val="FF0000"/>
                </a:solidFill>
              </a:rPr>
              <a:t> </a:t>
            </a:r>
            <a:endParaRPr lang="en-CA" sz="2800" dirty="0">
              <a:solidFill>
                <a:srgbClr val="FF0000"/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004048" y="4952656"/>
            <a:ext cx="3218895" cy="95410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CA" sz="2800" dirty="0" smtClean="0">
                <a:solidFill>
                  <a:srgbClr val="FF0000"/>
                </a:solidFill>
              </a:rPr>
              <a:t>Answer:  12.6 ± .5 m</a:t>
            </a:r>
          </a:p>
          <a:p>
            <a:r>
              <a:rPr lang="en-CA" sz="2800" dirty="0" smtClean="0">
                <a:solidFill>
                  <a:srgbClr val="FF0000"/>
                </a:solidFill>
              </a:rPr>
              <a:t> </a:t>
            </a:r>
            <a:endParaRPr lang="en-CA" sz="28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158915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65660" y="0"/>
            <a:ext cx="7498080" cy="1143000"/>
          </a:xfrm>
        </p:spPr>
        <p:txBody>
          <a:bodyPr/>
          <a:lstStyle/>
          <a:p>
            <a:r>
              <a:rPr lang="en-CA" u="sng" dirty="0" smtClean="0"/>
              <a:t>Propagating Errors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65660" y="836712"/>
            <a:ext cx="7678340" cy="4224536"/>
          </a:xfrm>
        </p:spPr>
        <p:txBody>
          <a:bodyPr>
            <a:normAutofit/>
          </a:bodyPr>
          <a:lstStyle/>
          <a:p>
            <a:r>
              <a:rPr lang="en-CA" sz="2400" dirty="0" smtClean="0"/>
              <a:t>When adding or subtracting numbers we </a:t>
            </a:r>
            <a:r>
              <a:rPr lang="en-CA" sz="2400" dirty="0" smtClean="0">
                <a:solidFill>
                  <a:srgbClr val="FF0000"/>
                </a:solidFill>
              </a:rPr>
              <a:t>ADD the absolute </a:t>
            </a:r>
            <a:r>
              <a:rPr lang="en-CA" sz="2400" dirty="0" smtClean="0"/>
              <a:t>uncertainties</a:t>
            </a:r>
          </a:p>
          <a:p>
            <a:endParaRPr lang="en-CA" sz="2800" dirty="0"/>
          </a:p>
        </p:txBody>
      </p:sp>
      <p:sp>
        <p:nvSpPr>
          <p:cNvPr id="9" name="Content Placeholder 2"/>
          <p:cNvSpPr txBox="1">
            <a:spLocks/>
          </p:cNvSpPr>
          <p:nvPr/>
        </p:nvSpPr>
        <p:spPr>
          <a:xfrm>
            <a:off x="1438131" y="1781236"/>
            <a:ext cx="7498080" cy="1587624"/>
          </a:xfrm>
          <a:prstGeom prst="rect">
            <a:avLst/>
          </a:prstGeom>
        </p:spPr>
        <p:txBody>
          <a:bodyPr>
            <a:normAutofit/>
          </a:bodyPr>
          <a:lstStyle>
            <a:lvl1pPr marL="365760" indent="-283464" algn="l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accent1"/>
              </a:buClr>
              <a:buSzPct val="80000"/>
              <a:buFont typeface="Wingdings 2"/>
              <a:buChar char=""/>
              <a:defRPr kumimoji="0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40080" indent="-237744" algn="l" rtl="0" eaLnBrk="1" latinLnBrk="0" hangingPunct="1">
              <a:lnSpc>
                <a:spcPct val="100000"/>
              </a:lnSpc>
              <a:spcBef>
                <a:spcPts val="550"/>
              </a:spcBef>
              <a:buClr>
                <a:schemeClr val="accent1"/>
              </a:buClr>
              <a:buFont typeface="Verdana"/>
              <a:buChar char="◦"/>
              <a:defRPr kumimoji="0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86968" indent="-228600" algn="l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2"/>
              </a:buClr>
              <a:buFont typeface="Wingdings 2"/>
              <a:buChar char=""/>
              <a:defRPr kumimoji="0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7280" indent="-173736" algn="l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3"/>
              </a:buClr>
              <a:buFont typeface="Wingdings 2"/>
              <a:buChar char="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98448" indent="-182880" algn="l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4"/>
              </a:buClr>
              <a:buFont typeface="Wingdings 2"/>
              <a:buChar char="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08760" indent="-182880" algn="l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5"/>
              </a:buClr>
              <a:buFont typeface="Wingdings 2"/>
              <a:buChar char="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719072" indent="-182880" algn="l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6"/>
              </a:buClr>
              <a:buFont typeface="Wingdings 2"/>
              <a:buChar char="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920240" indent="-182880" algn="l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6"/>
              </a:buClr>
              <a:buFont typeface="Wingdings 2"/>
              <a:buChar char="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130552" indent="-182880" algn="l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6"/>
              </a:buClr>
              <a:buFont typeface="Wingdings 2"/>
              <a:buChar char="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  <a:extLst/>
          </a:lstStyle>
          <a:p>
            <a:r>
              <a:rPr lang="en-CA" sz="2400" dirty="0" smtClean="0"/>
              <a:t>When multiplying or dividing </a:t>
            </a:r>
            <a:r>
              <a:rPr lang="en-CA" sz="2400" smtClean="0"/>
              <a:t>numbers we  </a:t>
            </a:r>
            <a:r>
              <a:rPr lang="en-CA" sz="2400" dirty="0" smtClean="0">
                <a:solidFill>
                  <a:srgbClr val="FF0000"/>
                </a:solidFill>
              </a:rPr>
              <a:t>ADD the relative </a:t>
            </a:r>
            <a:r>
              <a:rPr lang="en-CA" sz="2400" dirty="0" smtClean="0"/>
              <a:t>uncertainties</a:t>
            </a:r>
          </a:p>
          <a:p>
            <a:endParaRPr lang="en-CA" dirty="0"/>
          </a:p>
        </p:txBody>
      </p:sp>
      <p:sp>
        <p:nvSpPr>
          <p:cNvPr id="5" name="Content Placeholder 2"/>
          <p:cNvSpPr txBox="1">
            <a:spLocks/>
          </p:cNvSpPr>
          <p:nvPr/>
        </p:nvSpPr>
        <p:spPr>
          <a:xfrm>
            <a:off x="1411356" y="2710746"/>
            <a:ext cx="7498080" cy="2350502"/>
          </a:xfrm>
          <a:prstGeom prst="rect">
            <a:avLst/>
          </a:prstGeom>
        </p:spPr>
        <p:txBody>
          <a:bodyPr>
            <a:normAutofit fontScale="92500"/>
          </a:bodyPr>
          <a:lstStyle>
            <a:lvl1pPr marL="365760" indent="-283464" algn="l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accent1"/>
              </a:buClr>
              <a:buSzPct val="80000"/>
              <a:buFont typeface="Wingdings 2"/>
              <a:buChar char=""/>
              <a:defRPr kumimoji="0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40080" indent="-237744" algn="l" rtl="0" eaLnBrk="1" latinLnBrk="0" hangingPunct="1">
              <a:lnSpc>
                <a:spcPct val="100000"/>
              </a:lnSpc>
              <a:spcBef>
                <a:spcPts val="550"/>
              </a:spcBef>
              <a:buClr>
                <a:schemeClr val="accent1"/>
              </a:buClr>
              <a:buFont typeface="Verdana"/>
              <a:buChar char="◦"/>
              <a:defRPr kumimoji="0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86968" indent="-228600" algn="l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2"/>
              </a:buClr>
              <a:buFont typeface="Wingdings 2"/>
              <a:buChar char=""/>
              <a:defRPr kumimoji="0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7280" indent="-173736" algn="l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3"/>
              </a:buClr>
              <a:buFont typeface="Wingdings 2"/>
              <a:buChar char="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98448" indent="-182880" algn="l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4"/>
              </a:buClr>
              <a:buFont typeface="Wingdings 2"/>
              <a:buChar char="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08760" indent="-182880" algn="l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5"/>
              </a:buClr>
              <a:buFont typeface="Wingdings 2"/>
              <a:buChar char="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719072" indent="-182880" algn="l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6"/>
              </a:buClr>
              <a:buFont typeface="Wingdings 2"/>
              <a:buChar char="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920240" indent="-182880" algn="l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6"/>
              </a:buClr>
              <a:buFont typeface="Wingdings 2"/>
              <a:buChar char="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130552" indent="-182880" algn="l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6"/>
              </a:buClr>
              <a:buFont typeface="Wingdings 2"/>
              <a:buChar char="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  <a:extLst/>
          </a:lstStyle>
          <a:p>
            <a:r>
              <a:rPr lang="en-CA" sz="2600" dirty="0" smtClean="0"/>
              <a:t>Find the absolute uncertainty when these lengths are added: </a:t>
            </a:r>
          </a:p>
          <a:p>
            <a:pPr marL="82296" indent="0">
              <a:buNone/>
            </a:pPr>
            <a:r>
              <a:rPr lang="en-CA" sz="2600" dirty="0" smtClean="0"/>
              <a:t> (1.5 m ± 0.2 m) + (1.36 m ± 0.05 m) + (2.85 m ± 0.08 m)</a:t>
            </a:r>
          </a:p>
          <a:p>
            <a:pPr marL="82296" indent="0">
              <a:buNone/>
            </a:pPr>
            <a:r>
              <a:rPr lang="en-CA" sz="2600" dirty="0" smtClean="0"/>
              <a:t>   = </a:t>
            </a:r>
          </a:p>
          <a:p>
            <a:pPr marL="82296" indent="0">
              <a:buNone/>
            </a:pPr>
            <a:r>
              <a:rPr lang="en-CA" sz="2600" dirty="0" smtClean="0"/>
              <a:t>      </a:t>
            </a:r>
          </a:p>
          <a:p>
            <a:endParaRPr lang="en-CA" dirty="0"/>
          </a:p>
        </p:txBody>
      </p:sp>
      <p:sp>
        <p:nvSpPr>
          <p:cNvPr id="7" name="Content Placeholder 2"/>
          <p:cNvSpPr txBox="1">
            <a:spLocks/>
          </p:cNvSpPr>
          <p:nvPr/>
        </p:nvSpPr>
        <p:spPr>
          <a:xfrm>
            <a:off x="1992044" y="3936729"/>
            <a:ext cx="6336704" cy="841174"/>
          </a:xfrm>
          <a:prstGeom prst="rect">
            <a:avLst/>
          </a:prstGeom>
        </p:spPr>
        <p:txBody>
          <a:bodyPr>
            <a:normAutofit fontScale="77500" lnSpcReduction="20000"/>
          </a:bodyPr>
          <a:lstStyle>
            <a:lvl1pPr marL="365760" indent="-283464" algn="l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accent1"/>
              </a:buClr>
              <a:buSzPct val="80000"/>
              <a:buFont typeface="Wingdings 2"/>
              <a:buChar char=""/>
              <a:defRPr kumimoji="0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40080" indent="-237744" algn="l" rtl="0" eaLnBrk="1" latinLnBrk="0" hangingPunct="1">
              <a:lnSpc>
                <a:spcPct val="100000"/>
              </a:lnSpc>
              <a:spcBef>
                <a:spcPts val="550"/>
              </a:spcBef>
              <a:buClr>
                <a:schemeClr val="accent1"/>
              </a:buClr>
              <a:buFont typeface="Verdana"/>
              <a:buChar char="◦"/>
              <a:defRPr kumimoji="0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86968" indent="-228600" algn="l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2"/>
              </a:buClr>
              <a:buFont typeface="Wingdings 2"/>
              <a:buChar char=""/>
              <a:defRPr kumimoji="0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7280" indent="-173736" algn="l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3"/>
              </a:buClr>
              <a:buFont typeface="Wingdings 2"/>
              <a:buChar char="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98448" indent="-182880" algn="l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4"/>
              </a:buClr>
              <a:buFont typeface="Wingdings 2"/>
              <a:buChar char="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08760" indent="-182880" algn="l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5"/>
              </a:buClr>
              <a:buFont typeface="Wingdings 2"/>
              <a:buChar char="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719072" indent="-182880" algn="l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6"/>
              </a:buClr>
              <a:buFont typeface="Wingdings 2"/>
              <a:buChar char="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920240" indent="-182880" algn="l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6"/>
              </a:buClr>
              <a:buFont typeface="Wingdings 2"/>
              <a:buChar char="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130552" indent="-182880" algn="l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6"/>
              </a:buClr>
              <a:buFont typeface="Wingdings 2"/>
              <a:buChar char="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  <a:extLst/>
          </a:lstStyle>
          <a:p>
            <a:pPr marL="82296" indent="0">
              <a:buNone/>
            </a:pPr>
            <a:r>
              <a:rPr lang="en-CA" sz="4200" dirty="0" smtClean="0">
                <a:solidFill>
                  <a:srgbClr val="FF0000"/>
                </a:solidFill>
              </a:rPr>
              <a:t>5.71 m ± 0.33 m   </a:t>
            </a:r>
            <a:r>
              <a:rPr lang="en-CA" sz="4200" dirty="0" smtClean="0">
                <a:solidFill>
                  <a:srgbClr val="FF0000"/>
                </a:solidFill>
                <a:sym typeface="Symbol" panose="05050102010706020507" pitchFamily="18" charset="2"/>
              </a:rPr>
              <a:t> 5.7 </a:t>
            </a:r>
            <a:r>
              <a:rPr lang="en-CA" sz="4200" dirty="0" smtClean="0">
                <a:solidFill>
                  <a:srgbClr val="FF0000"/>
                </a:solidFill>
              </a:rPr>
              <a:t>± 0.3 m </a:t>
            </a:r>
          </a:p>
          <a:p>
            <a:pPr marL="82296" indent="0">
              <a:buNone/>
            </a:pPr>
            <a:r>
              <a:rPr lang="en-CA" sz="2600" dirty="0" smtClean="0"/>
              <a:t>      </a:t>
            </a:r>
          </a:p>
          <a:p>
            <a:endParaRPr lang="en-CA" dirty="0"/>
          </a:p>
        </p:txBody>
      </p:sp>
      <p:sp>
        <p:nvSpPr>
          <p:cNvPr id="10" name="Content Placeholder 2"/>
          <p:cNvSpPr txBox="1">
            <a:spLocks/>
          </p:cNvSpPr>
          <p:nvPr/>
        </p:nvSpPr>
        <p:spPr>
          <a:xfrm>
            <a:off x="1411356" y="4453866"/>
            <a:ext cx="7498080" cy="2350502"/>
          </a:xfrm>
          <a:prstGeom prst="rect">
            <a:avLst/>
          </a:prstGeom>
        </p:spPr>
        <p:txBody>
          <a:bodyPr>
            <a:normAutofit/>
          </a:bodyPr>
          <a:lstStyle>
            <a:lvl1pPr marL="365760" indent="-283464" algn="l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accent1"/>
              </a:buClr>
              <a:buSzPct val="80000"/>
              <a:buFont typeface="Wingdings 2"/>
              <a:buChar char=""/>
              <a:defRPr kumimoji="0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40080" indent="-237744" algn="l" rtl="0" eaLnBrk="1" latinLnBrk="0" hangingPunct="1">
              <a:lnSpc>
                <a:spcPct val="100000"/>
              </a:lnSpc>
              <a:spcBef>
                <a:spcPts val="550"/>
              </a:spcBef>
              <a:buClr>
                <a:schemeClr val="accent1"/>
              </a:buClr>
              <a:buFont typeface="Verdana"/>
              <a:buChar char="◦"/>
              <a:defRPr kumimoji="0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86968" indent="-228600" algn="l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2"/>
              </a:buClr>
              <a:buFont typeface="Wingdings 2"/>
              <a:buChar char=""/>
              <a:defRPr kumimoji="0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7280" indent="-173736" algn="l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3"/>
              </a:buClr>
              <a:buFont typeface="Wingdings 2"/>
              <a:buChar char="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98448" indent="-182880" algn="l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4"/>
              </a:buClr>
              <a:buFont typeface="Wingdings 2"/>
              <a:buChar char="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08760" indent="-182880" algn="l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5"/>
              </a:buClr>
              <a:buFont typeface="Wingdings 2"/>
              <a:buChar char="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719072" indent="-182880" algn="l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6"/>
              </a:buClr>
              <a:buFont typeface="Wingdings 2"/>
              <a:buChar char="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920240" indent="-182880" algn="l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6"/>
              </a:buClr>
              <a:buFont typeface="Wingdings 2"/>
              <a:buChar char="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130552" indent="-182880" algn="l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6"/>
              </a:buClr>
              <a:buFont typeface="Wingdings 2"/>
              <a:buChar char="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  <a:extLst/>
          </a:lstStyle>
          <a:p>
            <a:r>
              <a:rPr lang="en-CA" sz="2400" dirty="0" smtClean="0"/>
              <a:t>Find the relative uncertainty when lengths are multiplied to find volume: </a:t>
            </a:r>
          </a:p>
          <a:p>
            <a:pPr marL="82296" indent="0">
              <a:buNone/>
            </a:pPr>
            <a:r>
              <a:rPr lang="en-CA" sz="2400" dirty="0" smtClean="0"/>
              <a:t> (1.5 m ± 0.1 m) x (1.36 m ± 0.05 m) x (2.85 m ± 0.05 m)</a:t>
            </a:r>
          </a:p>
          <a:p>
            <a:pPr marL="82296" indent="0">
              <a:buNone/>
            </a:pPr>
            <a:r>
              <a:rPr lang="en-CA" sz="2400" dirty="0" smtClean="0"/>
              <a:t>   =</a:t>
            </a:r>
          </a:p>
          <a:p>
            <a:endParaRPr lang="en-CA" dirty="0"/>
          </a:p>
        </p:txBody>
      </p:sp>
      <p:sp>
        <p:nvSpPr>
          <p:cNvPr id="12" name="Content Placeholder 2"/>
          <p:cNvSpPr txBox="1">
            <a:spLocks/>
          </p:cNvSpPr>
          <p:nvPr/>
        </p:nvSpPr>
        <p:spPr>
          <a:xfrm>
            <a:off x="1907704" y="5135912"/>
            <a:ext cx="7498080" cy="2350502"/>
          </a:xfrm>
          <a:prstGeom prst="rect">
            <a:avLst/>
          </a:prstGeom>
        </p:spPr>
        <p:txBody>
          <a:bodyPr>
            <a:normAutofit/>
          </a:bodyPr>
          <a:lstStyle>
            <a:lvl1pPr marL="365760" indent="-283464" algn="l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accent1"/>
              </a:buClr>
              <a:buSzPct val="80000"/>
              <a:buFont typeface="Wingdings 2"/>
              <a:buChar char=""/>
              <a:defRPr kumimoji="0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40080" indent="-237744" algn="l" rtl="0" eaLnBrk="1" latinLnBrk="0" hangingPunct="1">
              <a:lnSpc>
                <a:spcPct val="100000"/>
              </a:lnSpc>
              <a:spcBef>
                <a:spcPts val="550"/>
              </a:spcBef>
              <a:buClr>
                <a:schemeClr val="accent1"/>
              </a:buClr>
              <a:buFont typeface="Verdana"/>
              <a:buChar char="◦"/>
              <a:defRPr kumimoji="0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86968" indent="-228600" algn="l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2"/>
              </a:buClr>
              <a:buFont typeface="Wingdings 2"/>
              <a:buChar char=""/>
              <a:defRPr kumimoji="0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7280" indent="-173736" algn="l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3"/>
              </a:buClr>
              <a:buFont typeface="Wingdings 2"/>
              <a:buChar char="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98448" indent="-182880" algn="l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4"/>
              </a:buClr>
              <a:buFont typeface="Wingdings 2"/>
              <a:buChar char="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08760" indent="-182880" algn="l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5"/>
              </a:buClr>
              <a:buFont typeface="Wingdings 2"/>
              <a:buChar char="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719072" indent="-182880" algn="l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6"/>
              </a:buClr>
              <a:buFont typeface="Wingdings 2"/>
              <a:buChar char="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920240" indent="-182880" algn="l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6"/>
              </a:buClr>
              <a:buFont typeface="Wingdings 2"/>
              <a:buChar char="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130552" indent="-182880" algn="l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6"/>
              </a:buClr>
              <a:buFont typeface="Wingdings 2"/>
              <a:buChar char="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  <a:extLst/>
          </a:lstStyle>
          <a:p>
            <a:pPr marL="82296" indent="0">
              <a:buNone/>
            </a:pPr>
            <a:endParaRPr lang="en-CA" sz="3000" dirty="0" smtClean="0"/>
          </a:p>
          <a:p>
            <a:pPr marL="82296" indent="0">
              <a:buNone/>
            </a:pPr>
            <a:r>
              <a:rPr lang="en-CA" sz="2600" dirty="0" smtClean="0"/>
              <a:t> </a:t>
            </a:r>
            <a:r>
              <a:rPr lang="en-CA" sz="2600" dirty="0" smtClean="0">
                <a:solidFill>
                  <a:srgbClr val="FF0000"/>
                </a:solidFill>
              </a:rPr>
              <a:t>5.814 m</a:t>
            </a:r>
            <a:r>
              <a:rPr lang="en-CA" sz="2600" baseline="30000" dirty="0" smtClean="0">
                <a:solidFill>
                  <a:srgbClr val="FF0000"/>
                </a:solidFill>
              </a:rPr>
              <a:t>3</a:t>
            </a:r>
            <a:r>
              <a:rPr lang="en-CA" sz="2600" dirty="0" smtClean="0">
                <a:solidFill>
                  <a:srgbClr val="FF0000"/>
                </a:solidFill>
              </a:rPr>
              <a:t> ± (6.67% +3.67% + 1.75%) </a:t>
            </a:r>
          </a:p>
          <a:p>
            <a:pPr marL="82296" indent="0">
              <a:buNone/>
            </a:pPr>
            <a:r>
              <a:rPr lang="en-CA" sz="2800" dirty="0" smtClean="0">
                <a:solidFill>
                  <a:srgbClr val="FF0000"/>
                </a:solidFill>
                <a:sym typeface="Symbol" panose="05050102010706020507" pitchFamily="18" charset="2"/>
              </a:rPr>
              <a:t> 5.814 m</a:t>
            </a:r>
            <a:r>
              <a:rPr lang="en-CA" sz="2800" baseline="30000" dirty="0" smtClean="0">
                <a:solidFill>
                  <a:srgbClr val="FF0000"/>
                </a:solidFill>
                <a:sym typeface="Symbol" panose="05050102010706020507" pitchFamily="18" charset="2"/>
              </a:rPr>
              <a:t>3</a:t>
            </a:r>
            <a:r>
              <a:rPr lang="en-CA" sz="2800" dirty="0">
                <a:solidFill>
                  <a:srgbClr val="FF0000"/>
                </a:solidFill>
              </a:rPr>
              <a:t> </a:t>
            </a:r>
            <a:r>
              <a:rPr lang="en-CA" sz="2800" dirty="0" smtClean="0">
                <a:solidFill>
                  <a:srgbClr val="FF0000"/>
                </a:solidFill>
              </a:rPr>
              <a:t>± 12.1%</a:t>
            </a:r>
            <a:r>
              <a:rPr lang="en-CA" sz="2800" baseline="30000" dirty="0" smtClean="0">
                <a:solidFill>
                  <a:srgbClr val="FF0000"/>
                </a:solidFill>
                <a:sym typeface="Symbol" panose="05050102010706020507" pitchFamily="18" charset="2"/>
              </a:rPr>
              <a:t> </a:t>
            </a:r>
            <a:r>
              <a:rPr lang="en-CA" sz="2800" dirty="0" smtClean="0">
                <a:solidFill>
                  <a:srgbClr val="FF0000"/>
                </a:solidFill>
                <a:sym typeface="Symbol" panose="05050102010706020507" pitchFamily="18" charset="2"/>
              </a:rPr>
              <a:t>   5.8 </a:t>
            </a:r>
            <a:r>
              <a:rPr lang="en-CA" sz="2800" dirty="0" smtClean="0">
                <a:solidFill>
                  <a:srgbClr val="FF0000"/>
                </a:solidFill>
              </a:rPr>
              <a:t>± 0.7 m</a:t>
            </a:r>
            <a:r>
              <a:rPr lang="en-CA" sz="2800" baseline="30000" dirty="0" smtClean="0">
                <a:solidFill>
                  <a:srgbClr val="FF0000"/>
                </a:solidFill>
              </a:rPr>
              <a:t>3</a:t>
            </a:r>
            <a:r>
              <a:rPr lang="en-CA" sz="2800" dirty="0" smtClean="0">
                <a:solidFill>
                  <a:srgbClr val="FF0000"/>
                </a:solidFill>
                <a:sym typeface="Symbol" panose="05050102010706020507" pitchFamily="18" charset="2"/>
              </a:rPr>
              <a:t>   </a:t>
            </a:r>
            <a:endParaRPr lang="en-CA" sz="2600" dirty="0" smtClean="0">
              <a:solidFill>
                <a:srgbClr val="FF0000"/>
              </a:solidFill>
            </a:endParaRPr>
          </a:p>
          <a:p>
            <a:pPr marL="82296" indent="0">
              <a:buNone/>
            </a:pPr>
            <a:r>
              <a:rPr lang="en-CA" sz="2600" dirty="0" smtClean="0"/>
              <a:t>      </a:t>
            </a:r>
          </a:p>
          <a:p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3512704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12" grpId="0"/>
    </p:bld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olstice">
  <a:themeElements>
    <a:clrScheme name="Solstice">
      <a:dk1>
        <a:sysClr val="windowText" lastClr="000000"/>
      </a:dk1>
      <a:lt1>
        <a:sysClr val="window" lastClr="FFFFFF"/>
      </a:lt1>
      <a:dk2>
        <a:srgbClr val="4F271C"/>
      </a:dk2>
      <a:lt2>
        <a:srgbClr val="E7DEC9"/>
      </a:lt2>
      <a:accent1>
        <a:srgbClr val="3891A7"/>
      </a:accent1>
      <a:accent2>
        <a:srgbClr val="FEB80A"/>
      </a:accent2>
      <a:accent3>
        <a:srgbClr val="C32D2E"/>
      </a:accent3>
      <a:accent4>
        <a:srgbClr val="84AA33"/>
      </a:accent4>
      <a:accent5>
        <a:srgbClr val="964305"/>
      </a:accent5>
      <a:accent6>
        <a:srgbClr val="475A8D"/>
      </a:accent6>
      <a:hlink>
        <a:srgbClr val="8DC765"/>
      </a:hlink>
      <a:folHlink>
        <a:srgbClr val="AA8A14"/>
      </a:folHlink>
    </a:clrScheme>
    <a:fontScheme name="Solstice">
      <a:majorFont>
        <a:latin typeface="Gill Sans MT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Gill Sans MT"/>
        <a:ea typeface=""/>
        <a:cs typeface=""/>
        <a:font script="Grek" typeface="Corbel"/>
        <a:font script="Cyrl" typeface="Corbel"/>
        <a:font script="Jpan" typeface="HGｺﾞｼｯｸE"/>
        <a:font script="Hang" typeface="HY엽서L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inorFont>
    </a:fontScheme>
    <a:fmtScheme name="Solstice">
      <a:fillStyleLst>
        <a:solidFill>
          <a:schemeClr val="phClr"/>
        </a:solidFill>
        <a:gradFill rotWithShape="1">
          <a:gsLst>
            <a:gs pos="0">
              <a:schemeClr val="phClr">
                <a:tint val="35000"/>
                <a:satMod val="253000"/>
              </a:schemeClr>
            </a:gs>
            <a:gs pos="50000">
              <a:schemeClr val="phClr">
                <a:tint val="42000"/>
                <a:satMod val="255000"/>
              </a:schemeClr>
            </a:gs>
            <a:gs pos="97000">
              <a:schemeClr val="phClr">
                <a:tint val="53000"/>
                <a:satMod val="260000"/>
              </a:schemeClr>
            </a:gs>
            <a:gs pos="100000">
              <a:schemeClr val="phClr">
                <a:tint val="56000"/>
                <a:satMod val="275000"/>
              </a:schemeClr>
            </a:gs>
          </a:gsLst>
          <a:path path="circle">
            <a:fillToRect l="50000" t="50000" r="50000" b="50000"/>
          </a:path>
        </a:gradFill>
        <a:gradFill rotWithShape="1">
          <a:gsLst>
            <a:gs pos="0">
              <a:schemeClr val="phClr">
                <a:tint val="92000"/>
                <a:satMod val="170000"/>
              </a:schemeClr>
            </a:gs>
            <a:gs pos="15000">
              <a:schemeClr val="phClr">
                <a:tint val="92000"/>
                <a:shade val="99000"/>
                <a:satMod val="170000"/>
              </a:schemeClr>
            </a:gs>
            <a:gs pos="62000">
              <a:schemeClr val="phClr">
                <a:tint val="96000"/>
                <a:shade val="80000"/>
                <a:satMod val="170000"/>
              </a:schemeClr>
            </a:gs>
            <a:gs pos="97000">
              <a:schemeClr val="phClr">
                <a:tint val="98000"/>
                <a:shade val="63000"/>
                <a:satMod val="170000"/>
              </a:schemeClr>
            </a:gs>
            <a:gs pos="100000">
              <a:schemeClr val="phClr">
                <a:shade val="62000"/>
                <a:satMod val="170000"/>
              </a:schemeClr>
            </a:gs>
          </a:gsLst>
          <a:path path="circle">
            <a:fillToRect l="50000" t="50000" r="50000" b="5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63500" dist="25400" dir="5400000" rotWithShape="0">
              <a:srgbClr val="000000">
                <a:alpha val="43137"/>
              </a:srgbClr>
            </a:outerShdw>
          </a:effectLst>
        </a:effectStyle>
        <a:effectStyle>
          <a:effectLst>
            <a:outerShdw blurRad="63500" dist="25400" dir="5400000" rotWithShape="0">
              <a:srgbClr val="000000">
                <a:alpha val="43137"/>
              </a:srgbClr>
            </a:outerShdw>
          </a:effectLst>
          <a:scene3d>
            <a:camera prst="orthographicFront" fov="0">
              <a:rot lat="0" lon="0" rev="0"/>
            </a:camera>
            <a:lightRig rig="brightRoom" dir="tl">
              <a:rot lat="0" lon="0" rev="8700000"/>
            </a:lightRig>
          </a:scene3d>
          <a:sp3d contourW="12700">
            <a:bevelT w="0" h="0"/>
            <a:contourClr>
              <a:schemeClr val="phClr">
                <a:shade val="80000"/>
              </a:schemeClr>
            </a:contourClr>
          </a:sp3d>
        </a:effectStyle>
        <a:effectStyle>
          <a:effectLst>
            <a:outerShdw blurRad="63500" dist="25400" dir="5400000" rotWithShape="0">
              <a:srgbClr val="000000">
                <a:alpha val="43137"/>
              </a:srgbClr>
            </a:outerShdw>
          </a:effectLst>
          <a:scene3d>
            <a:camera prst="orthographicFront" fov="0">
              <a:rot lat="0" lon="0" rev="0"/>
            </a:camera>
            <a:lightRig rig="brightRoom" dir="tl">
              <a:rot lat="0" lon="0" rev="5400000"/>
            </a:lightRig>
          </a:scene3d>
          <a:sp3d contourW="12700">
            <a:bevelT w="25400" h="50800" prst="angle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355000"/>
              </a:schemeClr>
            </a:gs>
            <a:gs pos="40000">
              <a:schemeClr val="phClr">
                <a:tint val="85000"/>
                <a:satMod val="320000"/>
              </a:schemeClr>
            </a:gs>
            <a:gs pos="100000">
              <a:schemeClr val="phClr">
                <a:shade val="55000"/>
                <a:satMod val="300000"/>
              </a:schemeClr>
            </a:gs>
          </a:gsLst>
          <a:path path="circle">
            <a:fillToRect l="-24500" t="-20000" r="124500" b="120000"/>
          </a:path>
        </a:gradFill>
        <a:blipFill>
          <a:blip xmlns:r="http://schemas.openxmlformats.org/officeDocument/2006/relationships" r:embed="rId1">
            <a:duotone>
              <a:schemeClr val="phClr">
                <a:shade val="9000"/>
                <a:satMod val="300000"/>
              </a:schemeClr>
              <a:schemeClr val="phClr">
                <a:tint val="90000"/>
                <a:satMod val="225000"/>
              </a:schemeClr>
            </a:duotone>
          </a:blip>
          <a:tile tx="0" ty="0" sx="90000" sy="90000" flip="xy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Solstice</Template>
  <TotalTime>712</TotalTime>
  <Words>599</Words>
  <Application>Microsoft Office PowerPoint</Application>
  <PresentationFormat>On-screen Show (4:3)</PresentationFormat>
  <Paragraphs>108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6" baseType="lpstr">
      <vt:lpstr>Calibri</vt:lpstr>
      <vt:lpstr>Gill Sans MT</vt:lpstr>
      <vt:lpstr>Symath</vt:lpstr>
      <vt:lpstr>Symbol</vt:lpstr>
      <vt:lpstr>Verdana</vt:lpstr>
      <vt:lpstr>Wingdings 2</vt:lpstr>
      <vt:lpstr>Solstice</vt:lpstr>
      <vt:lpstr>Measurement Principles Recap</vt:lpstr>
      <vt:lpstr>Measurement Accuracy versus Precision</vt:lpstr>
      <vt:lpstr>Converting Units: Multiply method</vt:lpstr>
      <vt:lpstr>Measurement uncertainty and  Significant  digits</vt:lpstr>
      <vt:lpstr> </vt:lpstr>
      <vt:lpstr>Weakest Link Rules:</vt:lpstr>
      <vt:lpstr>New Concept: Absolute and Relative Uncertainty</vt:lpstr>
      <vt:lpstr>Converting between Absolute and Relative Uncertainty</vt:lpstr>
      <vt:lpstr>Propagating Errors</vt:lpstr>
    </vt:vector>
  </TitlesOfParts>
  <Company>Peel District School Board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Measurement Principles</dc:title>
  <dc:creator>PeelUser</dc:creator>
  <cp:lastModifiedBy>Ryan, Linda</cp:lastModifiedBy>
  <cp:revision>31</cp:revision>
  <cp:lastPrinted>2019-02-04T14:50:12Z</cp:lastPrinted>
  <dcterms:created xsi:type="dcterms:W3CDTF">2010-09-08T15:03:02Z</dcterms:created>
  <dcterms:modified xsi:type="dcterms:W3CDTF">2019-02-04T14:51:04Z</dcterms:modified>
</cp:coreProperties>
</file>