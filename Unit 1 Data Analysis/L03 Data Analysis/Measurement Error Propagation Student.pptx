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6"/>
  </p:handoutMasterIdLst>
  <p:sldIdLst>
    <p:sldId id="268" r:id="rId2"/>
    <p:sldId id="267" r:id="rId3"/>
    <p:sldId id="266" r:id="rId4"/>
    <p:sldId id="263" r:id="rId5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108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A723AABF-7E82-4ADE-9F2D-057207E9E102}" type="datetimeFigureOut">
              <a:rPr lang="en-US" smtClean="0"/>
              <a:pPr/>
              <a:t>9/6/2019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3EEA2FE-CBE9-4205-94BA-7203B5877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3768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2D675F-0214-4343-9E8B-32E0BA618919}" type="datetimeFigureOut">
              <a:rPr lang="en-US" smtClean="0"/>
              <a:pPr/>
              <a:t>9/6/2019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2D675F-0214-4343-9E8B-32E0BA618919}" type="datetimeFigureOut">
              <a:rPr lang="en-US" smtClean="0"/>
              <a:pPr/>
              <a:t>9/6/2019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2D675F-0214-4343-9E8B-32E0BA618919}" type="datetimeFigureOut">
              <a:rPr lang="en-US" smtClean="0"/>
              <a:pPr/>
              <a:t>9/6/2019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2D675F-0214-4343-9E8B-32E0BA618919}" type="datetimeFigureOut">
              <a:rPr lang="en-US" smtClean="0"/>
              <a:pPr/>
              <a:t>9/6/2019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2D675F-0214-4343-9E8B-32E0BA618919}" type="datetimeFigureOut">
              <a:rPr lang="en-US" smtClean="0"/>
              <a:pPr/>
              <a:t>9/6/2019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2D675F-0214-4343-9E8B-32E0BA618919}" type="datetimeFigureOut">
              <a:rPr lang="en-US" smtClean="0"/>
              <a:pPr/>
              <a:t>9/6/2019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2D675F-0214-4343-9E8B-32E0BA618919}" type="datetimeFigureOut">
              <a:rPr lang="en-US" smtClean="0"/>
              <a:pPr/>
              <a:t>9/6/2019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2D675F-0214-4343-9E8B-32E0BA618919}" type="datetimeFigureOut">
              <a:rPr lang="en-US" smtClean="0"/>
              <a:pPr/>
              <a:t>9/6/2019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2D675F-0214-4343-9E8B-32E0BA618919}" type="datetimeFigureOut">
              <a:rPr lang="en-US" smtClean="0"/>
              <a:pPr/>
              <a:t>9/6/2019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2D675F-0214-4343-9E8B-32E0BA618919}" type="datetimeFigureOut">
              <a:rPr lang="en-US" smtClean="0"/>
              <a:pPr/>
              <a:t>9/6/2019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2D675F-0214-4343-9E8B-32E0BA618919}" type="datetimeFigureOut">
              <a:rPr lang="en-US" smtClean="0"/>
              <a:pPr/>
              <a:t>9/6/2019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042D675F-0214-4343-9E8B-32E0BA618919}" type="datetimeFigureOut">
              <a:rPr lang="en-US" smtClean="0"/>
              <a:pPr/>
              <a:t>9/6/2019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7624" y="20618"/>
            <a:ext cx="7498080" cy="888102"/>
          </a:xfrm>
        </p:spPr>
        <p:txBody>
          <a:bodyPr>
            <a:normAutofit/>
          </a:bodyPr>
          <a:lstStyle/>
          <a:p>
            <a:r>
              <a:rPr lang="en-US" sz="2800" u="sng" dirty="0" smtClean="0"/>
              <a:t>Warm Up:  Measurement and Measurement Error</a:t>
            </a:r>
            <a:endParaRPr lang="en-US" sz="2800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1640" y="908720"/>
            <a:ext cx="7632848" cy="5688632"/>
          </a:xfrm>
        </p:spPr>
        <p:txBody>
          <a:bodyPr>
            <a:normAutofit fontScale="32500" lnSpcReduction="20000"/>
          </a:bodyPr>
          <a:lstStyle/>
          <a:p>
            <a:pPr marL="82296" indent="0">
              <a:buNone/>
            </a:pPr>
            <a:r>
              <a:rPr lang="en-CA" sz="8000" dirty="0" smtClean="0">
                <a:cs typeface="Symath"/>
                <a:sym typeface="Symbol" panose="05050102010706020507" pitchFamily="18" charset="2"/>
              </a:rPr>
              <a:t> </a:t>
            </a:r>
            <a:r>
              <a:rPr lang="en-US" sz="8000" dirty="0" smtClean="0"/>
              <a:t>Record </a:t>
            </a:r>
            <a:r>
              <a:rPr lang="en-US" sz="8000" dirty="0" smtClean="0"/>
              <a:t>all certain digits in a measurement plus last estimated or uncertain </a:t>
            </a:r>
            <a:r>
              <a:rPr lang="en-US" sz="8000" dirty="0" smtClean="0"/>
              <a:t>digit</a:t>
            </a:r>
            <a:endParaRPr lang="en-US" sz="8000" dirty="0" smtClean="0"/>
          </a:p>
          <a:p>
            <a:pPr>
              <a:buNone/>
            </a:pPr>
            <a:r>
              <a:rPr lang="en-CA" sz="8000" dirty="0" smtClean="0">
                <a:cs typeface="Symath"/>
                <a:sym typeface="Symbol" panose="05050102010706020507" pitchFamily="18" charset="2"/>
              </a:rPr>
              <a:t> </a:t>
            </a:r>
            <a:r>
              <a:rPr lang="en-CA" sz="8000" dirty="0">
                <a:solidFill>
                  <a:srgbClr val="FF0000"/>
                </a:solidFill>
                <a:cs typeface="Symath"/>
                <a:sym typeface="Symbol" panose="05050102010706020507" pitchFamily="18" charset="2"/>
              </a:rPr>
              <a:t>T</a:t>
            </a:r>
            <a:r>
              <a:rPr lang="en-CA" sz="8000" dirty="0" smtClean="0">
                <a:solidFill>
                  <a:srgbClr val="FF0000"/>
                </a:solidFill>
                <a:cs typeface="Symath"/>
              </a:rPr>
              <a:t>he stated uncertainty </a:t>
            </a:r>
            <a:r>
              <a:rPr lang="en-CA" sz="8000" dirty="0">
                <a:solidFill>
                  <a:srgbClr val="FF0000"/>
                </a:solidFill>
                <a:cs typeface="Symath"/>
              </a:rPr>
              <a:t>should match the </a:t>
            </a:r>
          </a:p>
          <a:p>
            <a:pPr>
              <a:buNone/>
            </a:pPr>
            <a:r>
              <a:rPr lang="en-CA" sz="8000" dirty="0">
                <a:solidFill>
                  <a:srgbClr val="FF0000"/>
                </a:solidFill>
                <a:cs typeface="Symath"/>
              </a:rPr>
              <a:t>  </a:t>
            </a:r>
            <a:r>
              <a:rPr lang="en-CA" sz="8000" dirty="0" smtClean="0">
                <a:solidFill>
                  <a:srgbClr val="FF0000"/>
                </a:solidFill>
                <a:cs typeface="Symath"/>
              </a:rPr>
              <a:t>measurement precision</a:t>
            </a:r>
            <a:endParaRPr lang="en-US" sz="8000" dirty="0" smtClean="0">
              <a:solidFill>
                <a:srgbClr val="FF0000"/>
              </a:solidFill>
            </a:endParaRPr>
          </a:p>
          <a:p>
            <a:pPr marL="82296" indent="0">
              <a:buNone/>
            </a:pPr>
            <a:endParaRPr lang="en-CA" sz="8000" dirty="0" smtClean="0">
              <a:cs typeface="Symath"/>
              <a:sym typeface="Symbol" panose="05050102010706020507" pitchFamily="18" charset="2"/>
            </a:endParaRPr>
          </a:p>
          <a:p>
            <a:pPr marL="82296" indent="0">
              <a:buNone/>
            </a:pPr>
            <a:r>
              <a:rPr lang="en-CA" sz="8000" dirty="0" smtClean="0">
                <a:cs typeface="Symath"/>
                <a:sym typeface="Symbol" panose="05050102010706020507" pitchFamily="18" charset="2"/>
              </a:rPr>
              <a:t>   E.g.           </a:t>
            </a:r>
            <a:r>
              <a:rPr lang="en-US" sz="8000" dirty="0" smtClean="0"/>
              <a:t>A length of   </a:t>
            </a:r>
            <a:r>
              <a:rPr lang="en-US" sz="8000" dirty="0" smtClean="0">
                <a:cs typeface="Symath"/>
              </a:rPr>
              <a:t>10.5 cm ± 0.2 cm</a:t>
            </a:r>
          </a:p>
          <a:p>
            <a:pPr>
              <a:buNone/>
            </a:pPr>
            <a:r>
              <a:rPr lang="en-US" sz="8000" dirty="0" smtClean="0">
                <a:cs typeface="Symath"/>
              </a:rPr>
              <a:t>   </a:t>
            </a:r>
            <a:r>
              <a:rPr lang="en-US" sz="8000" dirty="0" smtClean="0">
                <a:cs typeface="Symath"/>
              </a:rPr>
              <a:t>                  </a:t>
            </a:r>
            <a:r>
              <a:rPr lang="en-CA" sz="8000" dirty="0" smtClean="0">
                <a:cs typeface="Symath"/>
              </a:rPr>
              <a:t>A </a:t>
            </a:r>
            <a:r>
              <a:rPr lang="en-CA" sz="8000" dirty="0" smtClean="0">
                <a:cs typeface="Symath"/>
              </a:rPr>
              <a:t>mass of     26.7 g </a:t>
            </a:r>
            <a:r>
              <a:rPr lang="en-US" sz="8000" dirty="0">
                <a:cs typeface="Symath"/>
              </a:rPr>
              <a:t>± </a:t>
            </a:r>
            <a:r>
              <a:rPr lang="en-US" sz="8000" dirty="0" smtClean="0">
                <a:cs typeface="Symath"/>
              </a:rPr>
              <a:t>0.1 g</a:t>
            </a:r>
            <a:endParaRPr lang="en-US" sz="8000" dirty="0">
              <a:cs typeface="Symath"/>
            </a:endParaRPr>
          </a:p>
          <a:p>
            <a:pPr>
              <a:buNone/>
            </a:pPr>
            <a:r>
              <a:rPr lang="en-CA" sz="8000" dirty="0" smtClean="0">
                <a:cs typeface="Symath"/>
              </a:rPr>
              <a:t>   </a:t>
            </a:r>
            <a:r>
              <a:rPr lang="en-CA" sz="8000" dirty="0" smtClean="0">
                <a:cs typeface="Symath"/>
              </a:rPr>
              <a:t>     A </a:t>
            </a:r>
            <a:r>
              <a:rPr lang="en-CA" sz="8000" dirty="0" smtClean="0">
                <a:cs typeface="Symath"/>
              </a:rPr>
              <a:t>temperature of 24.5 </a:t>
            </a:r>
            <a:r>
              <a:rPr lang="en-CA" sz="8000" dirty="0" smtClean="0">
                <a:cs typeface="Symath"/>
                <a:sym typeface="Symbol" panose="05050102010706020507" pitchFamily="18" charset="2"/>
              </a:rPr>
              <a:t>C </a:t>
            </a:r>
            <a:r>
              <a:rPr lang="en-US" sz="8000" dirty="0" smtClean="0">
                <a:cs typeface="Symath"/>
              </a:rPr>
              <a:t>± ______</a:t>
            </a:r>
            <a:r>
              <a:rPr lang="en-CA" sz="8000" dirty="0" smtClean="0">
                <a:cs typeface="Symath"/>
                <a:sym typeface="Symbol" panose="05050102010706020507" pitchFamily="18" charset="2"/>
              </a:rPr>
              <a:t>  </a:t>
            </a:r>
            <a:r>
              <a:rPr lang="en-CA" sz="8000" dirty="0" smtClean="0">
                <a:cs typeface="Symath"/>
              </a:rPr>
              <a:t> </a:t>
            </a:r>
            <a:r>
              <a:rPr lang="en-CA" sz="8000" dirty="0" smtClean="0">
                <a:cs typeface="Symath"/>
              </a:rPr>
              <a:t>?</a:t>
            </a:r>
            <a:endParaRPr lang="en-US" sz="8000" dirty="0">
              <a:cs typeface="Symath"/>
            </a:endParaRPr>
          </a:p>
          <a:p>
            <a:pPr>
              <a:buNone/>
            </a:pPr>
            <a:endParaRPr lang="en-US" sz="8000" dirty="0" smtClean="0">
              <a:cs typeface="Symath"/>
            </a:endParaRPr>
          </a:p>
          <a:p>
            <a:pPr marL="82296" indent="0">
              <a:buNone/>
            </a:pPr>
            <a:r>
              <a:rPr lang="en-CA" sz="8000" dirty="0" smtClean="0">
                <a:cs typeface="Symath"/>
              </a:rPr>
              <a:t>Why is this not a good way to record a length?</a:t>
            </a:r>
          </a:p>
          <a:p>
            <a:pPr marL="82296" indent="0">
              <a:buNone/>
            </a:pPr>
            <a:endParaRPr lang="en-CA" sz="8000" dirty="0">
              <a:cs typeface="Symath"/>
            </a:endParaRPr>
          </a:p>
          <a:p>
            <a:pPr marL="82296" indent="0">
              <a:buNone/>
            </a:pPr>
            <a:r>
              <a:rPr lang="en-CA" sz="8000" dirty="0" smtClean="0">
                <a:cs typeface="Symath"/>
              </a:rPr>
              <a:t>        21 cm   </a:t>
            </a:r>
            <a:r>
              <a:rPr lang="en-US" sz="8000" dirty="0">
                <a:cs typeface="Symath"/>
              </a:rPr>
              <a:t>± 0.2 </a:t>
            </a:r>
            <a:r>
              <a:rPr lang="en-US" sz="8000" dirty="0" smtClean="0">
                <a:cs typeface="Symath"/>
              </a:rPr>
              <a:t>cm</a:t>
            </a:r>
          </a:p>
          <a:p>
            <a:pPr marL="82296" indent="0">
              <a:buNone/>
            </a:pPr>
            <a:endParaRPr lang="en-CA" sz="8000" dirty="0">
              <a:cs typeface="Symath"/>
            </a:endParaRPr>
          </a:p>
          <a:p>
            <a:pPr marL="82296" indent="0">
              <a:buNone/>
            </a:pPr>
            <a:r>
              <a:rPr lang="en-CA" sz="8000" dirty="0" smtClean="0">
                <a:cs typeface="Symath"/>
              </a:rPr>
              <a:t>Answer: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827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i="1" dirty="0" smtClean="0"/>
              <a:t>New Concept: Absolute </a:t>
            </a:r>
            <a:r>
              <a:rPr lang="en-CA" i="1" dirty="0" smtClean="0"/>
              <a:t>and Relative </a:t>
            </a:r>
            <a:r>
              <a:rPr lang="en-CA" i="1" dirty="0" smtClean="0"/>
              <a:t>Errors &amp; Error Propagation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 smtClean="0">
                <a:solidFill>
                  <a:srgbClr val="FF0000"/>
                </a:solidFill>
              </a:rPr>
              <a:t>Absolute error </a:t>
            </a:r>
            <a:r>
              <a:rPr lang="en-CA" dirty="0" smtClean="0"/>
              <a:t>is expressed in the units as the measurement</a:t>
            </a:r>
          </a:p>
          <a:p>
            <a:r>
              <a:rPr lang="en-CA" dirty="0"/>
              <a:t> </a:t>
            </a:r>
            <a:r>
              <a:rPr lang="en-CA" dirty="0" smtClean="0"/>
              <a:t>     E.g.   16.5 cm   ±  0.2 cm</a:t>
            </a:r>
          </a:p>
          <a:p>
            <a:r>
              <a:rPr lang="en-CA" dirty="0"/>
              <a:t> </a:t>
            </a:r>
            <a:r>
              <a:rPr lang="en-CA" dirty="0" smtClean="0"/>
              <a:t>             1.265 kg ± 0.005 kg</a:t>
            </a:r>
          </a:p>
          <a:p>
            <a:endParaRPr lang="en-CA" dirty="0"/>
          </a:p>
          <a:p>
            <a:r>
              <a:rPr lang="en-CA" dirty="0" smtClean="0">
                <a:solidFill>
                  <a:srgbClr val="FF0000"/>
                </a:solidFill>
              </a:rPr>
              <a:t>Relative or Percent </a:t>
            </a:r>
            <a:r>
              <a:rPr lang="en-CA" dirty="0">
                <a:solidFill>
                  <a:srgbClr val="FF0000"/>
                </a:solidFill>
              </a:rPr>
              <a:t>error </a:t>
            </a:r>
            <a:r>
              <a:rPr lang="en-CA" dirty="0"/>
              <a:t>is expressed </a:t>
            </a:r>
            <a:r>
              <a:rPr lang="en-CA" dirty="0" smtClean="0"/>
              <a:t>as a percentage of the given measurement</a:t>
            </a:r>
            <a:endParaRPr lang="en-CA" dirty="0"/>
          </a:p>
          <a:p>
            <a:r>
              <a:rPr lang="en-CA" dirty="0"/>
              <a:t>      E.g.   </a:t>
            </a:r>
            <a:r>
              <a:rPr lang="en-CA" dirty="0" smtClean="0"/>
              <a:t>3.8 kg    </a:t>
            </a:r>
            <a:r>
              <a:rPr lang="en-CA" dirty="0"/>
              <a:t>±  </a:t>
            </a:r>
            <a:r>
              <a:rPr lang="en-CA" dirty="0" smtClean="0"/>
              <a:t>2.0 %</a:t>
            </a:r>
            <a:endParaRPr lang="en-CA" dirty="0"/>
          </a:p>
          <a:p>
            <a:r>
              <a:rPr lang="en-CA" dirty="0"/>
              <a:t>              </a:t>
            </a:r>
            <a:r>
              <a:rPr lang="en-CA" dirty="0" smtClean="0"/>
              <a:t>5.6 m     ±  5.0 </a:t>
            </a:r>
            <a:r>
              <a:rPr lang="en-CA" dirty="0"/>
              <a:t>%</a:t>
            </a:r>
          </a:p>
          <a:p>
            <a:endParaRPr lang="en-CA" dirty="0"/>
          </a:p>
          <a:p>
            <a:endParaRPr lang="en-CA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013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Converting between Absolute and Relative Uncertainty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0292" y="1556792"/>
            <a:ext cx="7498080" cy="4800600"/>
          </a:xfrm>
        </p:spPr>
        <p:txBody>
          <a:bodyPr/>
          <a:lstStyle/>
          <a:p>
            <a:pPr marL="82296" indent="0">
              <a:buNone/>
            </a:pPr>
            <a:r>
              <a:rPr lang="en-CA" dirty="0" smtClean="0"/>
              <a:t>Convert to relative uncertainty: </a:t>
            </a:r>
          </a:p>
          <a:p>
            <a:pPr marL="82296" indent="0">
              <a:buNone/>
            </a:pPr>
            <a:endParaRPr lang="en-CA" dirty="0" smtClean="0"/>
          </a:p>
          <a:p>
            <a:pPr marL="82296" indent="0">
              <a:buNone/>
            </a:pPr>
            <a:r>
              <a:rPr lang="en-CA" dirty="0" smtClean="0"/>
              <a:t>8.4 </a:t>
            </a:r>
            <a:r>
              <a:rPr lang="en-CA" dirty="0" smtClean="0"/>
              <a:t>kg </a:t>
            </a:r>
            <a:r>
              <a:rPr lang="en-CA" dirty="0"/>
              <a:t>± </a:t>
            </a:r>
            <a:r>
              <a:rPr lang="en-CA" dirty="0" smtClean="0"/>
              <a:t>0.5 kg      </a:t>
            </a:r>
            <a:endParaRPr lang="en-CA" dirty="0"/>
          </a:p>
          <a:p>
            <a:pPr marL="82296" indent="0">
              <a:buNone/>
            </a:pPr>
            <a:endParaRPr lang="en-CA" dirty="0" smtClean="0"/>
          </a:p>
          <a:p>
            <a:pPr marL="82296" indent="0">
              <a:buNone/>
            </a:pPr>
            <a:r>
              <a:rPr lang="en-CA" dirty="0" smtClean="0"/>
              <a:t>Convert </a:t>
            </a:r>
            <a:r>
              <a:rPr lang="en-CA" dirty="0"/>
              <a:t>to </a:t>
            </a:r>
            <a:r>
              <a:rPr lang="en-CA" dirty="0" smtClean="0"/>
              <a:t>absolute </a:t>
            </a:r>
            <a:r>
              <a:rPr lang="en-CA" dirty="0"/>
              <a:t>uncertainty: </a:t>
            </a:r>
          </a:p>
          <a:p>
            <a:pPr marL="82296" indent="0">
              <a:buNone/>
            </a:pPr>
            <a:endParaRPr lang="en-CA" dirty="0" smtClean="0"/>
          </a:p>
          <a:p>
            <a:pPr marL="82296" indent="0">
              <a:buNone/>
            </a:pPr>
            <a:r>
              <a:rPr lang="en-CA" dirty="0" smtClean="0"/>
              <a:t>12.6 </a:t>
            </a:r>
            <a:r>
              <a:rPr lang="en-CA" dirty="0" smtClean="0"/>
              <a:t>m </a:t>
            </a:r>
            <a:r>
              <a:rPr lang="en-CA" dirty="0"/>
              <a:t>±</a:t>
            </a:r>
            <a:r>
              <a:rPr lang="en-CA" dirty="0" smtClean="0"/>
              <a:t> 4%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891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5660" y="0"/>
            <a:ext cx="7498080" cy="1143000"/>
          </a:xfrm>
        </p:spPr>
        <p:txBody>
          <a:bodyPr/>
          <a:lstStyle/>
          <a:p>
            <a:r>
              <a:rPr lang="en-CA" u="sng" dirty="0" smtClean="0"/>
              <a:t>Propagating Errors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5660" y="836712"/>
            <a:ext cx="7678340" cy="4224536"/>
          </a:xfrm>
        </p:spPr>
        <p:txBody>
          <a:bodyPr>
            <a:normAutofit/>
          </a:bodyPr>
          <a:lstStyle/>
          <a:p>
            <a:r>
              <a:rPr lang="en-CA" sz="2400" dirty="0" smtClean="0"/>
              <a:t>When adding or subtracting numbers we </a:t>
            </a:r>
            <a:r>
              <a:rPr lang="en-CA" sz="2400" dirty="0" smtClean="0">
                <a:solidFill>
                  <a:srgbClr val="FF0000"/>
                </a:solidFill>
              </a:rPr>
              <a:t>___________________________</a:t>
            </a:r>
            <a:r>
              <a:rPr lang="en-CA" sz="2400" dirty="0" smtClean="0"/>
              <a:t>uncertainties</a:t>
            </a:r>
            <a:endParaRPr lang="en-CA" sz="2400" dirty="0" smtClean="0"/>
          </a:p>
          <a:p>
            <a:endParaRPr lang="en-CA" sz="2800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438131" y="1781236"/>
            <a:ext cx="7498080" cy="1587624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CA" sz="2400" dirty="0" smtClean="0"/>
              <a:t>When multiplying or dividing numbers we  </a:t>
            </a:r>
            <a:r>
              <a:rPr lang="en-CA" sz="2400" dirty="0" smtClean="0">
                <a:solidFill>
                  <a:srgbClr val="FF0000"/>
                </a:solidFill>
              </a:rPr>
              <a:t>__________________________</a:t>
            </a:r>
            <a:r>
              <a:rPr lang="en-CA" sz="2400" dirty="0" smtClean="0"/>
              <a:t>uncertainties</a:t>
            </a:r>
            <a:endParaRPr lang="en-CA" sz="2400" dirty="0" smtClean="0"/>
          </a:p>
          <a:p>
            <a:endParaRPr lang="en-CA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411356" y="2710746"/>
            <a:ext cx="7498080" cy="2350502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CA" sz="2600" dirty="0" smtClean="0"/>
              <a:t>Find the absolute uncertainty when these lengths are added: </a:t>
            </a:r>
          </a:p>
          <a:p>
            <a:pPr marL="82296" indent="0">
              <a:buNone/>
            </a:pPr>
            <a:r>
              <a:rPr lang="en-CA" sz="2600" dirty="0" smtClean="0"/>
              <a:t> (1.5 m ± 0.2 m) + (1.36 m ± 0.05 m) + (2.85 m ± 0.08 m)</a:t>
            </a:r>
          </a:p>
          <a:p>
            <a:pPr marL="82296" indent="0">
              <a:buNone/>
            </a:pPr>
            <a:r>
              <a:rPr lang="en-CA" sz="2600" dirty="0" smtClean="0"/>
              <a:t>   = </a:t>
            </a:r>
          </a:p>
          <a:p>
            <a:pPr marL="82296" indent="0">
              <a:buNone/>
            </a:pPr>
            <a:r>
              <a:rPr lang="en-CA" sz="2600" dirty="0" smtClean="0"/>
              <a:t>      </a:t>
            </a:r>
          </a:p>
          <a:p>
            <a:endParaRPr lang="en-CA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992044" y="3936729"/>
            <a:ext cx="6336704" cy="841174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82296" indent="0">
              <a:buNone/>
            </a:pPr>
            <a:endParaRPr lang="en-CA" sz="4200" dirty="0" smtClean="0">
              <a:solidFill>
                <a:srgbClr val="FF0000"/>
              </a:solidFill>
            </a:endParaRPr>
          </a:p>
          <a:p>
            <a:pPr marL="82296" indent="0">
              <a:buNone/>
            </a:pPr>
            <a:r>
              <a:rPr lang="en-CA" sz="2600" dirty="0" smtClean="0"/>
              <a:t>      </a:t>
            </a:r>
          </a:p>
          <a:p>
            <a:endParaRPr lang="en-CA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411356" y="4453866"/>
            <a:ext cx="7498080" cy="2350502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CA" sz="2400" dirty="0" smtClean="0"/>
              <a:t>Find the relative uncertainty when lengths are multiplied to find volume: </a:t>
            </a:r>
          </a:p>
          <a:p>
            <a:pPr marL="82296" indent="0">
              <a:buNone/>
            </a:pPr>
            <a:r>
              <a:rPr lang="en-CA" sz="2400" dirty="0" smtClean="0"/>
              <a:t> (1.5 m ± 0.1 m) x (1.36 m ± 0.05 m) x (2.85 m ± 0.05 m)</a:t>
            </a:r>
          </a:p>
          <a:p>
            <a:pPr marL="82296" indent="0">
              <a:buNone/>
            </a:pPr>
            <a:r>
              <a:rPr lang="en-CA" sz="2400" dirty="0" smtClean="0"/>
              <a:t>   =</a:t>
            </a:r>
          </a:p>
          <a:p>
            <a:endParaRPr lang="en-CA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1907704" y="5135912"/>
            <a:ext cx="7498080" cy="2350502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82296" indent="0">
              <a:buNone/>
            </a:pPr>
            <a:endParaRPr lang="en-CA" sz="3000" dirty="0" smtClean="0"/>
          </a:p>
          <a:p>
            <a:pPr marL="82296" indent="0">
              <a:buNone/>
            </a:pPr>
            <a:r>
              <a:rPr lang="en-CA" sz="2600" dirty="0" smtClean="0"/>
              <a:t> </a:t>
            </a:r>
            <a:r>
              <a:rPr lang="en-CA" sz="2600" dirty="0" smtClean="0"/>
              <a:t>      </a:t>
            </a:r>
            <a:endParaRPr lang="en-CA" sz="2600" dirty="0" smtClean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12704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717</TotalTime>
  <Words>263</Words>
  <Application>Microsoft Office PowerPoint</Application>
  <PresentationFormat>On-screen Show (4:3)</PresentationFormat>
  <Paragraphs>45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Calibri</vt:lpstr>
      <vt:lpstr>Gill Sans MT</vt:lpstr>
      <vt:lpstr>Symath</vt:lpstr>
      <vt:lpstr>Symbol</vt:lpstr>
      <vt:lpstr>Verdana</vt:lpstr>
      <vt:lpstr>Wingdings 2</vt:lpstr>
      <vt:lpstr>Solstice</vt:lpstr>
      <vt:lpstr>Warm Up:  Measurement and Measurement Error</vt:lpstr>
      <vt:lpstr>New Concept: Absolute and Relative Errors &amp; Error Propagation</vt:lpstr>
      <vt:lpstr>Converting between Absolute and Relative Uncertainty</vt:lpstr>
      <vt:lpstr>Propagating Errors</vt:lpstr>
    </vt:vector>
  </TitlesOfParts>
  <Company>Peel District School Board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Measurement Principles</dc:title>
  <dc:creator>PeelUser</dc:creator>
  <cp:lastModifiedBy>Ryan, Linda</cp:lastModifiedBy>
  <cp:revision>33</cp:revision>
  <cp:lastPrinted>2019-09-06T12:31:59Z</cp:lastPrinted>
  <dcterms:created xsi:type="dcterms:W3CDTF">2010-09-08T15:03:02Z</dcterms:created>
  <dcterms:modified xsi:type="dcterms:W3CDTF">2019-09-06T12:32:02Z</dcterms:modified>
</cp:coreProperties>
</file>