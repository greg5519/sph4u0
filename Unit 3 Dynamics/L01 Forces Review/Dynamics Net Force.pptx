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63" r:id="rId2"/>
    <p:sldId id="258" r:id="rId3"/>
    <p:sldId id="257" r:id="rId4"/>
    <p:sldId id="260" r:id="rId5"/>
    <p:sldId id="259" r:id="rId6"/>
    <p:sldId id="265" r:id="rId7"/>
    <p:sldId id="271" r:id="rId8"/>
    <p:sldId id="269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02A7A-9E23-4070-943B-F29A8A77A2C9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682F7-C062-4C7D-8634-E250E283BE0A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5232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CF19B-57D1-4E9B-9E99-3905F2147014}" type="datetimeFigureOut">
              <a:rPr lang="en-US" smtClean="0"/>
              <a:pPr/>
              <a:t>3/12/2020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0789B-A855-4F73-82FF-D02740652705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bs.org/wgbh/nova/elegant/media2/3012_q_06.html" TargetMode="External"/><Relationship Id="rId2" Type="http://schemas.openxmlformats.org/officeDocument/2006/relationships/hyperlink" Target="http://www.youtube.com/watch?v=qt6MiLxeDv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6600" dirty="0" smtClean="0"/>
              <a:t>Dynamics</a:t>
            </a:r>
            <a:endParaRPr lang="en-CA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1604" y="2500306"/>
            <a:ext cx="6858048" cy="88264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CA" sz="6000" dirty="0" smtClean="0"/>
              <a:t>Forces and Net Force in 2- Dimensions</a:t>
            </a:r>
            <a:endParaRPr lang="en-CA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Question 1: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5729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Three students are pushing a stalled car.  Student A pushes on the back of the car with a force of </a:t>
            </a:r>
          </a:p>
          <a:p>
            <a:pPr>
              <a:buNone/>
            </a:pPr>
            <a:r>
              <a:rPr lang="en-CA" b="1" dirty="0" smtClean="0"/>
              <a:t>     50 N East</a:t>
            </a:r>
            <a:r>
              <a:rPr lang="en-CA" dirty="0" smtClean="0"/>
              <a:t>.  Students B and C </a:t>
            </a:r>
            <a:r>
              <a:rPr lang="en-CA" b="1" dirty="0" smtClean="0"/>
              <a:t>each</a:t>
            </a:r>
            <a:r>
              <a:rPr lang="en-CA" dirty="0" smtClean="0"/>
              <a:t> push with forces of </a:t>
            </a:r>
            <a:r>
              <a:rPr lang="en-CA" b="1" dirty="0" smtClean="0"/>
              <a:t>60 N East </a:t>
            </a:r>
            <a:r>
              <a:rPr lang="en-CA" dirty="0" smtClean="0"/>
              <a:t>either side of the car.  There is a frictional force of </a:t>
            </a:r>
            <a:r>
              <a:rPr lang="en-CA" b="1" dirty="0" smtClean="0"/>
              <a:t>170 N West </a:t>
            </a:r>
            <a:r>
              <a:rPr lang="en-CA" dirty="0" smtClean="0"/>
              <a:t>on the car.  The car is:</a:t>
            </a:r>
          </a:p>
          <a:p>
            <a:pPr marL="1028700" lvl="1" indent="-571500">
              <a:buAutoNum type="romanUcParenR"/>
            </a:pPr>
            <a:r>
              <a:rPr lang="en-CA" b="1" dirty="0" smtClean="0"/>
              <a:t>At rest.</a:t>
            </a:r>
          </a:p>
          <a:p>
            <a:pPr marL="1028700" lvl="1" indent="-571500">
              <a:buAutoNum type="romanUcParenR"/>
            </a:pPr>
            <a:r>
              <a:rPr lang="en-CA" b="1" dirty="0" smtClean="0"/>
              <a:t>Moving forward  and gaining speed.</a:t>
            </a:r>
          </a:p>
          <a:p>
            <a:pPr marL="1028700" lvl="1" indent="-571500">
              <a:buAutoNum type="romanUcParenR"/>
            </a:pPr>
            <a:r>
              <a:rPr lang="en-CA" b="1" dirty="0" smtClean="0"/>
              <a:t>Moving forward at constant speed.</a:t>
            </a:r>
          </a:p>
          <a:p>
            <a:pPr marL="1028700" lvl="1" indent="-571500">
              <a:buAutoNum type="romanUcParenR"/>
            </a:pPr>
            <a:r>
              <a:rPr lang="en-CA" b="1" dirty="0" smtClean="0"/>
              <a:t>Either I or III.   </a:t>
            </a:r>
            <a:endParaRPr lang="en-CA" b="1" dirty="0"/>
          </a:p>
        </p:txBody>
      </p:sp>
      <p:sp>
        <p:nvSpPr>
          <p:cNvPr id="8194" name="AutoShape 2" descr="data:image/jpeg;base64,/9j/4AAQSkZJRgABAQAAAQABAAD/2wBDAAkGBwgHBgkIBwgKCgkLDRYPDQwMDRsUFRAWIB0iIiAdHx8kKDQsJCYxJx8fLT0tMTU3Ojo6Iys/RD84QzQ5Ojf/2wBDAQoKCg0MDRoPDxo3JR8lNzc3Nzc3Nzc3Nzc3Nzc3Nzc3Nzc3Nzc3Nzc3Nzc3Nzc3Nzc3Nzc3Nzc3Nzc3Nzc3Nzf/wAARCACbAKcDASIAAhEBAxEB/8QAHAABAAEFAQEAAAAAAAAAAAAAAAcBBAUGCAID/8QAOxAAAQMDAgQDBgMHAwUAAAAAAQACAwQFEQYhBxIxQVFhgRMiMkJScRShshUjYpGxwdEkJTMmNEOCwv/EABoBAQADAQEBAAAAAAAAAAAAAAABBAUDAgb/xAAqEQEAAgEEAgAFAwUAAAAAAAAAAQIDBBESMRMhBSJBYdEyUYEjQkNxsf/aAAwDAQACEQMRAD8AnFERAREQEREBERAREQEREBERAREQERYy/wB+tunrfJXXeqjp4G9C47uPg0dSfIIMlkKM9e8XbXp50lHZw25XEAglrv3MR/icOp8h4dQo11/xSu+p45ILZ7S22Y+7jOJZ/Jzh+kbeJKv+EvC43p0V71FCWWwYdT0zgQar+I+DP1fbqGzcKW6z1HfXaqvNwlitz4nRxwOGGTA9ORnQNBHxdTjvuil+ONkTGsjaGsaMNa0YAHgEQe0REBERAREQEREBERAREQEREBUJHihOFFPErim22vksmlXNqrq4mN87PebTnpgdnP6+Qxv4IiZbFxA4iWzR1MYiRV3R7f3VGx2/3eflH5lQLfq+432b9t6yq3v6+wo2+7gHflaB8I6eewyV9BSstwlvV9ndVVz3cxMh5iXHtk9T59gts4aaEqNX1rNRamiItbD/AKalcP8Anx/8fqPkuEXnJO1ev3/CtXLOa0xT9MfX8PXDDh3JqWeLUOpYOS2N3o6EtwJQOjiPo8vm+3We2NDWgBoAGwGOipG3kaGtADQMAAYwva7xG3pZiIiPQiIiRERAREQEREBERAREQEREBeXO5QSTgDxVJJGRxufI4Na0Ekk4ACgfiLxEqtT1j9PaTlcygG1TWNyPbDuAezPzd9usTMRG8otaKxvMr7iZxLqLhUyab0dKXOdllVXRnGB3aw9h4u/ktMoKCisFG+pqHh0oGZJnDc57D1/mri3W+ls9I7lOMNzJK7AJxv18E0np+r4jahEYD4rDRuBnlzjm8h4uP5D86XO2otxr6rDMnJfWX409Ujuf3X3D3R9Rr67i8Xdj47FSvwyM7fiCPlBz0zjmPp9uhYIIoYY4oWNjjY0NYxgwGgdAB2Xzt9FT26jho6OJsNPAwMjjaMBoCuVdiIiNoaVaxSONeoERFL0IiICIiAiIgIiICIiAiIgLy9wY0ucQABkknGAjnAMJLsADJPgoF4mcQKnVdZLprS0pFuGW1dWDgTY6gH6P1fbrEzERvKLTFY3npTiVr6p1bWS6c0xIW2xpxU1Y29vjqAfo/V9uuKttvgt1OIado8XOI3cfEqlst8FspWwU426ueerj4lY++VtTLURWa1MdLX1bgwNZuRnt9/6BZmTJbUXilOmJmzX1mTxY+nqCkrtaX+LT9l/4A7mqqj5WtBGSfIeHcrozTNhotN2amtdtZywwNxzOxzSO7udjuTusLw20XT6NsTYC2N9xnAfWTt35ndmg/SM4Hqe629aOOkUrxhsYsVcVIrUREXt0EREBERAREQEREBERAREQFQuwjjhRPxd4hPt7Xaa07IX3aoHJNLGd6dp7D+Ij+Q38ERvsxfFvX0lyqJNI6ZkL3OcWVtSw7bdYwR2+o+nitXtNthtlKIYRlx3e/u4r42O0x2yn3IfUSbyv8fLPgshPKyGJ8srg1jRlzj2CytTqJyTxp0wdbqpzW4Y+v+ysr3c47XRumd70rvdjZ9R8/JSBwW0PJb6c6mvbHm6VgJhZL1hjJ6kfU78httutP4Y6WfrjUbr5dID+xaF2I43HaWQYIbjuO7vQbrocADorunwxir92po9NGCnvuexowFVEVhbEREBERAREQUyqqK6njFT2rWNdZr5ap6Skgk5GVGS546e85g+U7kEdsbb7SRbLpQ3ajZWWyqiqqZ/wyRPDgf8ABQXiKmVVAREQEPRFr+ttVUekbFPcqzDngFtPDnBmkwcN/Lc9ggwfFTXUekLUIKTEl2rAW00Y39mPrPkOw7n1UN2G1vp+eurnGSvqSXyPeckE7nfuT3XzohXagu02o7+/2lTO7miYRgNHbA7AdAFnFnavUf2VY3xDV/4qfyLCSUtZqzUNNpm0uA53ZqJcZDANyT5D8zgL76hugtlCXNx7eT3YwfHufRSxwc0WdN2Q11xj/wB1r8Pk5t3RM6tZnx7nzPko0WHf+pY+HabefLb+Py3KwWejsNpprZbohHT07eVo7k93HzJ3KySphVWk2RERAREQEREBERBH3Fbh9Dq+3/jKFjY7zTs/dPOwmaN+R39j29VA2lq6/WKumfY6ySluEDyJ6N2wkDTggtOxx0IO/guuTuNlE3GDQEtd/wBTaej5bpTjnqY4+s7AOoA6uGMY7j0Cid9vSLb7eu300bxlt1xeyg1PGLXcMhpkwfYud67s9dvNSnFIyWNskb2vY4ZDmnII8iuXKR1DqeizUxtFQwYeW7OafEHwV3Yr1qjQcmbTP+NtgOX0cuSAM77dWnzHqFxpnrM8bepVcerra3C/qzptFomieKFh1Vy0xeaC4nb8LUEDnOPkd0d+R8lvJOy7rb4XCtp7dRzVlZK2GngYXySOOzWjqVzXfLxU8Q9TvulWx0dqpjyUsBO2M9x0yervQdlsXF7Vsup7wNKWWUGhp3h1ZM07Pe07jza383fZYykpoqOnjggbyxsGB/lVNVn8deMdyoa7VeKnGvcvsBytAHQLy97Y2Oe9wa1oySew7r0sFe31N0rqXT1qbz1dZIGkZ6A9j5dz5BZuLHOS3GGLp8M5rxWGe4W6ek1lq516rYwbTbHYja7pJIN2t8PBx9F0M1YfSOn6fTGn6O1UuCIWD2kmMGR5+J3qVmVuVrFY2h9PSsUrFY6gREUvQiIgIiICIiAiIgKhGVVEEFcW9DTWK4O1ZpyHFPkuroGDZmergPpO+fA7/bA2y4Q3GkZPAeuzm92nwK6RljZLG+ORocx4LXNIyCD1BXO/ETSFToK8G8WiJz7FVPxJG3/wOPyny+k+n3ranB5a7x2pazSxnrvH6oYu7WCjuILuX2M56SMHX7juvs3WuubBaZrS6p/FwTN9lDUkF0kPb3Xden1Z6q7paiKrgZPTu545BkEf0X1wqOLU5MXyz7ZeLW5cHy29x92L0/am2ujAcB7d+8jh/T7BZREVe95vabSqZMlsl5tbuVvcKuOho5amXowZA8T2C2zgRpeRwqdXXNgNRVkspAc5a3J5neuwHkD4rQ2W+o1hq2i07Rk+xa8Pqng/CwY5j6A7eZXTFBSQUFFBR0kbY6eCMRxsb0a0DAC1NJh4U3nuW7oNP48fKe5XCIitr4iIgIiICIiAiIgIiICIiArW5UFLc6CahroWzU07CySN3RwKukQcy6msFbw51AaebnmsdW8mnnx8I8D/ABDv4jceCyDHtkY18bg5rhkOHQhTnqewUOpbRPbLlHzQyjZw+KNw6OaexC51qaOv0PfH2G+EGB3vU1Tj3XNPRw8Ae47FUtVp+cc69szXaTnHkp39fuzKsb1Xi3W+Sf5scsYPd3b/AD6K+3wsbZbS/Wuu6S0N/wCwoz7aqJGQWtI5h65DfUlUtNi8mT/TN0eDzZYieoSZwL0o60WF96r2n9oXT3/fG7Is+6P/AG+L1HgpOGy8RtaxrWMAa1oADR2C9rafSiIiAiIgIiICIiAiIgIiICIiAiIgLV9faOo9ZWR9FU4iqGe9TVIGTE/+7T0I/utoVD0QcoVNxuOnPxlnvMD47hSjljJ3z4b9xvkHuFNPBHSxsWlxX1cZbcLmRLIX/E2P5G/y3x5qw402e3VVbpapnpI3zz3WGklk6F8JJJYfEf03UpsaGtAaAANgB2C8Vx1rMzH1c6YqUmZrHb0qoi9ugiIgIiICIiAiIgIiICIiD//Z"/>
          <p:cNvSpPr>
            <a:spLocks noChangeAspect="1" noChangeArrowheads="1"/>
          </p:cNvSpPr>
          <p:nvPr/>
        </p:nvSpPr>
        <p:spPr bwMode="auto">
          <a:xfrm>
            <a:off x="0" y="-647700"/>
            <a:ext cx="1466850" cy="13620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5214950"/>
            <a:ext cx="862010" cy="622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Dynamics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85720" y="785794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The study of motion including the </a:t>
            </a:r>
            <a:r>
              <a:rPr lang="en-CA" sz="2400" b="1" dirty="0" smtClean="0">
                <a:solidFill>
                  <a:srgbClr val="FF0000"/>
                </a:solidFill>
              </a:rPr>
              <a:t>forces</a:t>
            </a:r>
            <a:r>
              <a:rPr lang="en-CA" sz="2400" b="1" dirty="0" smtClean="0"/>
              <a:t> involved in motion</a:t>
            </a:r>
            <a:r>
              <a:rPr lang="en-CA" dirty="0" smtClean="0"/>
              <a:t>.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285720" y="1285860"/>
            <a:ext cx="814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 smtClean="0"/>
              <a:t>A force is a </a:t>
            </a:r>
            <a:r>
              <a:rPr lang="en-CA" sz="2800" b="1" dirty="0" smtClean="0">
                <a:solidFill>
                  <a:srgbClr val="FF0000"/>
                </a:solidFill>
              </a:rPr>
              <a:t>push</a:t>
            </a:r>
            <a:r>
              <a:rPr lang="en-CA" sz="2800" b="1" dirty="0" smtClean="0"/>
              <a:t> or a </a:t>
            </a:r>
            <a:r>
              <a:rPr lang="en-CA" sz="2800" b="1" dirty="0" smtClean="0">
                <a:solidFill>
                  <a:srgbClr val="FF0000"/>
                </a:solidFill>
              </a:rPr>
              <a:t>pull</a:t>
            </a:r>
            <a:r>
              <a:rPr lang="en-CA" sz="2800" b="1" dirty="0" smtClean="0"/>
              <a:t>.  </a:t>
            </a:r>
            <a:r>
              <a:rPr lang="en-CA" dirty="0" smtClean="0"/>
              <a:t> 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3143240" y="1500174"/>
            <a:ext cx="378621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  <a:p>
            <a:r>
              <a:rPr lang="en-CA" sz="2800" b="1" u="sng" dirty="0" smtClean="0"/>
              <a:t>The Fundamental Forces</a:t>
            </a:r>
            <a:endParaRPr lang="en-CA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166015"/>
            <a:ext cx="6530067" cy="4374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The Search for Unification of Forces</a:t>
            </a:r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214282" y="1285860"/>
            <a:ext cx="321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Electricity</a:t>
            </a:r>
            <a:endParaRPr lang="en-CA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928934"/>
            <a:ext cx="3214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 smtClean="0"/>
              <a:t>Magnetism</a:t>
            </a:r>
            <a:endParaRPr lang="en-CA" sz="4000" dirty="0"/>
          </a:p>
        </p:txBody>
      </p:sp>
      <p:sp>
        <p:nvSpPr>
          <p:cNvPr id="6" name="Right Brace 5"/>
          <p:cNvSpPr/>
          <p:nvPr/>
        </p:nvSpPr>
        <p:spPr>
          <a:xfrm>
            <a:off x="2285984" y="1571612"/>
            <a:ext cx="1500198" cy="1857388"/>
          </a:xfrm>
          <a:prstGeom prst="rightBrac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3786182" y="2071678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Electromagnetism</a:t>
            </a:r>
          </a:p>
          <a:p>
            <a:pPr algn="ctr"/>
            <a:r>
              <a:rPr lang="en-CA" sz="3600" dirty="0" smtClean="0"/>
              <a:t>Maxwell, 1865</a:t>
            </a:r>
            <a:endParaRPr lang="en-CA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357158" y="3857628"/>
            <a:ext cx="407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Electromagnetism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596" y="4643446"/>
            <a:ext cx="407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Weak Nuclear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4000496" y="3929066"/>
            <a:ext cx="1500198" cy="1357322"/>
          </a:xfrm>
          <a:prstGeom prst="rightBrac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5072034" y="4000504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Electroweak Theory</a:t>
            </a:r>
          </a:p>
          <a:p>
            <a:pPr algn="ctr"/>
            <a:r>
              <a:rPr lang="en-CA" sz="3600" dirty="0" smtClean="0"/>
              <a:t>1970’s</a:t>
            </a:r>
            <a:endParaRPr lang="en-CA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714348" y="5286388"/>
            <a:ext cx="407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Strong Nuclear?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9190" y="5214950"/>
            <a:ext cx="4071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5400" b="1" dirty="0" smtClean="0"/>
              <a:t>Gravity???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86" y="6143644"/>
            <a:ext cx="364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hlinkClick r:id="rId2"/>
              </a:rPr>
              <a:t>Elegant Universe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3357554" y="6215082"/>
            <a:ext cx="364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hlinkClick r:id="rId3"/>
              </a:rPr>
              <a:t>Gravity the odd man out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10" grpId="0"/>
      <p:bldP spid="11" grpId="0" animBg="1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917596"/>
          </a:xfrm>
        </p:spPr>
        <p:txBody>
          <a:bodyPr/>
          <a:lstStyle/>
          <a:p>
            <a:r>
              <a:rPr lang="en-CA" dirty="0" smtClean="0"/>
              <a:t>Common Forces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1142984"/>
            <a:ext cx="74295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ym typeface="Symbol"/>
              </a:rPr>
              <a:t> </a:t>
            </a:r>
            <a:r>
              <a:rPr lang="en-CA" sz="3600" dirty="0" smtClean="0"/>
              <a:t>Force of Gravity due to Earth- </a:t>
            </a:r>
            <a:r>
              <a:rPr lang="en-CA" sz="3600" dirty="0" err="1" smtClean="0"/>
              <a:t>F</a:t>
            </a:r>
            <a:r>
              <a:rPr lang="en-CA" sz="3600" baseline="-25000" dirty="0" err="1" smtClean="0"/>
              <a:t>g</a:t>
            </a:r>
            <a:endParaRPr lang="en-CA" sz="3600" baseline="-25000" dirty="0" smtClean="0"/>
          </a:p>
          <a:p>
            <a:endParaRPr lang="en-CA" baseline="-25000" dirty="0" smtClean="0"/>
          </a:p>
          <a:p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857224" y="1928802"/>
            <a:ext cx="74295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ym typeface="Symbol"/>
              </a:rPr>
              <a:t> </a:t>
            </a:r>
            <a:r>
              <a:rPr lang="en-CA" sz="3600" dirty="0" smtClean="0"/>
              <a:t>Normal Force-F</a:t>
            </a:r>
            <a:r>
              <a:rPr lang="en-CA" sz="3600" baseline="-25000" dirty="0" smtClean="0"/>
              <a:t>n</a:t>
            </a:r>
          </a:p>
          <a:p>
            <a:endParaRPr lang="en-CA" baseline="-25000" dirty="0" smtClean="0"/>
          </a:p>
          <a:p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857224" y="2143116"/>
            <a:ext cx="742955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/>
            </a:r>
            <a:br>
              <a:rPr lang="en-CA" sz="3600" dirty="0" smtClean="0"/>
            </a:br>
            <a:r>
              <a:rPr lang="en-CA" sz="3600" dirty="0" smtClean="0">
                <a:sym typeface="Symbol"/>
              </a:rPr>
              <a:t>  </a:t>
            </a:r>
            <a:r>
              <a:rPr lang="en-CA" sz="3600" dirty="0" smtClean="0"/>
              <a:t>Frictional Forces-F</a:t>
            </a:r>
            <a:r>
              <a:rPr lang="en-CA" sz="3600" baseline="-25000" dirty="0" smtClean="0"/>
              <a:t>f</a:t>
            </a:r>
            <a:r>
              <a:rPr lang="en-CA" sz="3600" dirty="0" smtClean="0"/>
              <a:t>- general friction</a:t>
            </a:r>
          </a:p>
          <a:p>
            <a:r>
              <a:rPr lang="en-CA" sz="3600" dirty="0"/>
              <a:t>	</a:t>
            </a:r>
            <a:r>
              <a:rPr lang="en-CA" sz="3600" dirty="0" smtClean="0"/>
              <a:t>		    </a:t>
            </a:r>
            <a:r>
              <a:rPr lang="en-CA" sz="3600" dirty="0" err="1" smtClean="0"/>
              <a:t>F</a:t>
            </a:r>
            <a:r>
              <a:rPr lang="en-CA" sz="3600" baseline="-25000" dirty="0" err="1" smtClean="0"/>
              <a:t>k</a:t>
            </a:r>
            <a:r>
              <a:rPr lang="en-CA" sz="3600" dirty="0" smtClean="0"/>
              <a:t>-kinetic friction</a:t>
            </a:r>
          </a:p>
          <a:p>
            <a:r>
              <a:rPr lang="en-CA" sz="3600" baseline="-25000" dirty="0"/>
              <a:t>	</a:t>
            </a:r>
            <a:r>
              <a:rPr lang="en-CA" sz="3600" baseline="-25000" dirty="0" smtClean="0"/>
              <a:t>		</a:t>
            </a:r>
            <a:r>
              <a:rPr lang="en-CA" sz="3600" dirty="0" smtClean="0"/>
              <a:t>    F</a:t>
            </a:r>
            <a:r>
              <a:rPr lang="en-CA" sz="3600" baseline="-25000" dirty="0" smtClean="0"/>
              <a:t>s</a:t>
            </a:r>
            <a:r>
              <a:rPr lang="en-CA" sz="3600" dirty="0" smtClean="0"/>
              <a:t> –static friction</a:t>
            </a:r>
            <a:endParaRPr lang="en-CA" sz="3600" baseline="-25000" dirty="0" smtClean="0"/>
          </a:p>
          <a:p>
            <a:endParaRPr lang="en-CA" baseline="-25000" dirty="0" smtClean="0"/>
          </a:p>
          <a:p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928662" y="4429132"/>
            <a:ext cx="74295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ym typeface="Symbol"/>
              </a:rPr>
              <a:t> </a:t>
            </a:r>
            <a:r>
              <a:rPr lang="en-CA" sz="3600" dirty="0" smtClean="0"/>
              <a:t>Force of tension-F</a:t>
            </a:r>
            <a:r>
              <a:rPr lang="en-CA" sz="3600" baseline="-25000" dirty="0"/>
              <a:t>t</a:t>
            </a:r>
            <a:endParaRPr lang="en-CA" sz="3600" baseline="-25000" dirty="0" smtClean="0"/>
          </a:p>
          <a:p>
            <a:endParaRPr lang="en-CA" baseline="-25000" dirty="0" smtClean="0"/>
          </a:p>
          <a:p>
            <a:endParaRPr lang="en-CA" dirty="0"/>
          </a:p>
        </p:txBody>
      </p:sp>
      <p:sp>
        <p:nvSpPr>
          <p:cNvPr id="11" name="TextBox 10"/>
          <p:cNvSpPr txBox="1"/>
          <p:nvPr/>
        </p:nvSpPr>
        <p:spPr>
          <a:xfrm>
            <a:off x="928662" y="5072074"/>
            <a:ext cx="74295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ym typeface="Symbol"/>
              </a:rPr>
              <a:t> </a:t>
            </a:r>
            <a:r>
              <a:rPr lang="en-CA" sz="3600" dirty="0" smtClean="0"/>
              <a:t>Force of air resistance-F</a:t>
            </a:r>
            <a:r>
              <a:rPr lang="en-CA" sz="3600" baseline="-25000" dirty="0" smtClean="0"/>
              <a:t>air</a:t>
            </a:r>
          </a:p>
          <a:p>
            <a:endParaRPr lang="en-CA" baseline="-25000" dirty="0" smtClean="0"/>
          </a:p>
          <a:p>
            <a:endParaRPr lang="en-CA" dirty="0"/>
          </a:p>
        </p:txBody>
      </p:sp>
      <p:sp>
        <p:nvSpPr>
          <p:cNvPr id="12" name="TextBox 11"/>
          <p:cNvSpPr txBox="1"/>
          <p:nvPr/>
        </p:nvSpPr>
        <p:spPr>
          <a:xfrm>
            <a:off x="857224" y="5750004"/>
            <a:ext cx="74295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ym typeface="Symbol"/>
              </a:rPr>
              <a:t> </a:t>
            </a:r>
            <a:r>
              <a:rPr lang="en-CA" sz="3600" dirty="0" smtClean="0"/>
              <a:t>Applied force-</a:t>
            </a:r>
            <a:r>
              <a:rPr lang="en-CA" sz="3600" dirty="0" err="1" smtClean="0"/>
              <a:t>F</a:t>
            </a:r>
            <a:r>
              <a:rPr lang="en-CA" sz="3600" baseline="-25000" dirty="0" err="1" smtClean="0"/>
              <a:t>app</a:t>
            </a:r>
            <a:endParaRPr lang="en-CA" sz="3600" baseline="-25000" dirty="0" smtClean="0"/>
          </a:p>
          <a:p>
            <a:endParaRPr lang="en-CA" baseline="-25000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FREE BODY DIAGRAMS (FBD)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628654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 Forces are vectors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5720" y="1916832"/>
            <a:ext cx="92155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·"/>
            </a:pPr>
            <a:r>
              <a:rPr lang="en-US" sz="3200" dirty="0" smtClean="0"/>
              <a:t> FBD diagrams show all forces acting on ONE object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596" y="2571744"/>
            <a:ext cx="814393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 Choose an appropriate coordinate system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58" y="3286124"/>
            <a:ext cx="81439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Example:  Draw an FBD for sled pulled along flat rough </a:t>
            </a:r>
            <a:r>
              <a:rPr lang="en-US" sz="3200" dirty="0" smtClean="0">
                <a:sym typeface="Symbol"/>
              </a:rPr>
              <a:t>surface </a:t>
            </a:r>
            <a:r>
              <a:rPr lang="en-US" sz="3200" dirty="0" smtClean="0">
                <a:sym typeface="Symbol"/>
              </a:rPr>
              <a:t>using a rope inclined at an angle of 30 </a:t>
            </a:r>
            <a:r>
              <a:rPr lang="en-US" sz="3200" dirty="0" smtClean="0">
                <a:sym typeface="Symbol" panose="05050102010706020507" pitchFamily="18" charset="2"/>
              </a:rPr>
              <a:t> to the horizontal</a:t>
            </a:r>
            <a:r>
              <a:rPr lang="en-US" sz="3200" dirty="0" smtClean="0">
                <a:sym typeface="Symbol"/>
              </a:rPr>
              <a:t>. 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4509120"/>
            <a:ext cx="3650402" cy="2536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r>
              <a:rPr lang="en-US" dirty="0" smtClean="0"/>
              <a:t>2D Force Analysis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8291" y="1628800"/>
            <a:ext cx="81439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Find the acceleration of a sled is pulled </a:t>
            </a:r>
            <a:r>
              <a:rPr lang="en-US" sz="2800" dirty="0" smtClean="0">
                <a:sym typeface="Symbol"/>
              </a:rPr>
              <a:t>along flat rough </a:t>
            </a:r>
            <a:r>
              <a:rPr lang="en-US" sz="2800" dirty="0" smtClean="0">
                <a:sym typeface="Symbol"/>
              </a:rPr>
              <a:t>surface using </a:t>
            </a:r>
            <a:r>
              <a:rPr lang="en-US" sz="2800" dirty="0" smtClean="0">
                <a:sym typeface="Symbol"/>
              </a:rPr>
              <a:t>a rope inclined at an angle of 30 </a:t>
            </a:r>
            <a:r>
              <a:rPr lang="en-US" sz="2800" dirty="0" smtClean="0">
                <a:sym typeface="Symbol" panose="05050102010706020507" pitchFamily="18" charset="2"/>
              </a:rPr>
              <a:t> to the </a:t>
            </a:r>
            <a:r>
              <a:rPr lang="en-US" sz="2800" dirty="0" smtClean="0">
                <a:sym typeface="Symbol" panose="05050102010706020507" pitchFamily="18" charset="2"/>
              </a:rPr>
              <a:t>horizontal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given…</a:t>
            </a:r>
            <a:br>
              <a:rPr lang="en-US" sz="2800" dirty="0" smtClean="0">
                <a:sym typeface="Symbol"/>
              </a:rPr>
            </a:br>
            <a:endParaRPr lang="en-US" sz="2400" dirty="0" smtClean="0">
              <a:sym typeface="Symbol"/>
            </a:endParaRPr>
          </a:p>
          <a:p>
            <a:pPr marL="457200" indent="-457200">
              <a:buFontTx/>
              <a:buChar char="-"/>
            </a:pPr>
            <a:r>
              <a:rPr lang="en-US" sz="2400" dirty="0" smtClean="0">
                <a:sym typeface="Symbol"/>
              </a:rPr>
              <a:t>Mass of sled = 10.0 kg</a:t>
            </a:r>
          </a:p>
          <a:p>
            <a:pPr marL="457200" indent="-457200">
              <a:buFontTx/>
              <a:buChar char="-"/>
            </a:pPr>
            <a:r>
              <a:rPr lang="en-US" sz="2400" dirty="0" smtClean="0">
                <a:sym typeface="Symbol"/>
              </a:rPr>
              <a:t>Applied Force = 200.0 N</a:t>
            </a:r>
          </a:p>
          <a:p>
            <a:pPr marL="457200" indent="-457200">
              <a:buFontTx/>
              <a:buChar char="-"/>
            </a:pPr>
            <a:r>
              <a:rPr lang="en-CA" sz="2400" dirty="0" smtClean="0">
                <a:sym typeface="Symbol"/>
              </a:rPr>
              <a:t>Coefficient of Friction =  0.730</a:t>
            </a:r>
            <a:endParaRPr lang="en-US" sz="2400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776961"/>
            <a:ext cx="3650402" cy="253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7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FREE BODY DIAGRAMS (FBD)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628654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 Forces are vectors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5720" y="1916832"/>
            <a:ext cx="92155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·"/>
            </a:pPr>
            <a:r>
              <a:rPr lang="en-US" sz="3200" dirty="0" smtClean="0"/>
              <a:t> FBD diagrams show all forces acting on ONE object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596" y="2571744"/>
            <a:ext cx="814393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 Choose an appropriate coordinate system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58" y="3286124"/>
            <a:ext cx="81439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ym typeface="Symbol"/>
              </a:rPr>
              <a:t>Example:  Draw an FBD for a block sliding down on a ROUGH inclined plane. </a:t>
            </a:r>
            <a:endParaRPr lang="en-US" sz="32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ight Triangle 9"/>
          <p:cNvSpPr/>
          <p:nvPr/>
        </p:nvSpPr>
        <p:spPr>
          <a:xfrm>
            <a:off x="2000232" y="4786322"/>
            <a:ext cx="3500462" cy="150019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 rot="1417542">
            <a:off x="3067635" y="4922827"/>
            <a:ext cx="785818" cy="5000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57686" y="5214950"/>
            <a:ext cx="857256" cy="35719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4876" y="4572008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Direction of  Possible Motion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558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9" grpId="0"/>
      <p:bldP spid="10" grpId="0" animBg="1"/>
      <p:bldP spid="11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Homework: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Worksheet-FBD diagrams</a:t>
            </a:r>
          </a:p>
          <a:p>
            <a:endParaRPr lang="en-CA" dirty="0"/>
          </a:p>
          <a:p>
            <a:r>
              <a:rPr lang="en-CA" dirty="0" smtClean="0"/>
              <a:t>Section </a:t>
            </a:r>
            <a:r>
              <a:rPr lang="en-US" dirty="0" smtClean="0"/>
              <a:t>2.1 pg 62-64</a:t>
            </a:r>
            <a:r>
              <a:rPr lang="en-CA" dirty="0" smtClean="0"/>
              <a:t> </a:t>
            </a:r>
          </a:p>
          <a:p>
            <a:r>
              <a:rPr lang="en-CA" dirty="0" smtClean="0"/>
              <a:t>Text Questions  </a:t>
            </a:r>
            <a:r>
              <a:rPr lang="en-US" dirty="0" smtClean="0"/>
              <a:t>P1-3 pg. 65</a:t>
            </a:r>
            <a:endParaRPr lang="en-CA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316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Symbol</vt:lpstr>
      <vt:lpstr>Office Theme</vt:lpstr>
      <vt:lpstr>Dynamics</vt:lpstr>
      <vt:lpstr>Question 1:</vt:lpstr>
      <vt:lpstr>Dynamics</vt:lpstr>
      <vt:lpstr>The Search for Unification of Forces</vt:lpstr>
      <vt:lpstr>Common Forces</vt:lpstr>
      <vt:lpstr>  FREE BODY DIAGRAMS (FBD)</vt:lpstr>
      <vt:lpstr>  2D Force Analysis</vt:lpstr>
      <vt:lpstr>  FREE BODY DIAGRAMS (FBD)</vt:lpstr>
      <vt:lpstr>Homework: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Dynamics</dc:title>
  <dc:creator>Peel District School Board</dc:creator>
  <cp:lastModifiedBy>Nestor, Gregory</cp:lastModifiedBy>
  <cp:revision>33</cp:revision>
  <dcterms:created xsi:type="dcterms:W3CDTF">2011-10-04T14:25:50Z</dcterms:created>
  <dcterms:modified xsi:type="dcterms:W3CDTF">2020-03-12T18:41:20Z</dcterms:modified>
</cp:coreProperties>
</file>